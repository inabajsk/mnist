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0821d84e-9845-f7e0-54b9-717dcce6366b}">
          <p14:sldIdLst>
            <p14:sldId id="256"/>
            <p14:sldId id="257"/>
          </p14:sldIdLst>
        </p14:section>
        <p14:section name="1. どこを GPU に移すか" id="{f20b708f-9501-9ec3-ad39-2be1f66485a8}">
          <p14:sldIdLst>
            <p14:sldId id="258"/>
            <p14:sldId id="259"/>
            <p14:sldId id="260"/>
          </p14:sldIdLst>
        </p14:section>
        <p14:section name="2. 接続方法の候補" id="{5a0ca3c5-15c6-8ca5-72d7-f391fb162e89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3. 速度の比較" id="{48d350b1-886e-f90a-5c76-1c0faba717e1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4. 結果の正しさ" id="{afe2e471-6f6c-3891-827e-00c52c4dd987}">
          <p14:sldIdLst>
            <p14:sldId id="274"/>
            <p14:sldId id="275"/>
            <p14:sldId id="276"/>
            <p14:sldId id="277"/>
          </p14:sldIdLst>
        </p14:section>
        <p14:section name="5. まとめ" id="{1aa72567-c59f-9dbb-33cd-e40663b7a209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秒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541"/>
              </a:solidFill>
              <a:effectLst/>
            </c:spPr>
          </c:dPt>
          <c:dPt>
            <c:idx val="1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bubble3D val="0"/>
            <c:spPr>
              <a:solidFill>
                <a:srgbClr val="5B6577"/>
              </a:solidFill>
              <a:effectLst/>
            </c:spPr>
          </c:dPt>
          <c:dPt>
            <c:idx val="3"/>
            <c:bubble3D val="0"/>
            <c:spPr>
              <a:solidFill>
                <a:srgbClr val="A9B4C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バッチ作成（elt でリストを辿る）</c:v>
                </c:pt>
                <c:pt idx="1">
                  <c:v>dgemm（順伝播・逆伝播・勾配）</c:v>
                </c:pt>
                <c:pt idx="2">
                  <c:v>dW 配列の確保</c:v>
                </c:pt>
                <c:pt idx="3">
                  <c:v>ReLU・要素積・転置などの Lisp/C 処理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13.56</c:v>
                </c:pt>
                <c:pt idx="1">
                  <c:v>8.48</c:v>
                </c:pt>
                <c:pt idx="2">
                  <c:v>3.51</c:v>
                </c:pt>
                <c:pt idx="3">
                  <c:v>6.37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1 回あたり [ms]（小さいほど速い）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OpenBLAS（元）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順伝播 層1
200×784·784×1000</c:v>
                  </c:pt>
                  <c:pt idx="1">
                    <c:v>順伝播 層2
200×1000·1000×1000</c:v>
                  </c:pt>
                  <c:pt idx="2">
                    <c:v>勾配 dW
1000×200·200×1000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2.83</c:v>
                </c:pt>
                <c:pt idx="1">
                  <c:v>2.97</c:v>
                </c:pt>
                <c:pt idx="2">
                  <c:v>5.95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 defforeign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順伝播 層1
200×784·784×1000</c:v>
                  </c:pt>
                  <c:pt idx="1">
                    <c:v>順伝播 層2
200×1000·1000×1000</c:v>
                  </c:pt>
                  <c:pt idx="2">
                    <c:v>勾配 dW
1000×200·200×1000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0.92</c:v>
                </c:pt>
                <c:pt idx="1">
                  <c:v>1.15</c:v>
                </c:pt>
                <c:pt idx="2">
                  <c:v>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 モジュール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順伝播 層1
200×784·784×1000</c:v>
                  </c:pt>
                  <c:pt idx="1">
                    <c:v>順伝播 層2
200×1000·1000×1000</c:v>
                  </c:pt>
                  <c:pt idx="2">
                    <c:v>勾配 dW
1000×200·200×1000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0.94</c:v>
                </c:pt>
                <c:pt idx="1">
                  <c:v>1.17</c:v>
                </c:pt>
                <c:pt idx="2">
                  <c:v>1.42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 cuBLAS 直接</c:v>
                </c:pt>
              </c:strCache>
            </c:strRef>
          </c:tx>
          <c:spPr>
            <a:solidFill>
              <a:srgbClr val="5B8C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順伝播 層1
200×784·784×1000</c:v>
                  </c:pt>
                  <c:pt idx="1">
                    <c:v>順伝播 層2
200×1000·1000×1000</c:v>
                  </c:pt>
                  <c:pt idx="2">
                    <c:v>勾配 dW
1000×200·200×1000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0.95</c:v>
                </c:pt>
                <c:pt idx="1">
                  <c:v>1.2</c:v>
                </c:pt>
                <c:pt idx="2">
                  <c:v>1.41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 PyTorch 別プロセス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順伝播 層1
200×784·784×1000</c:v>
                  </c:pt>
                  <c:pt idx="1">
                    <c:v>順伝播 層2
200×1000·1000×1000</c:v>
                  </c:pt>
                  <c:pt idx="2">
                    <c:v>勾配 dW
1000×200·200×1000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12.21</c:v>
                </c:pt>
                <c:pt idx="1">
                  <c:v>18.31</c:v>
                </c:pt>
                <c:pt idx="2">
                  <c:v>28.21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1 エポック（300 バッチ）の壁時計時間 [s]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秒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5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OpenBLAS（元）</c:v>
                  </c:pt>
                  <c:pt idx="1">
                    <c:v>A defforeign</c:v>
                  </c:pt>
                  <c:pt idx="2">
                    <c:v>B モジュール</c:v>
                  </c:pt>
                  <c:pt idx="3">
                    <c:v>C cuBLAS 直接</c:v>
                  </c:pt>
                  <c:pt idx="4">
                    <c:v>D PyTorch 別プロセス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30.5</c:v>
                </c:pt>
                <c:pt idx="1">
                  <c:v>24.8</c:v>
                </c:pt>
                <c:pt idx="2">
                  <c:v>24.7</c:v>
                </c:pt>
                <c:pt idx="3">
                  <c:v>24.7</c:v>
                </c:pt>
                <c:pt idx="4">
                  <c:v>69.4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 + OpenBLAS</c:v>
                </c:pt>
              </c:strCache>
            </c:strRef>
          </c:tx>
          <c:spPr>
            <a:solidFill>
              <a:srgbClr val="5B6577"/>
            </a:solidFill>
            <a:ln w="3175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7.633</c:v>
                </c:pt>
                <c:pt idx="1">
                  <c:v>6.297</c:v>
                </c:pt>
                <c:pt idx="2">
                  <c:v>6.428</c:v>
                </c:pt>
                <c:pt idx="3">
                  <c:v>8.706</c:v>
                </c:pt>
                <c:pt idx="4">
                  <c:v>8.354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FP64</c:v>
                </c:pt>
              </c:strCache>
            </c:strRef>
          </c:tx>
          <c:spPr>
            <a:solidFill>
              <a:srgbClr val="3A6EA5"/>
            </a:solidFill>
            <a:ln w="3175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1.895</c:v>
                </c:pt>
                <c:pt idx="1">
                  <c:v>1.653</c:v>
                </c:pt>
                <c:pt idx="2">
                  <c:v>1.489</c:v>
                </c:pt>
                <c:pt idx="3">
                  <c:v>1.631</c:v>
                </c:pt>
                <c:pt idx="4">
                  <c:v>1.53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 FP32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100</c:v>
                  </c:pt>
                  <c:pt idx="2">
                    <c:v>200</c:v>
                  </c:pt>
                  <c:pt idx="3">
                    <c:v>500</c:v>
                  </c:pt>
                  <c:pt idx="4">
                    <c:v>1000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0.21</c:v>
                </c:pt>
                <c:pt idx="1">
                  <c:v>0.138</c:v>
                </c:pt>
                <c:pt idx="2">
                  <c:v>0.096</c:v>
                </c:pt>
                <c:pt idx="3">
                  <c:v>0.066</c:v>
                </c:pt>
                <c:pt idx="4">
                  <c:v>0.057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バッチサイズ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0.01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1エポック [s]（対数）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元の nn.l</c:v>
                </c:pt>
              </c:strCache>
            </c:strRef>
          </c:tx>
          <c:spPr>
            <a:solidFill>
              <a:srgbClr val="5B6577"/>
            </a:solidFill>
            <a:ln w="25400" cap="flat">
              <a:solidFill>
                <a:srgbClr val="5B6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B6577"/>
              </a:solidFill>
              <a:ln w="9525" cap="flat">
                <a:solidFill>
                  <a:srgbClr val="5B6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94.71</c:v>
                </c:pt>
                <c:pt idx="1">
                  <c:v>96.18</c:v>
                </c:pt>
                <c:pt idx="2">
                  <c:v>96.81</c:v>
                </c:pt>
                <c:pt idx="3">
                  <c:v>97.2</c:v>
                </c:pt>
                <c:pt idx="4">
                  <c:v>97.58</c:v>
                </c:pt>
                <c:pt idx="5">
                  <c:v>97.68</c:v>
                </c:pt>
                <c:pt idx="6">
                  <c:v>97.76</c:v>
                </c:pt>
                <c:pt idx="7">
                  <c:v>97.85</c:v>
                </c:pt>
                <c:pt idx="8">
                  <c:v>97.89</c:v>
                </c:pt>
                <c:pt idx="9">
                  <c:v>97.92</c:v>
                </c:pt>
                <c:pt idx="10">
                  <c:v>97.97</c:v>
                </c:pt>
                <c:pt idx="11">
                  <c:v>98.03</c:v>
                </c:pt>
                <c:pt idx="12">
                  <c:v>98.09</c:v>
                </c:pt>
                <c:pt idx="13">
                  <c:v>98.11</c:v>
                </c:pt>
                <c:pt idx="14">
                  <c:v>98.12</c:v>
                </c:pt>
                <c:pt idx="15">
                  <c:v>98.12</c:v>
                </c:pt>
                <c:pt idx="16">
                  <c:v>98.16</c:v>
                </c:pt>
                <c:pt idx="17">
                  <c:v>98.2</c:v>
                </c:pt>
                <c:pt idx="18">
                  <c:v>98.21</c:v>
                </c:pt>
                <c:pt idx="19">
                  <c:v>98.24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FP64</c:v>
                </c:pt>
              </c:strCache>
            </c:strRef>
          </c:tx>
          <c:spPr>
            <a:solidFill>
              <a:srgbClr val="3A6EA5"/>
            </a:solidFill>
            <a:ln w="25400" cap="flat">
              <a:solidFill>
                <a:srgbClr val="3A6E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A6EA5"/>
              </a:solidFill>
              <a:ln w="9525" cap="flat">
                <a:solidFill>
                  <a:srgbClr val="3A6E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94.7</c:v>
                </c:pt>
                <c:pt idx="1">
                  <c:v>96.17</c:v>
                </c:pt>
                <c:pt idx="2">
                  <c:v>96.76</c:v>
                </c:pt>
                <c:pt idx="3">
                  <c:v>97.24</c:v>
                </c:pt>
                <c:pt idx="4">
                  <c:v>97.47</c:v>
                </c:pt>
                <c:pt idx="5">
                  <c:v>97.66</c:v>
                </c:pt>
                <c:pt idx="6">
                  <c:v>97.7</c:v>
                </c:pt>
                <c:pt idx="7">
                  <c:v>97.85</c:v>
                </c:pt>
                <c:pt idx="8">
                  <c:v>97.91</c:v>
                </c:pt>
                <c:pt idx="9">
                  <c:v>97.93</c:v>
                </c:pt>
                <c:pt idx="10">
                  <c:v>97.97</c:v>
                </c:pt>
                <c:pt idx="11">
                  <c:v>98.02</c:v>
                </c:pt>
                <c:pt idx="12">
                  <c:v>98.06</c:v>
                </c:pt>
                <c:pt idx="13">
                  <c:v>98.13</c:v>
                </c:pt>
                <c:pt idx="14">
                  <c:v>98.13</c:v>
                </c:pt>
                <c:pt idx="15">
                  <c:v>98.18</c:v>
                </c:pt>
                <c:pt idx="16">
                  <c:v>98.19</c:v>
                </c:pt>
                <c:pt idx="17">
                  <c:v>98.21</c:v>
                </c:pt>
                <c:pt idx="18">
                  <c:v>98.2</c:v>
                </c:pt>
                <c:pt idx="19">
                  <c:v>98.22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 FP32</c:v>
                </c:pt>
              </c:strCache>
            </c:strRef>
          </c:tx>
          <c:spPr>
            <a:solidFill>
              <a:srgbClr val="E4572E"/>
            </a:solidFill>
            <a:ln w="254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94.73</c:v>
                </c:pt>
                <c:pt idx="1">
                  <c:v>96.15</c:v>
                </c:pt>
                <c:pt idx="2">
                  <c:v>96.76</c:v>
                </c:pt>
                <c:pt idx="3">
                  <c:v>97.3</c:v>
                </c:pt>
                <c:pt idx="4">
                  <c:v>97.49</c:v>
                </c:pt>
                <c:pt idx="5">
                  <c:v>97.64</c:v>
                </c:pt>
                <c:pt idx="6">
                  <c:v>97.74</c:v>
                </c:pt>
                <c:pt idx="7">
                  <c:v>97.89</c:v>
                </c:pt>
                <c:pt idx="8">
                  <c:v>97.92</c:v>
                </c:pt>
                <c:pt idx="9">
                  <c:v>98</c:v>
                </c:pt>
                <c:pt idx="10">
                  <c:v>98</c:v>
                </c:pt>
                <c:pt idx="11">
                  <c:v>98.05</c:v>
                </c:pt>
                <c:pt idx="12">
                  <c:v>98.08</c:v>
                </c:pt>
                <c:pt idx="13">
                  <c:v>98.09</c:v>
                </c:pt>
                <c:pt idx="14">
                  <c:v>98.11</c:v>
                </c:pt>
                <c:pt idx="15">
                  <c:v>98.13</c:v>
                </c:pt>
                <c:pt idx="16">
                  <c:v>98.15</c:v>
                </c:pt>
                <c:pt idx="17">
                  <c:v>98.2</c:v>
                </c:pt>
                <c:pt idx="18">
                  <c:v>98.18</c:v>
                </c:pt>
                <c:pt idx="19">
                  <c:v>98.17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PyTorch FP64</c:v>
                </c:pt>
              </c:strCache>
            </c:strRef>
          </c:tx>
          <c:spPr>
            <a:solidFill>
              <a:srgbClr val="5B8C5A"/>
            </a:solidFill>
            <a:ln w="25400" cap="flat">
              <a:solidFill>
                <a:srgbClr val="5B8C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B8C5A"/>
              </a:solidFill>
              <a:ln w="9525" cap="flat">
                <a:solidFill>
                  <a:srgbClr val="5B8C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Sheet1!$E$2:$E$21</c:f>
              <c:numCache>
                <c:formatCode>General</c:formatCode>
                <c:ptCount val="20"/>
                <c:pt idx="0">
                  <c:v>94.7</c:v>
                </c:pt>
                <c:pt idx="1">
                  <c:v>96.17</c:v>
                </c:pt>
                <c:pt idx="2">
                  <c:v>96.76</c:v>
                </c:pt>
                <c:pt idx="3">
                  <c:v>97.24</c:v>
                </c:pt>
                <c:pt idx="4">
                  <c:v>97.47</c:v>
                </c:pt>
                <c:pt idx="5">
                  <c:v>97.66</c:v>
                </c:pt>
                <c:pt idx="6">
                  <c:v>97.7</c:v>
                </c:pt>
                <c:pt idx="7">
                  <c:v>97.85</c:v>
                </c:pt>
                <c:pt idx="8">
                  <c:v>97.91</c:v>
                </c:pt>
                <c:pt idx="9">
                  <c:v>97.93</c:v>
                </c:pt>
                <c:pt idx="10">
                  <c:v>97.97</c:v>
                </c:pt>
                <c:pt idx="11">
                  <c:v>98.02</c:v>
                </c:pt>
                <c:pt idx="12">
                  <c:v>98.06</c:v>
                </c:pt>
                <c:pt idx="13">
                  <c:v>98.13</c:v>
                </c:pt>
                <c:pt idx="14">
                  <c:v>98.13</c:v>
                </c:pt>
                <c:pt idx="15">
                  <c:v>98.18</c:v>
                </c:pt>
                <c:pt idx="16">
                  <c:v>98.19</c:v>
                </c:pt>
                <c:pt idx="17">
                  <c:v>98.21</c:v>
                </c:pt>
                <c:pt idx="18">
                  <c:v>98.2</c:v>
                </c:pt>
                <c:pt idx="19">
                  <c:v>98.22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エポック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9"/>
          <c:min val="94"/>
        </c:scaling>
        <c:delete val="0"/>
        <c:axPos val="l"/>
        <c:majorGridlines>
          <c:spPr>
            <a:ln w="6350" cap="flat">
              <a:solidFill>
                <a:srgbClr val="E2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77"/>
                    </a:solidFill>
                    <a:latin typeface="Arial"/>
                  </a:rPr>
                  <a:t>テスト認識率 [%]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行列積の実効性能 [TFLOPS]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TFLOPS</c:v>
                </c:pt>
              </c:strCache>
            </c:strRef>
          </c:tx>
          <c:spPr>
            <a:solidFill>
              <a:srgbClr val="5B657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5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6EA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CPU OpenBLAS FP64
(numpy 4096²)</c:v>
                  </c:pt>
                  <c:pt idx="1">
                    <c:v>GB10 FP64</c:v>
                  </c:pt>
                  <c:pt idx="2">
                    <c:v>GB10 FP32</c:v>
                  </c:pt>
                  <c:pt idx="3">
                    <c:v>GB10 TF32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0.14</c:v>
                </c:pt>
                <c:pt idx="1">
                  <c:v>0.42</c:v>
                </c:pt>
                <c:pt idx="2">
                  <c:v>17.9</c:v>
                </c:pt>
                <c:pt idx="3">
                  <c:v>43.6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倍率はすべて、元の nn.l（Lisp のループ + OpenBLAS）の1エポックに対する比。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前回のプロファイル（バッチ200, 1エポック 31.9 秒）の再掲。dgemm は全体の約 1/4 しかない。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重み W, b と学習データ 60,000 枚を最初に1回だけ GPU に送り、以降はすべて GPU 上で計算する。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A〜D はすべて実装して動かした。E は検討のみ。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側は Lisp のオブジェクトを知らず、double* と long だけを受け取る。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load-library でモジュールの初期化関数 ___cudaprod が呼ばれ、defun で Lisp の関数が登録される。計算本体は A と同じ libcudamlp.so。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cblaslib.l の #+:cublas の部分は handle も GPU メモリも用意していないため動かない。これはその動く版。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float-vector の中身は (sys:address v)+16 から並ぶので、make-foreign-string でその領域を文字列に見せ、コピーせずにパイプへ書く。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時間は本計測（バッチ200）の値。○△× は筆者の評価。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20回の平均。GPU の値は host→GPU→host の転送を含む。D はパイプでの往復と Python の処理を含む。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test-mnist-batch-lisp（nn.l の test-mnist-batch と同じループ、モデル保存なし）で cblas-dgemm を置き換えて計測。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回の最小値。「C + OpenBLAS」は GPU 版と同じアルゴリズムを C で書き OpenBLAS で計算したもの（CPU での上限の目安）。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学習率は合計の勾配に掛けるので、バッチを変えると学習の進み方も変わる（ここでは時間だけを比較）。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保存済みモデル mlp/mnist-mlp-19.l を使用。Lisp はバッチ200 ずつ（10,000 行をまとめると msoftmax の free バグで落ちるため）。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初期値は make-mnist-mlp で乱数の初期状態 #i(123456 789012) から作るので、nn.l と同じ重みから始まる。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元の学習は mlp/mnist-mlp-*.l の評価値。GPU FP64・FP32、PyTorch FP64 は今回 GPU で学習したもの。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PyTorch で 4096×4096 の行列積を測った値（実効性能）。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既存の nn.l・mlp/ のモデルは変更していない。GPU で学習したモデルは :save t のとき mlp-cuda/ に保存する。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MNIST × EusLisp — CUDA 接続方法の比較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EET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MNIST × EusLisp を CUDA で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接続方法の比較と速度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nn.l（EusLisp + OpenBLAS）の学習を GPU で行うために、EusLisp と CUDA をつなぐ 4 つの方法を実装し、OpenBLAS（cblas）に対する速さを比較</a:t>
            </a:r>
            <a:endParaRPr lang="en-US" sz="18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FA3C8"/>
                </a:solidFill>
              </a:rPr>
              <a:t>計測環境: DGX Spark — NVIDIA GB10 (sm_121, 48 SMs), CUDA 13.0 / cuBLAS 13.1, PyTorch 2.12, OpenBLAS 0.3.26</a:t>
            </a:r>
            <a:endParaRPr lang="en-US" sz="1800" dirty="0"/>
          </a:p>
        </p:txBody>
      </p:sp>
      <p:pic>
        <p:nvPicPr>
          <p:cNvPr id="4" name="title-digits" descr="/tmp/claude-1001/-home-mi-mnist/137a571b-9a80-4a1c-8647-53667b8e1fcb/scratchpad/work/fig/class_samples.png">    </p:cNvPr>
          <p:cNvPicPr>
            <a:picLocks noChangeAspect="1"/>
          </p:cNvPicPr>
          <p:nvPr/>
        </p:nvPicPr>
        <p:blipFill>
          <a:blip r:embed="rId1"/>
          <a:srcRect l="0" r="0" t="0" b="59360"/>
          <a:stretch/>
        </p:blipFill>
        <p:spPr>
          <a:xfrm>
            <a:off x="731520" y="548640"/>
            <a:ext cx="4754880" cy="960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</a:rPr>
              <a:t>2026-10-03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概要 — 1エポックの学習時間（バッチ200）</a:t>
            </a:r>
            <a:endParaRPr lang="en-US" sz="2800" dirty="0"/>
          </a:p>
        </p:txBody>
      </p:sp>
      <p:sp>
        <p:nvSpPr>
          <p:cNvPr id="4" name="card-1"/>
          <p:cNvSpPr/>
          <p:nvPr/>
        </p:nvSpPr>
        <p:spPr>
          <a:xfrm>
            <a:off x="54864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</a:rPr>
              <a:t>26.1 秒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元の nn.l（Lisp + OpenBLAS）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1エポックの壁時計時間</a:t>
            </a:r>
            <a:endParaRPr lang="en-US" sz="1150" dirty="0"/>
          </a:p>
        </p:txBody>
      </p:sp>
      <p:sp>
        <p:nvSpPr>
          <p:cNvPr id="7" name="card-2"/>
          <p:cNvSpPr/>
          <p:nvPr/>
        </p:nvSpPr>
        <p:spPr>
          <a:xfrm>
            <a:off x="338328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×1.14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dgemm だけ GPU に差し替え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(22.8 秒) — Lisp 側が律速</a:t>
            </a:r>
            <a:endParaRPr lang="en-US" sz="1150" dirty="0"/>
          </a:p>
        </p:txBody>
      </p:sp>
      <p:sp>
        <p:nvSpPr>
          <p:cNvPr id="10" name="card-3"/>
          <p:cNvSpPr/>
          <p:nvPr/>
        </p:nvSpPr>
        <p:spPr>
          <a:xfrm>
            <a:off x="621792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×18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GPU 常駐・倍精度 FP64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(1.42 秒)</a:t>
            </a:r>
            <a:endParaRPr lang="en-US" sz="1150" dirty="0"/>
          </a:p>
        </p:txBody>
      </p:sp>
      <p:sp>
        <p:nvSpPr>
          <p:cNvPr id="13" name="card-4"/>
          <p:cNvSpPr/>
          <p:nvPr/>
        </p:nvSpPr>
        <p:spPr>
          <a:xfrm>
            <a:off x="9052560" y="1325880"/>
            <a:ext cx="26060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235440" y="14630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×278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2423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GPU 常駐・単精度 FP32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(0.094 秒)</a:t>
            </a:r>
            <a:endParaRPr lang="en-US" sz="1150" dirty="0"/>
          </a:p>
        </p:txBody>
      </p:sp>
      <p:sp>
        <p:nvSpPr>
          <p:cNvPr id="16" name="tile-5"/>
          <p:cNvSpPr txBox="1"/>
          <p:nvPr/>
        </p:nvSpPr>
        <p:spPr>
          <a:xfrm>
            <a:off x="548640" y="3703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7" name="head-6"/>
          <p:cNvSpPr txBox="1"/>
          <p:nvPr/>
        </p:nvSpPr>
        <p:spPr>
          <a:xfrm>
            <a:off x="1051560" y="3703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どこを GPU に移すか</a:t>
            </a:r>
            <a:endParaRPr lang="en-US" sz="1700" dirty="0"/>
          </a:p>
        </p:txBody>
      </p:sp>
      <p:sp>
        <p:nvSpPr>
          <p:cNvPr id="18" name="tile-7"/>
          <p:cNvSpPr txBox="1"/>
          <p:nvPr/>
        </p:nvSpPr>
        <p:spPr>
          <a:xfrm>
            <a:off x="548640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head-8"/>
          <p:cNvSpPr txBox="1"/>
          <p:nvPr/>
        </p:nvSpPr>
        <p:spPr>
          <a:xfrm>
            <a:off x="1051560" y="42062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EusLisp と CUDA の接続方法 4 つ</a:t>
            </a:r>
            <a:endParaRPr lang="en-US" sz="1700" dirty="0"/>
          </a:p>
        </p:txBody>
      </p:sp>
      <p:sp>
        <p:nvSpPr>
          <p:cNvPr id="20" name="tile-9"/>
          <p:cNvSpPr txBox="1"/>
          <p:nvPr/>
        </p:nvSpPr>
        <p:spPr>
          <a:xfrm>
            <a:off x="548640" y="47091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head-10"/>
          <p:cNvSpPr txBox="1"/>
          <p:nvPr/>
        </p:nvSpPr>
        <p:spPr>
          <a:xfrm>
            <a:off x="1051560" y="47091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速度の比較（dgemm・1エポック・推論）</a:t>
            </a:r>
            <a:endParaRPr lang="en-US" sz="1700" dirty="0"/>
          </a:p>
        </p:txBody>
      </p:sp>
      <p:sp>
        <p:nvSpPr>
          <p:cNvPr id="22" name="tile-11"/>
          <p:cNvSpPr txBox="1"/>
          <p:nvPr/>
        </p:nvSpPr>
        <p:spPr>
          <a:xfrm>
            <a:off x="6309360" y="370332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head-12"/>
          <p:cNvSpPr txBox="1"/>
          <p:nvPr/>
        </p:nvSpPr>
        <p:spPr>
          <a:xfrm>
            <a:off x="6812280" y="370332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結果の正しさの確認</a:t>
            </a:r>
            <a:endParaRPr lang="en-US" sz="1700" dirty="0"/>
          </a:p>
        </p:txBody>
      </p:sp>
      <p:sp>
        <p:nvSpPr>
          <p:cNvPr id="24" name="tile-13"/>
          <p:cNvSpPr txBox="1"/>
          <p:nvPr/>
        </p:nvSpPr>
        <p:spPr>
          <a:xfrm>
            <a:off x="6309360" y="42062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head-14"/>
          <p:cNvSpPr txBox="1"/>
          <p:nvPr/>
        </p:nvSpPr>
        <p:spPr>
          <a:xfrm>
            <a:off x="6812280" y="420624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どの方法を選ぶか・使い方</a:t>
            </a:r>
            <a:endParaRPr lang="en-US" sz="1700" dirty="0"/>
          </a:p>
        </p:txBody>
      </p:sp>
      <p:sp>
        <p:nvSpPr>
          <p:cNvPr id="26" name="text-15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accent6"/>
                </a:solidFill>
              </a:rPr>
              <a:t>同じアルゴリズムを C + OpenBLAS で書いた版は 6.3 秒（GPU FP64 はその ×4.4、FP32 は ×67）。Lisp の処理を減らすだけでも速くなり、残りが GPU の効果。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どこを GPU に移すか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元の実装の時間の内訳と、GPU に任せる範囲（粒度）の選び方</a:t>
            </a:r>
            <a:endParaRPr lang="en-US" sz="1600" dirty="0"/>
          </a:p>
        </p:txBody>
      </p:sp>
      <p:sp>
        <p:nvSpPr>
          <p:cNvPr id="4" name="tile-16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元の実装で時間がかかっている所</a:t>
            </a:r>
            <a:endParaRPr lang="en-US" sz="2800" dirty="0"/>
          </a:p>
        </p:txBody>
      </p:sp>
      <p:graphicFrame>
        <p:nvGraphicFramePr>
          <p:cNvPr id="4" name="orig-breakdown" descr=""/>
          <p:cNvGraphicFramePr/>
          <p:nvPr/>
        </p:nvGraphicFramePr>
        <p:xfrm>
          <a:off x="457200" y="1188720"/>
          <a:ext cx="56692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le-17"/>
          <p:cNvSpPr txBox="1"/>
          <p:nvPr/>
        </p:nvSpPr>
        <p:spPr>
          <a:xfrm>
            <a:off x="649224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6" name="head-18"/>
          <p:cNvSpPr txBox="1"/>
          <p:nvPr/>
        </p:nvSpPr>
        <p:spPr>
          <a:xfrm>
            <a:off x="6995160" y="132588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dgemm だけ GPU にしても限界がある</a:t>
            </a:r>
            <a:endParaRPr lang="en-US" sz="1700" dirty="0"/>
          </a:p>
        </p:txBody>
      </p:sp>
      <p:sp>
        <p:nvSpPr>
          <p:cNvPr id="7" name="bullets-19"/>
          <p:cNvSpPr txBox="1"/>
          <p:nvPr/>
        </p:nvSpPr>
        <p:spPr>
          <a:xfrm>
            <a:off x="6492240" y="18288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dgemm が 0 秒になっても、残り約 23 秒は Lisp 側の処理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アムダールの法則: 最大でも 31.9 / 23.4 ≒ 1.4 倍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大きく速くするには、バッチ作成・活性化・更新まで GPU に移し、Lisp との往復を減らす必要がある</a:t>
            </a:r>
            <a:endParaRPr lang="en-US" sz="1350" dirty="0"/>
          </a:p>
        </p:txBody>
      </p:sp>
      <p:sp>
        <p:nvSpPr>
          <p:cNvPr id="8" name="tile-20"/>
          <p:cNvSpPr txBox="1"/>
          <p:nvPr/>
        </p:nvSpPr>
        <p:spPr>
          <a:xfrm>
            <a:off x="6492240" y="41148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粒</a:t>
            </a:r>
            <a:endParaRPr lang="en-US" sz="1300" dirty="0"/>
          </a:p>
        </p:txBody>
      </p:sp>
      <p:sp>
        <p:nvSpPr>
          <p:cNvPr id="9" name="head-21"/>
          <p:cNvSpPr txBox="1"/>
          <p:nvPr/>
        </p:nvSpPr>
        <p:spPr>
          <a:xfrm>
            <a:off x="6995160" y="41148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GPU に任せる粒度</a:t>
            </a:r>
            <a:endParaRPr lang="en-US" sz="1700" dirty="0"/>
          </a:p>
        </p:txBody>
      </p:sp>
      <p:graphicFrame>
        <p:nvGraphicFramePr>
          <p:cNvPr id="5" name="table-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461772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粒度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Lisp が持つもの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GPU との通信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① 演算ごと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重み・データ・ループ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dgemm 毎に行列を転送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② バッチごと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ループだけ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バッチ 1 回の呼び出し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③ エポックごと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設定と結果だけ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 エポック 1 回の呼び出し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GPU 常駐版の計算の流れ（CUDA/src/cudamlp.cu）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準備（1回）</a:t>
            </a:r>
            <a:endParaRPr lang="en-US" sz="1500" dirty="0"/>
          </a:p>
        </p:txBody>
      </p:sp>
      <p:sp>
        <p:nvSpPr>
          <p:cNvPr id="5" name="card-23"/>
          <p:cNvSpPr/>
          <p:nvPr/>
        </p:nvSpPr>
        <p:spPr>
          <a:xfrm>
            <a:off x="548640" y="201168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6" name="text-24"/>
          <p:cNvSpPr txBox="1"/>
          <p:nvPr/>
        </p:nvSpPr>
        <p:spPr>
          <a:xfrm>
            <a:off x="658368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Lisp の重み W, b 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60,000 枚を GPU へ転送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87752" y="1508760"/>
            <a:ext cx="228600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34640" y="137160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順伝播</a:t>
            </a:r>
            <a:endParaRPr lang="en-US" sz="1500" dirty="0"/>
          </a:p>
        </p:txBody>
      </p:sp>
      <p:sp>
        <p:nvSpPr>
          <p:cNvPr id="9" name="card-25"/>
          <p:cNvSpPr/>
          <p:nvPr/>
        </p:nvSpPr>
        <p:spPr>
          <a:xfrm>
            <a:off x="2834640" y="201168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0" name="text-26"/>
          <p:cNvSpPr txBox="1"/>
          <p:nvPr/>
        </p:nvSpPr>
        <p:spPr>
          <a:xfrm>
            <a:off x="2944368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cuBLAS gemm: u = z Wᵀ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カーネル: +b, ReLU, Softmax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73752" y="1508760"/>
            <a:ext cx="228600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20640" y="137160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誤差</a:t>
            </a:r>
            <a:endParaRPr lang="en-US" sz="1500" dirty="0"/>
          </a:p>
        </p:txBody>
      </p:sp>
      <p:sp>
        <p:nvSpPr>
          <p:cNvPr id="13" name="card-27"/>
          <p:cNvSpPr/>
          <p:nvPr/>
        </p:nvSpPr>
        <p:spPr>
          <a:xfrm>
            <a:off x="5120640" y="201168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4" name="text-28"/>
          <p:cNvSpPr txBox="1"/>
          <p:nvPr/>
        </p:nvSpPr>
        <p:spPr>
          <a:xfrm>
            <a:off x="5230368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カーネル: δ = y − 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損失 −log y を加算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59752" y="1508760"/>
            <a:ext cx="228600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06640" y="137160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逆伝播</a:t>
            </a:r>
            <a:endParaRPr lang="en-US" sz="1500" dirty="0"/>
          </a:p>
        </p:txBody>
      </p:sp>
      <p:sp>
        <p:nvSpPr>
          <p:cNvPr id="17" name="card-29"/>
          <p:cNvSpPr/>
          <p:nvPr/>
        </p:nvSpPr>
        <p:spPr>
          <a:xfrm>
            <a:off x="7406640" y="201168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18" name="text-30"/>
          <p:cNvSpPr txBox="1"/>
          <p:nvPr/>
        </p:nvSpPr>
        <p:spPr>
          <a:xfrm>
            <a:off x="7516368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cuBLAS gemm: δ 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カーネル: ⊙ (u ≥ 0)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445752" y="1508760"/>
            <a:ext cx="228600" cy="27432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692640" y="1371600"/>
            <a:ext cx="201168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更新</a:t>
            </a:r>
            <a:endParaRPr lang="en-US" sz="1500" dirty="0"/>
          </a:p>
        </p:txBody>
      </p:sp>
      <p:sp>
        <p:nvSpPr>
          <p:cNvPr id="21" name="card-31"/>
          <p:cNvSpPr/>
          <p:nvPr/>
        </p:nvSpPr>
        <p:spPr>
          <a:xfrm>
            <a:off x="9692640" y="2011680"/>
            <a:ext cx="20116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sp>
        <p:nvSpPr>
          <p:cNvPr id="22" name="text-32"/>
          <p:cNvSpPr txBox="1"/>
          <p:nvPr/>
        </p:nvSpPr>
        <p:spPr>
          <a:xfrm>
            <a:off x="9802368" y="21031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cuBLAS gemm 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 ← W − η δᵀz（β=1）</a:t>
            </a:r>
            <a:endParaRPr lang="en-US" sz="1300" dirty="0"/>
          </a:p>
        </p:txBody>
      </p:sp>
      <p:sp>
        <p:nvSpPr>
          <p:cNvPr id="23" name="bullets-33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バッチは GPU 上のデータ配列の位置（start × 784）を指すだけ → バッチ作成のコピーがなくなる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dW を別に確保せず、gemm の β=1 で W に直接足し込む（W ← −η δᵀz + W）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バイアスの勾配も gemm（1ᵀ δ）で求め、b に直接足し込む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テンプレートで double / float の両方を用意: FP64 は nn.l と同じ精度、FP32 は GB10 で速い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同じ処理を C + OpenBLAS で書いた比較用の版（cpumlp_*）も同じファイルにある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EusLisp と CUDA の接続方法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 defforeign + C ライブラリ ／ B C 拡張モジュール（MATPROD 方式）／ C cuBLAS を直接 defforeign ／ D 別プロセス（PyTorch）</a:t>
            </a:r>
            <a:endParaRPr lang="en-US" sz="1600" dirty="0"/>
          </a:p>
        </p:txBody>
      </p:sp>
      <p:sp>
        <p:nvSpPr>
          <p:cNvPr id="4" name="tile-34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2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 つの方法の全体像</a:t>
            </a:r>
            <a:endParaRPr lang="en-US" sz="2800" dirty="0"/>
          </a:p>
        </p:txBody>
      </p:sp>
      <p:sp>
        <p:nvSpPr>
          <p:cNvPr id="4" name="tile-35"/>
          <p:cNvSpPr txBox="1"/>
          <p:nvPr/>
        </p:nvSpPr>
        <p:spPr>
          <a:xfrm>
            <a:off x="548640" y="1389888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-36"/>
          <p:cNvSpPr txBox="1"/>
          <p:nvPr/>
        </p:nvSpPr>
        <p:spPr>
          <a:xfrm>
            <a:off x="1280160" y="1280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defforeign + C 共有ライブラリ　</a:t>
            </a:r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cudalib.l → CUDA/&lt;arch&gt;/libcudamlp.so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 の関数（extern "C"）を load-foreign / defforeign で呼ぶ。CUDA カーネルと cuBLAS は .cu に書く</a:t>
            </a:r>
            <a:endParaRPr lang="en-US" sz="1400" dirty="0"/>
          </a:p>
        </p:txBody>
      </p:sp>
      <p:sp>
        <p:nvSpPr>
          <p:cNvPr id="6" name="tile-37"/>
          <p:cNvSpPr txBox="1"/>
          <p:nvPr/>
        </p:nvSpPr>
        <p:spPr>
          <a:xfrm>
            <a:off x="548640" y="2414016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7" name="text-38"/>
          <p:cNvSpPr txBox="1"/>
          <p:nvPr/>
        </p:nvSpPr>
        <p:spPr>
          <a:xfrm>
            <a:off x="1280160" y="230428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EusLisp C 拡張モジュール　</a:t>
            </a:r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CUDAPROD/&lt;arch&gt;/libcudaprod.so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MATPROD と同じ形式。eus.h を使い、Lisp の行列を受けて型・大きさを検査し、Lisp のエラーを出せる</a:t>
            </a:r>
            <a:endParaRPr lang="en-US" sz="1400" dirty="0"/>
          </a:p>
        </p:txBody>
      </p:sp>
      <p:sp>
        <p:nvSpPr>
          <p:cNvPr id="8" name="tile-39"/>
          <p:cNvSpPr txBox="1"/>
          <p:nvPr/>
        </p:nvSpPr>
        <p:spPr>
          <a:xfrm>
            <a:off x="548640" y="3438144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9" name="text-40"/>
          <p:cNvSpPr txBox="1"/>
          <p:nvPr/>
        </p:nvSpPr>
        <p:spPr>
          <a:xfrm>
            <a:off x="1280160" y="3328416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libcublas.so を直接 defforeign　</a:t>
            </a:r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cuda-direct.l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 を書かずに cudaMalloc / cudaMemcpy / cublasDgemm を呼ぶ。GPU のアドレスは整数で持つ</a:t>
            </a:r>
            <a:endParaRPr lang="en-US" sz="1400" dirty="0"/>
          </a:p>
        </p:txBody>
      </p:sp>
      <p:sp>
        <p:nvSpPr>
          <p:cNvPr id="10" name="tile-41"/>
          <p:cNvSpPr txBox="1"/>
          <p:nvPr/>
        </p:nvSpPr>
        <p:spPr>
          <a:xfrm>
            <a:off x="548640" y="4462272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1" name="text-42"/>
          <p:cNvSpPr txBox="1"/>
          <p:nvPr/>
        </p:nvSpPr>
        <p:spPr>
          <a:xfrm>
            <a:off x="1280160" y="4352544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別プロセス（Python + PyTorch）　</a:t>
            </a:r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cuda-ipc.l + ipc/torch_server.py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piped-fork で起動し、標準入出力でバイナリの行列をやりとり。ROS の topic/service でも同じ形</a:t>
            </a:r>
            <a:endParaRPr lang="en-US" sz="1400" dirty="0"/>
          </a:p>
        </p:txBody>
      </p:sp>
      <p:sp>
        <p:nvSpPr>
          <p:cNvPr id="12" name="card-4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3" name="text-44"/>
          <p:cNvSpPr txBox="1"/>
          <p:nvPr/>
        </p:nvSpPr>
        <p:spPr>
          <a:xfrm>
            <a:off x="731520" y="5504688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 その他: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CPython を libpython ごと埋め込む（GIL・初期化が複雑）、NVRTC で Lisp の文字列からカーネルを実行時コンパイル、GB10 の統合メモリで Lisp の配列を cudaHostRegister して直接読ませる、など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方法 A — defforeign + C 共有ライブラリ（cudalib.l）</a:t>
            </a:r>
            <a:endParaRPr lang="en-US" sz="2800" dirty="0"/>
          </a:p>
        </p:txBody>
      </p:sp>
      <p:sp>
        <p:nvSpPr>
          <p:cNvPr id="4" name="code-45"/>
          <p:cNvSpPr txBox="1"/>
          <p:nvPr/>
        </p:nvSpPr>
        <p:spPr>
          <a:xfrm>
            <a:off x="548640" y="1280160"/>
            <a:ext cx="6400800" cy="4937760"/>
          </a:xfrm>
          <a:prstGeom prst="roundRect">
            <a:avLst>
              <a:gd name="adj" fmla="val 1111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cudalib.l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*cudamlplib* (load-foreign "CUDA/LinuxARM/libcudamlp.so"))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(defforeign cuda_dgemm_host *cudamlplib* "cuda_dgemm_host" () :integer)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(defforeign cmlp_train_epoch *cudamlplib* "cmlp_train_epoch" () :float)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(defun cuda-dgemm (a b c &amp;optional (alpha 1.0) (beta 1.0))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(cuda_dgemm_host (array-dimension a 0) (array-dimension b 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           (array-dimension a 1) alpha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           (a . entity) (b . entity) beta (c . entity))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c)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// CUDA/src/cudamlp.cu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extern "C" long cuda_dgemm_host(long m, long n, long k,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double alpha, const double *A, const double *B,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double beta, double *C) { ... cublasDgemm ... }</a:t>
            </a:r>
            <a:endParaRPr lang="en-US" sz="1350" dirty="0"/>
          </a:p>
        </p:txBody>
      </p:sp>
      <p:sp>
        <p:nvSpPr>
          <p:cNvPr id="5" name="tile-46"/>
          <p:cNvSpPr txBox="1"/>
          <p:nvPr/>
        </p:nvSpPr>
        <p:spPr>
          <a:xfrm>
            <a:off x="72694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</a:t>
            </a:r>
            <a:endParaRPr lang="en-US" sz="1300" dirty="0"/>
          </a:p>
        </p:txBody>
      </p:sp>
      <p:sp>
        <p:nvSpPr>
          <p:cNvPr id="6" name="head-47"/>
          <p:cNvSpPr txBox="1"/>
          <p:nvPr/>
        </p:nvSpPr>
        <p:spPr>
          <a:xfrm>
            <a:off x="7772400" y="1325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良い点</a:t>
            </a:r>
            <a:endParaRPr lang="en-US" sz="1700" dirty="0"/>
          </a:p>
        </p:txBody>
      </p:sp>
      <p:sp>
        <p:nvSpPr>
          <p:cNvPr id="7" name="bullets-48"/>
          <p:cNvSpPr txBox="1"/>
          <p:nvPr/>
        </p:nvSpPr>
        <p:spPr>
          <a:xfrm>
            <a:off x="7269480" y="18288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cblaslib.l と同じ書き方。EusLisp のヘッダ不要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nvcc だけでビルドでき、Python などからも同じ .so を使える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カーネルも cuBLAS も自由に書ける</a:t>
            </a:r>
            <a:endParaRPr lang="en-US" sz="1250" dirty="0"/>
          </a:p>
        </p:txBody>
      </p:sp>
      <p:sp>
        <p:nvSpPr>
          <p:cNvPr id="8" name="tile-49"/>
          <p:cNvSpPr txBox="1"/>
          <p:nvPr/>
        </p:nvSpPr>
        <p:spPr>
          <a:xfrm>
            <a:off x="72694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</a:t>
            </a:r>
            <a:endParaRPr lang="en-US" sz="1300" dirty="0"/>
          </a:p>
        </p:txBody>
      </p:sp>
      <p:sp>
        <p:nvSpPr>
          <p:cNvPr id="9" name="head-50"/>
          <p:cNvSpPr txBox="1"/>
          <p:nvPr/>
        </p:nvSpPr>
        <p:spPr>
          <a:xfrm>
            <a:off x="7772400" y="3657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注意点</a:t>
            </a:r>
            <a:endParaRPr lang="en-US" sz="1700" dirty="0"/>
          </a:p>
        </p:txBody>
      </p:sp>
      <p:sp>
        <p:nvSpPr>
          <p:cNvPr id="10" name="bullets-51"/>
          <p:cNvSpPr txBox="1"/>
          <p:nvPr/>
        </p:nvSpPr>
        <p:spPr>
          <a:xfrm>
            <a:off x="7269480" y="41605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引数の型・大きさの検査がない。行列の形を間違えると黙って範囲外を読み書きする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エラーは戻り値で返すしかない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方法 B — C 拡張モジュール CUDAPROD（MATPROD 方式）</a:t>
            </a:r>
            <a:endParaRPr lang="en-US" sz="2800" dirty="0"/>
          </a:p>
        </p:txBody>
      </p:sp>
      <p:sp>
        <p:nvSpPr>
          <p:cNvPr id="4" name="code-52"/>
          <p:cNvSpPr txBox="1"/>
          <p:nvPr/>
        </p:nvSpPr>
        <p:spPr>
          <a:xfrm>
            <a:off x="548640" y="1280160"/>
            <a:ext cx="6400800" cy="4937760"/>
          </a:xfrm>
          <a:prstGeom prst="roundRect">
            <a:avLst>
              <a:gd name="adj" fmla="val 1111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/* CUDAPROD/src/cudaprod.c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#include &lt;eus.h&gt;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pointer CUDADGEMM(register context *ctx, int n, pointer *argv)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{ pointer a = argv[0], b = argv[1], c = argv[2];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ckarg2(3, 5);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if (!ismatrix(a) || !ismatrix(b) || !ismatrix(c)) error(E_NOVECTOR);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if (colsize(a) != rowsize(b) || ...) error(E_VECINDEX);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cuda_dgemm_host(rowsize(a), colsize(b), colsize(a), alpha,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          matfv(a), matfv(b), beta, matfv(c));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return c;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pointer ___cudaprod(context *ctx, int n, pointer *argv)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{ defun(ctx, "CUDAPROD-DGEMM", argv[0], CUDADGEMM, NULL); ...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Lisp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(load-library "CUDAPROD/LinuxARM/libcudaprod" '("cudaprod"))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(cudaprod-dgemm a b c)</a:t>
            </a:r>
            <a:endParaRPr lang="en-US" sz="1250" dirty="0"/>
          </a:p>
        </p:txBody>
      </p:sp>
      <p:sp>
        <p:nvSpPr>
          <p:cNvPr id="5" name="tile-53"/>
          <p:cNvSpPr txBox="1"/>
          <p:nvPr/>
        </p:nvSpPr>
        <p:spPr>
          <a:xfrm>
            <a:off x="72694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</a:t>
            </a:r>
            <a:endParaRPr lang="en-US" sz="1300" dirty="0"/>
          </a:p>
        </p:txBody>
      </p:sp>
      <p:sp>
        <p:nvSpPr>
          <p:cNvPr id="6" name="head-54"/>
          <p:cNvSpPr txBox="1"/>
          <p:nvPr/>
        </p:nvSpPr>
        <p:spPr>
          <a:xfrm>
            <a:off x="7772400" y="1325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良い点</a:t>
            </a:r>
            <a:endParaRPr lang="en-US" sz="1700" dirty="0"/>
          </a:p>
        </p:txBody>
      </p:sp>
      <p:sp>
        <p:nvSpPr>
          <p:cNvPr id="7" name="bullets-55"/>
          <p:cNvSpPr txBox="1"/>
          <p:nvPr/>
        </p:nvSpPr>
        <p:spPr>
          <a:xfrm>
            <a:off x="7269480" y="182880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Lisp の行列をそのまま受け、形の誤りを Lisp のエラー（vector dimension mismatch）にできる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結果を Lisp のリストや数で返せる（例: (正解数 損失)）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MATPROD と同じ作り方で、既存の流儀に合う</a:t>
            </a:r>
            <a:endParaRPr lang="en-US" sz="1250" dirty="0"/>
          </a:p>
        </p:txBody>
      </p:sp>
      <p:sp>
        <p:nvSpPr>
          <p:cNvPr id="8" name="tile-56"/>
          <p:cNvSpPr txBox="1"/>
          <p:nvPr/>
        </p:nvSpPr>
        <p:spPr>
          <a:xfrm>
            <a:off x="7269480" y="402336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</a:t>
            </a:r>
            <a:endParaRPr lang="en-US" sz="1300" dirty="0"/>
          </a:p>
        </p:txBody>
      </p:sp>
      <p:sp>
        <p:nvSpPr>
          <p:cNvPr id="9" name="head-57"/>
          <p:cNvSpPr txBox="1"/>
          <p:nvPr/>
        </p:nvSpPr>
        <p:spPr>
          <a:xfrm>
            <a:off x="7772400" y="40233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注意点</a:t>
            </a:r>
            <a:endParaRPr lang="en-US" sz="1700" dirty="0"/>
          </a:p>
        </p:txBody>
      </p:sp>
      <p:sp>
        <p:nvSpPr>
          <p:cNvPr id="10" name="bullets-58"/>
          <p:cNvSpPr txBox="1"/>
          <p:nvPr/>
        </p:nvSpPr>
        <p:spPr>
          <a:xfrm>
            <a:off x="7269480" y="452628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eus.h と EusLisp の内部（numunion, makeflt など）に依存。アーキテクチャごとにビルドが必要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速さは A と同じ（呼び出しの手間の差は無視できる）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方法 C — libcublas.so を直接 defforeign（cuda-direct.l）</a:t>
            </a:r>
            <a:endParaRPr lang="en-US" sz="2800" dirty="0"/>
          </a:p>
        </p:txBody>
      </p:sp>
      <p:sp>
        <p:nvSpPr>
          <p:cNvPr id="4" name="code-59"/>
          <p:cNvSpPr txBox="1"/>
          <p:nvPr/>
        </p:nvSpPr>
        <p:spPr>
          <a:xfrm>
            <a:off x="548640" y="1280160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*cublas-lib* (load-foreign "/usr/local/cuda/lib64/libcublas.so"))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(defforeign cudaMalloc *cudart-lib* "cudaMalloc" () :integer)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(defforeign cublasDgemm_v2 *cublas-lib* "cublasDgemm_v2" () :integer)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GPU のアドレスは integer-vector に書いてもらい整数で持つ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(let ((p (integer-vector 0)))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(cudaMalloc p (* 8 nelem)) (elt p 0))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;; cuBLAS v2 は alpha, beta をポインタで受ける -&gt; float-vector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(cudaMemcpy da (a . entity) (* 8 m k) 1)   ; host -&gt; device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(cublasDgemm_v2 handle 0 0 n m k (float-vector alpha)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              db n da k (float-vector beta) dc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(cudaMemcpy (c . entity) dc (* 8 m n) 2)   ; device -&gt; host</a:t>
            </a:r>
            <a:endParaRPr lang="en-US" sz="1300" dirty="0"/>
          </a:p>
        </p:txBody>
      </p:sp>
      <p:sp>
        <p:nvSpPr>
          <p:cNvPr id="5" name="tile-60"/>
          <p:cNvSpPr txBox="1"/>
          <p:nvPr/>
        </p:nvSpPr>
        <p:spPr>
          <a:xfrm>
            <a:off x="72694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</a:t>
            </a:r>
            <a:endParaRPr lang="en-US" sz="1300" dirty="0"/>
          </a:p>
        </p:txBody>
      </p:sp>
      <p:sp>
        <p:nvSpPr>
          <p:cNvPr id="6" name="head-61"/>
          <p:cNvSpPr txBox="1"/>
          <p:nvPr/>
        </p:nvSpPr>
        <p:spPr>
          <a:xfrm>
            <a:off x="7772400" y="1325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良い点</a:t>
            </a:r>
            <a:endParaRPr lang="en-US" sz="1700" dirty="0"/>
          </a:p>
        </p:txBody>
      </p:sp>
      <p:sp>
        <p:nvSpPr>
          <p:cNvPr id="7" name="bullets-62"/>
          <p:cNvSpPr txBox="1"/>
          <p:nvPr/>
        </p:nvSpPr>
        <p:spPr>
          <a:xfrm>
            <a:off x="7269480" y="18288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 のコードもビルドも不要。Lisp のファイルだけで GPU を使える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cuBLAS / cuFFT / cuSOLVER などライブラリにある処理ならすぐ試せる</a:t>
            </a:r>
            <a:endParaRPr lang="en-US" sz="1250" dirty="0"/>
          </a:p>
        </p:txBody>
      </p:sp>
      <p:sp>
        <p:nvSpPr>
          <p:cNvPr id="8" name="tile-63"/>
          <p:cNvSpPr txBox="1"/>
          <p:nvPr/>
        </p:nvSpPr>
        <p:spPr>
          <a:xfrm>
            <a:off x="7269480" y="365760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</a:t>
            </a:r>
            <a:endParaRPr lang="en-US" sz="1300" dirty="0"/>
          </a:p>
        </p:txBody>
      </p:sp>
      <p:sp>
        <p:nvSpPr>
          <p:cNvPr id="9" name="head-64"/>
          <p:cNvSpPr txBox="1"/>
          <p:nvPr/>
        </p:nvSpPr>
        <p:spPr>
          <a:xfrm>
            <a:off x="7772400" y="36576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注意点</a:t>
            </a:r>
            <a:endParaRPr lang="en-US" sz="1700" dirty="0"/>
          </a:p>
        </p:txBody>
      </p:sp>
      <p:sp>
        <p:nvSpPr>
          <p:cNvPr id="10" name="bullets-65"/>
          <p:cNvSpPr txBox="1"/>
          <p:nvPr/>
        </p:nvSpPr>
        <p:spPr>
          <a:xfrm>
            <a:off x="7269480" y="416052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ReLU・softmax などの独自カーネルが書けない → 演算ごとの転送になり、GPU 常駐にできない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アドレスを整数で扱うので、間違えると即クラッシュ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方法 D — 別プロセスの PyTorch（cuda-ipc.l）</a:t>
            </a:r>
            <a:endParaRPr lang="en-US" sz="2800" dirty="0"/>
          </a:p>
        </p:txBody>
      </p:sp>
      <p:sp>
        <p:nvSpPr>
          <p:cNvPr id="4" name="code-66"/>
          <p:cNvSpPr txBox="1"/>
          <p:nvPr/>
        </p:nvSpPr>
        <p:spPr>
          <a:xfrm>
            <a:off x="548640" y="1280160"/>
            <a:ext cx="6400800" cy="4572000"/>
          </a:xfrm>
          <a:prstGeom prst="roundRect">
            <a:avLst>
              <a:gd name="adj" fmla="val 1200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*ipc* (piped-fork "python3" "ipc/torch_server.py"))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(defun fv-bytes (v)   ; float-vector をコピーせずバイト列に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(make-foreign-string (+ (sys:address v) 16) (* 8 (length v))))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(defun ipc-dgemm (a b c &amp;optional (alpha 1.0) (beta 1.0))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(ipc-send-header 1 m n k 1)      ; int64 x 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(ipc-write (a . entity)) (ipc-write (b . entity))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(ipc-write (c . entity))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(ipc-read (c . entity)))        ; unix:uread で直接書き込む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# Python 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A = torch.from_numpy(np.frombuffer(buf)).to('cuda')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 = alpha * (A @ B) + beta * C</a:t>
            </a:r>
            <a:endParaRPr lang="en-US" sz="1300" dirty="0"/>
          </a:p>
        </p:txBody>
      </p:sp>
      <p:sp>
        <p:nvSpPr>
          <p:cNvPr id="5" name="tile-67"/>
          <p:cNvSpPr txBox="1"/>
          <p:nvPr/>
        </p:nvSpPr>
        <p:spPr>
          <a:xfrm>
            <a:off x="726948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</a:t>
            </a:r>
            <a:endParaRPr lang="en-US" sz="1300" dirty="0"/>
          </a:p>
        </p:txBody>
      </p:sp>
      <p:sp>
        <p:nvSpPr>
          <p:cNvPr id="6" name="head-68"/>
          <p:cNvSpPr txBox="1"/>
          <p:nvPr/>
        </p:nvSpPr>
        <p:spPr>
          <a:xfrm>
            <a:off x="7772400" y="1325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良い点</a:t>
            </a:r>
            <a:endParaRPr lang="en-US" sz="1700" dirty="0"/>
          </a:p>
        </p:txBody>
      </p:sp>
      <p:sp>
        <p:nvSpPr>
          <p:cNvPr id="7" name="bullets-69"/>
          <p:cNvSpPr txBox="1"/>
          <p:nvPr/>
        </p:nvSpPr>
        <p:spPr>
          <a:xfrm>
            <a:off x="7269480" y="182880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PyTorch / CuPy / JAX など Python の資産がそのまま使える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GPU 側が落ちても EusLisp は落ちない。別マシンの GPU にも広げられる（ROS topic/service）</a:t>
            </a:r>
            <a:endParaRPr lang="en-US" sz="1250" dirty="0"/>
          </a:p>
        </p:txBody>
      </p:sp>
      <p:sp>
        <p:nvSpPr>
          <p:cNvPr id="8" name="tile-70"/>
          <p:cNvSpPr txBox="1"/>
          <p:nvPr/>
        </p:nvSpPr>
        <p:spPr>
          <a:xfrm>
            <a:off x="7269480" y="374904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−</a:t>
            </a:r>
            <a:endParaRPr lang="en-US" sz="1300" dirty="0"/>
          </a:p>
        </p:txBody>
      </p:sp>
      <p:sp>
        <p:nvSpPr>
          <p:cNvPr id="9" name="head-71"/>
          <p:cNvSpPr txBox="1"/>
          <p:nvPr/>
        </p:nvSpPr>
        <p:spPr>
          <a:xfrm>
            <a:off x="7772400" y="37490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注意点</a:t>
            </a:r>
            <a:endParaRPr lang="en-US" sz="1700" dirty="0"/>
          </a:p>
        </p:txBody>
      </p:sp>
      <p:sp>
        <p:nvSpPr>
          <p:cNvPr id="10" name="bullets-72"/>
          <p:cNvSpPr txBox="1"/>
          <p:nvPr/>
        </p:nvSpPr>
        <p:spPr>
          <a:xfrm>
            <a:off x="7269480" y="425196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1 回の往復に数〜数十 ms（パイプ転送と Python の処理）。演算ごとに呼ぶと遅い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常駐させて 1 エポック単位で頼めば A と同程度（FP64）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接続方法の比較（まとめ）</a:t>
            </a:r>
            <a:endParaRPr lang="en-US" sz="2800" dirty="0"/>
          </a:p>
        </p:txBody>
      </p:sp>
      <p:graphicFrame>
        <p:nvGraphicFramePr>
          <p:cNvPr id="13" name="table-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  <a:gridCol w="2194560"/>
                <a:gridCol w="1920240"/>
                <a:gridCol w="21945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 defforeign + 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B モジュール (CUDAPROD)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 cuBLAS 直接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 別プロセス (PyTorch)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必要なもの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nvcc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nvcc + eus.h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なし（Lisp のみ）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Python + PyTorch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独自の CUDA カーネル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×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○（PyTorch で）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引数の検査・Lisp のエラー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×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×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△（Python 側で）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GPU 常駐（重み・データ）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×（演算ごと）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○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dgemm 1 回 200×1000×1000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1.15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1.17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1.20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18.3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nn.l のまま dgemm 差し替え 1エポック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24.8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24.7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24.7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69.4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GPU 常駐 1エポック FP64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1.42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1.43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1.54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GPU 常駐 1エポック FP32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0.094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0.094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0.145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向いている使い方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速さ重視の本体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EusLisp に組み込む部品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手軽な試し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Python の資産・分離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-7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参考: 元の nn.l（OpenBLAS）は dgemm 1回 2.97 ms、1エポック 30.5 秒（差し替えと同じ計測回）／ 26.1 秒（常駐と同じ計測回）。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速度の比較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dgemm 1 回 ／ nn.l のループのまま ／ GPU 常駐 ／ バッチサイズ ／ 推論</a:t>
            </a:r>
            <a:endParaRPr lang="en-US" sz="1600" dirty="0"/>
          </a:p>
        </p:txBody>
      </p:sp>
      <p:sp>
        <p:nvSpPr>
          <p:cNvPr id="4" name="tile-75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dgemm 1 回の時間（転送込み）</a:t>
            </a:r>
            <a:endParaRPr lang="en-US" sz="2800" dirty="0"/>
          </a:p>
        </p:txBody>
      </p:sp>
      <p:graphicFrame>
        <p:nvGraphicFramePr>
          <p:cNvPr id="4" name="dgemm-chart" descr=""/>
          <p:cNvGraphicFramePr/>
          <p:nvPr/>
        </p:nvGraphicFramePr>
        <p:xfrm>
          <a:off x="457200" y="1188720"/>
          <a:ext cx="749808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76"/>
          <p:cNvSpPr txBox="1"/>
          <p:nvPr/>
        </p:nvSpPr>
        <p:spPr>
          <a:xfrm>
            <a:off x="832104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×2.6</a:t>
            </a:r>
            <a:endParaRPr lang="en-US" sz="4000" dirty="0"/>
          </a:p>
        </p:txBody>
      </p:sp>
      <p:sp>
        <p:nvSpPr>
          <p:cNvPr id="6" name="statlbl-77"/>
          <p:cNvSpPr txBox="1"/>
          <p:nvPr/>
        </p:nvSpPr>
        <p:spPr>
          <a:xfrm>
            <a:off x="8321040" y="21488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A/B/C は OpenBLAS より速い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（200×1000×1000, 転送込み）</a:t>
            </a:r>
            <a:endParaRPr lang="en-US" sz="1200" dirty="0"/>
          </a:p>
        </p:txBody>
      </p:sp>
      <p:sp>
        <p:nvSpPr>
          <p:cNvPr id="7" name="stat-78"/>
          <p:cNvSpPr txBox="1"/>
          <p:nvPr/>
        </p:nvSpPr>
        <p:spPr>
          <a:xfrm>
            <a:off x="8321040" y="2788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18 ms</a:t>
            </a:r>
            <a:endParaRPr lang="en-US" sz="4000" dirty="0"/>
          </a:p>
        </p:txBody>
      </p:sp>
      <p:sp>
        <p:nvSpPr>
          <p:cNvPr id="8" name="statlbl-79"/>
          <p:cNvSpPr txBox="1"/>
          <p:nvPr/>
        </p:nvSpPr>
        <p:spPr>
          <a:xfrm>
            <a:off x="832104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 は 1 回 16 倍遅い。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演算ごとに呼ぶ用途には向かない</a:t>
            </a:r>
            <a:endParaRPr lang="en-US" sz="1200" dirty="0"/>
          </a:p>
        </p:txBody>
      </p:sp>
      <p:sp>
        <p:nvSpPr>
          <p:cNvPr id="9" name="text-80"/>
          <p:cNvSpPr txBox="1"/>
          <p:nvPr/>
        </p:nvSpPr>
        <p:spPr>
          <a:xfrm>
            <a:off x="8321040" y="44348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A・B・C は中で同じ cuBLAS を呼ぶので差はほぼない（Lisp からの呼び出しの手間は 0.1 ms 未満）。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nn.l のループのまま dgemm だけ差し替えた 1 エポック</a:t>
            </a:r>
            <a:endParaRPr lang="en-US" sz="2800" dirty="0"/>
          </a:p>
        </p:txBody>
      </p:sp>
      <p:graphicFrame>
        <p:nvGraphicFramePr>
          <p:cNvPr id="4" name="lisp-loop-chart" descr=""/>
          <p:cNvGraphicFramePr/>
          <p:nvPr/>
        </p:nvGraphicFramePr>
        <p:xfrm>
          <a:off x="457200" y="118872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-81"/>
          <p:cNvSpPr txBox="1"/>
          <p:nvPr/>
        </p:nvSpPr>
        <p:spPr>
          <a:xfrm>
            <a:off x="7680960" y="12801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×1.23</a:t>
            </a:r>
            <a:endParaRPr lang="en-US" sz="4000" dirty="0"/>
          </a:p>
        </p:txBody>
      </p:sp>
      <p:sp>
        <p:nvSpPr>
          <p:cNvPr id="6" name="statlbl-82"/>
          <p:cNvSpPr txBox="1"/>
          <p:nvPr/>
        </p:nvSpPr>
        <p:spPr>
          <a:xfrm>
            <a:off x="7680960" y="2148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dgemm を GPU にしたときの速さ。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約 2 割しか短くならない</a:t>
            </a:r>
            <a:endParaRPr lang="en-US" sz="1200" dirty="0"/>
          </a:p>
        </p:txBody>
      </p:sp>
      <p:sp>
        <p:nvSpPr>
          <p:cNvPr id="7" name="bullets-83"/>
          <p:cNvSpPr txBox="1"/>
          <p:nvPr/>
        </p:nvSpPr>
        <p:spPr>
          <a:xfrm>
            <a:off x="7680960" y="29260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残りはバッチ作成（リストの elt）・dW の確保・ReLU・転置など Lisp 側の処理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 は 1 バッチ 7 回の dgemm がすべてパイプ往復になり、元より遅い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→ GPU の効果を出すには、ループごと GPU に移す（次のスライド）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GPU 常駐の 1 エポック（バッチ200）— 元の nn.l との比較</a:t>
            </a:r>
            <a:endParaRPr lang="en-US" sz="2800" dirty="0"/>
          </a:p>
        </p:txBody>
      </p:sp>
      <p:graphicFrame>
        <p:nvGraphicFramePr>
          <p:cNvPr id="17" name="table-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188720"/>
                <a:gridCol w="1188720"/>
                <a:gridCol w="11887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1エポック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元の nn.l 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C+OpenBLAS 比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元の nn.l（Lisp + OpenBLAS）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26.09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×1.0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×0.2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C + OpenBLAS（CPU）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6.30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×4.1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×1.0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A FP64（エポックを C で回す）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1.42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×18.4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×4.4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 FP64（バッチのループは Lisp）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1.43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×18.2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×4.4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 モジュール FP64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1.43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×18.2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×4.4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 PyTorch FP64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1.54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×16.9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×4.1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A FP32（エポックを C で回す）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0.094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×278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572E"/>
                          </a:solidFill>
                        </a:rPr>
                        <a:t>×67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A FP32（バッチのループは Lisp）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0.095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×276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×67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B モジュール FP32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0.094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×277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×67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D PyTorch FP32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0.145 秒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×180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×43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tat-85"/>
          <p:cNvSpPr txBox="1"/>
          <p:nvPr/>
        </p:nvSpPr>
        <p:spPr>
          <a:xfrm>
            <a:off x="7863840" y="1280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×18</a:t>
            </a:r>
            <a:endParaRPr lang="en-US" sz="4000" dirty="0"/>
          </a:p>
        </p:txBody>
      </p:sp>
      <p:sp>
        <p:nvSpPr>
          <p:cNvPr id="6" name="statlbl-86"/>
          <p:cNvSpPr txBox="1"/>
          <p:nvPr/>
        </p:nvSpPr>
        <p:spPr>
          <a:xfrm>
            <a:off x="786384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GPU FP64（元の nn.l 比）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nn.l と同じ倍精度で同じ結果</a:t>
            </a:r>
            <a:endParaRPr lang="en-US" sz="1200" dirty="0"/>
          </a:p>
        </p:txBody>
      </p:sp>
      <p:sp>
        <p:nvSpPr>
          <p:cNvPr id="7" name="stat-87"/>
          <p:cNvSpPr txBox="1"/>
          <p:nvPr/>
        </p:nvSpPr>
        <p:spPr>
          <a:xfrm>
            <a:off x="7863840" y="2743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×278</a:t>
            </a:r>
            <a:endParaRPr lang="en-US" sz="4000" dirty="0"/>
          </a:p>
        </p:txBody>
      </p:sp>
      <p:sp>
        <p:nvSpPr>
          <p:cNvPr id="8" name="statlbl-88"/>
          <p:cNvSpPr txBox="1"/>
          <p:nvPr/>
        </p:nvSpPr>
        <p:spPr>
          <a:xfrm>
            <a:off x="786384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GPU FP32（元の nn.l 比）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認識率は FP64 とほぼ同じ</a:t>
            </a:r>
            <a:endParaRPr lang="en-US" sz="1200" dirty="0"/>
          </a:p>
        </p:txBody>
      </p:sp>
      <p:sp>
        <p:nvSpPr>
          <p:cNvPr id="9" name="bullets-89"/>
          <p:cNvSpPr txBox="1"/>
          <p:nvPr/>
        </p:nvSpPr>
        <p:spPr>
          <a:xfrm>
            <a:off x="7863840" y="42976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FP64 では A・B・D の差がない → GB10 の FP64 演算性能で頭打ち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FP32 では Lisp や Python からの呼び出し回数の差が見える（D は 1 バッチごとに Python の処理が入る）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バッチサイズを変えたときの 1 エポックの時間</a:t>
            </a:r>
            <a:endParaRPr lang="en-US" sz="2800" dirty="0"/>
          </a:p>
        </p:txBody>
      </p:sp>
      <p:graphicFrame>
        <p:nvGraphicFramePr>
          <p:cNvPr id="4" name="sweep-chart" descr=""/>
          <p:cNvGraphicFramePr/>
          <p:nvPr/>
        </p:nvGraphicFramePr>
        <p:xfrm>
          <a:off x="457200" y="1188720"/>
          <a:ext cx="713232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-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280160"/>
          <a:ext cx="379476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188720"/>
                <a:gridCol w="9144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バッチ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C+OpenBLAS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GPU FP64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GPU FP32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7.63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1.89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0.210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6.30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1.65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0.138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6.43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1.49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0.096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8.71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1.63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0.066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8.35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1.53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0.057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6" name="bullets-91"/>
          <p:cNvSpPr txBox="1"/>
          <p:nvPr/>
        </p:nvSpPr>
        <p:spPr>
          <a:xfrm>
            <a:off x="7955280" y="384048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FP32 はバッチが大きいほど速い（行列が大きいほど GPU が埋まる）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FP64 はどのバッチでも約 1.5 秒（演算性能で頭打ち）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推論（テスト 10,000 枚）と準備の時間</a:t>
            </a:r>
            <a:endParaRPr lang="en-US" sz="2800" dirty="0"/>
          </a:p>
        </p:txBody>
      </p:sp>
      <p:graphicFrame>
        <p:nvGraphicFramePr>
          <p:cNvPr id="19" name="table-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方法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10,000 枚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1 枚あたり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正解数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Lisp + OpenBLAS（バッチ200）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0.935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0.093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9824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Lisp + A の dgemm（バッチ200）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0.729 秒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0.073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9824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A GPU 常駐 FP64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93.9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0.0094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4572E"/>
                          </a:solidFill>
                        </a:rPr>
                        <a:t>9824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A GPU 常駐 FP32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4.1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0.0004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9824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D PyTorch FP64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93.4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0.0093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9824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D PyTorch FP32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5.1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0.0005 ms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</a:rPr>
                        <a:t>9824</a:t>
                      </a:r>
                      <a:endParaRPr lang="en-US" sz="12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tat-93"/>
          <p:cNvSpPr txBox="1"/>
          <p:nvPr/>
        </p:nvSpPr>
        <p:spPr>
          <a:xfrm>
            <a:off x="7863840" y="1280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×228</a:t>
            </a:r>
            <a:endParaRPr lang="en-US" sz="4000" dirty="0"/>
          </a:p>
        </p:txBody>
      </p:sp>
      <p:sp>
        <p:nvSpPr>
          <p:cNvPr id="6" name="statlbl-94"/>
          <p:cNvSpPr txBox="1"/>
          <p:nvPr/>
        </p:nvSpPr>
        <p:spPr>
          <a:xfrm>
            <a:off x="786384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推論の速さ（Lisp + OpenBLAS 比, FP32）</a:t>
            </a:r>
            <a:endParaRPr lang="en-US" sz="1200" dirty="0"/>
          </a:p>
        </p:txBody>
      </p:sp>
      <p:sp>
        <p:nvSpPr>
          <p:cNvPr id="7" name="tile-95"/>
          <p:cNvSpPr txBox="1"/>
          <p:nvPr/>
        </p:nvSpPr>
        <p:spPr>
          <a:xfrm>
            <a:off x="7863840" y="2926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準</a:t>
            </a:r>
            <a:endParaRPr lang="en-US" sz="1300" dirty="0"/>
          </a:p>
        </p:txBody>
      </p:sp>
      <p:sp>
        <p:nvSpPr>
          <p:cNvPr id="8" name="head-96"/>
          <p:cNvSpPr txBox="1"/>
          <p:nvPr/>
        </p:nvSpPr>
        <p:spPr>
          <a:xfrm>
            <a:off x="8366760" y="29260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準備（重み＋60,000 枚の転送）</a:t>
            </a:r>
            <a:endParaRPr lang="en-US" sz="1700" dirty="0"/>
          </a:p>
        </p:txBody>
      </p:sp>
      <p:sp>
        <p:nvSpPr>
          <p:cNvPr id="9" name="bullets-97"/>
          <p:cNvSpPr txBox="1"/>
          <p:nvPr/>
        </p:nvSpPr>
        <p:spPr>
          <a:xfrm>
            <a:off x="7863840" y="342900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A: 3.4 秒（Lisp のリスト → 行列 → GPU）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D: 4.9 秒（パイプで約 380 MB を送る）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どちらも最初に 1 回だけ。20 エポックの学習なら十分小さい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37744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結果の正しさの確認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377440" y="35661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同じ初期値から学習して重みが一致するか、20 エポックの認識率の推移が同じか</a:t>
            </a:r>
            <a:endParaRPr lang="en-US" sz="1600" dirty="0"/>
          </a:p>
        </p:txBody>
      </p:sp>
      <p:sp>
        <p:nvSpPr>
          <p:cNvPr id="4" name="tile-98"/>
          <p:cNvSpPr txBox="1"/>
          <p:nvPr/>
        </p:nvSpPr>
        <p:spPr>
          <a:xfrm>
            <a:off x="822960" y="2514600"/>
            <a:ext cx="1097280" cy="1097280"/>
          </a:xfrm>
          <a:prstGeom prst="roundRect">
            <a:avLst>
              <a:gd name="adj" fmla="val 5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4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90B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数値の一致と、見つかった nn.l の初期化の問題</a:t>
            </a:r>
            <a:endParaRPr lang="en-US" sz="2800" dirty="0"/>
          </a:p>
        </p:txBody>
      </p:sp>
      <p:sp>
        <p:nvSpPr>
          <p:cNvPr id="4" name="tile-99"/>
          <p:cNvSpPr txBox="1"/>
          <p:nvPr/>
        </p:nvSpPr>
        <p:spPr>
          <a:xfrm>
            <a:off x="54864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=</a:t>
            </a:r>
            <a:endParaRPr lang="en-US" sz="1300" dirty="0"/>
          </a:p>
        </p:txBody>
      </p:sp>
      <p:sp>
        <p:nvSpPr>
          <p:cNvPr id="5" name="head-100"/>
          <p:cNvSpPr txBox="1"/>
          <p:nvPr/>
        </p:nvSpPr>
        <p:spPr>
          <a:xfrm>
            <a:off x="1051560" y="13258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同じ初期値から 50 バッチ学習した後の重みの差</a:t>
            </a:r>
            <a:endParaRPr lang="en-US" sz="1700" dirty="0"/>
          </a:p>
        </p:txBody>
      </p:sp>
      <p:graphicFrame>
        <p:nvGraphicFramePr>
          <p:cNvPr id="21" name="table-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737360"/>
                <a:gridCol w="17373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|W_Lisp − W_C+OpenBLAS|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|W_Lisp − W_GPU FP64|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|W_Lisp|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W₁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1.8×10⁻¹⁴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4.1×10⁻¹⁵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41.0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W₂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2.7×10⁻¹⁴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5.0×10⁻¹⁵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46.2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W₃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3.1×10⁻¹⁵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3.0×10⁻¹⁵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</a:rPr>
                        <a:t>5.2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7" name="text-102"/>
          <p:cNvSpPr txBox="1"/>
          <p:nvPr/>
        </p:nvSpPr>
        <p:spPr>
          <a:xfrm>
            <a:off x="548640" y="32918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→ 丸め誤差の範囲で一致。dgemm 単体も 4 方法すべて OpenBLAS と差 1×10⁻¹² 以下。</a:t>
            </a:r>
            <a:endParaRPr lang="en-US" sz="1250" dirty="0"/>
          </a:p>
        </p:txBody>
      </p:sp>
      <p:sp>
        <p:nvSpPr>
          <p:cNvPr id="8" name="tile-103"/>
          <p:cNvSpPr txBox="1"/>
          <p:nvPr/>
        </p:nvSpPr>
        <p:spPr>
          <a:xfrm>
            <a:off x="6400800" y="13258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9" name="head-104"/>
          <p:cNvSpPr txBox="1"/>
          <p:nvPr/>
        </p:nvSpPr>
        <p:spPr>
          <a:xfrm>
            <a:off x="6903720" y="1325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nn.l の Perceptron :init の問題</a:t>
            </a:r>
            <a:endParaRPr lang="en-US" sz="1700" dirty="0"/>
          </a:p>
        </p:txBody>
      </p:sp>
      <p:sp>
        <p:nvSpPr>
          <p:cNvPr id="10" name="code-105"/>
          <p:cNvSpPr txBox="1"/>
          <p:nvPr/>
        </p:nvSpPr>
        <p:spPr>
          <a:xfrm>
            <a:off x="6400800" y="182880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W (make-matrix out-dim in-dim))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(setq Wt (transpose W))   ; ← W はまだ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(dotimes (i ...) (dotimes (j ...)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 (setf (aref W i j) (- (random 0.16) 0.08))))</a:t>
            </a:r>
            <a:endParaRPr lang="en-US" sz="1150" dirty="0"/>
          </a:p>
        </p:txBody>
      </p:sp>
      <p:sp>
        <p:nvSpPr>
          <p:cNvPr id="11" name="bullets-106"/>
          <p:cNvSpPr txBox="1"/>
          <p:nvPr/>
        </p:nvSpPr>
        <p:spPr>
          <a:xfrm>
            <a:off x="6400800" y="34290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Wt を乱数で埋める前の W から作るので、最初の 1 バッチだけ重み 0 で順伝播する（損失 = ln 10 = 2.3026）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 バッチ目からは更新後の W から Wt を作り直すので、影響は小さい（20 エポック後のテスト 98.24% → 98.22%）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比較のときは Lisp 側の Wt を (transpose W) に直して一致を確認した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直し方: Wt の行を乱数の後ろに移す</a:t>
            </a:r>
            <a:endParaRPr lang="en-US" sz="1200" dirty="0"/>
          </a:p>
        </p:txBody>
      </p:sp>
      <p:sp>
        <p:nvSpPr>
          <p:cNvPr id="12" name="tile-107"/>
          <p:cNvSpPr txBox="1"/>
          <p:nvPr/>
        </p:nvSpPr>
        <p:spPr>
          <a:xfrm>
            <a:off x="548640" y="40690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≡</a:t>
            </a:r>
            <a:endParaRPr lang="en-US" sz="1300" dirty="0"/>
          </a:p>
        </p:txBody>
      </p:sp>
      <p:sp>
        <p:nvSpPr>
          <p:cNvPr id="13" name="head-108"/>
          <p:cNvSpPr txBox="1"/>
          <p:nvPr/>
        </p:nvSpPr>
        <p:spPr>
          <a:xfrm>
            <a:off x="1051560" y="406908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GPU 版は修正後の正しい初期化で計算</a:t>
            </a:r>
            <a:endParaRPr lang="en-US" sz="1700" dirty="0"/>
          </a:p>
        </p:txBody>
      </p:sp>
      <p:sp>
        <p:nvSpPr>
          <p:cNvPr id="14" name="text-109"/>
          <p:cNvSpPr txBox="1"/>
          <p:nvPr/>
        </p:nvSpPr>
        <p:spPr>
          <a:xfrm>
            <a:off x="548640" y="45720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cuda-mlp-create は W から計算するので Wt の問題の影響を受けない。そのため元の保存済みモデル（mlp/）とは最初の 1 バッチ分だけ経過が異なる。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 エポックのテスト認識率の推移</a:t>
            </a:r>
            <a:endParaRPr lang="en-US" sz="2800" dirty="0"/>
          </a:p>
        </p:txBody>
      </p:sp>
      <p:graphicFrame>
        <p:nvGraphicFramePr>
          <p:cNvPr id="4" name="acc20-chart" descr=""/>
          <p:cNvGraphicFramePr/>
          <p:nvPr/>
        </p:nvGraphicFramePr>
        <p:xfrm>
          <a:off x="457200" y="1188720"/>
          <a:ext cx="73152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-1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280160"/>
          <a:ext cx="36118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430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20 エポック後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20 エポックの時間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元の nn.l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98.24%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約 9 分（計算のみ）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GPU FP64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98.22%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29.3 秒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GPU FP32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98.17%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2.0 秒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PyTorch FP64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98.22%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4213D"/>
                          </a:solidFill>
                        </a:rPr>
                        <a:t>30.8 秒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111"/>
          <p:cNvSpPr txBox="1"/>
          <p:nvPr/>
        </p:nvSpPr>
        <p:spPr>
          <a:xfrm>
            <a:off x="8046720" y="384048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GPU FP64 と PyTorch FP64 は同じ計算なので同じ推移。FP32 にしても認識率はほとんど変わらない。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なぜ FP64 と FP32 でこれほど差があるか — GB10 の演算性能</a:t>
            </a:r>
            <a:endParaRPr lang="en-US" sz="2800" dirty="0"/>
          </a:p>
        </p:txBody>
      </p:sp>
      <p:graphicFrame>
        <p:nvGraphicFramePr>
          <p:cNvPr id="4" name="peak-chart" descr=""/>
          <p:cNvGraphicFramePr/>
          <p:nvPr/>
        </p:nvGraphicFramePr>
        <p:xfrm>
          <a:off x="457200" y="1188720"/>
          <a:ext cx="64008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bullets-112"/>
          <p:cNvSpPr txBox="1"/>
          <p:nvPr/>
        </p:nvSpPr>
        <p:spPr>
          <a:xfrm>
            <a:off x="7223760" y="1371600"/>
            <a:ext cx="4389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GB10 の FP64 は FP32 の約 1/43。科学計算向けの GPU（H100 など）と違い FP64 が弱い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それでも CPU（OpenBLAS）の約 3 倍あるので、FP64 でも速くなる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MNIST の学習は FP32 で十分な精度 → FP32 を使うのが実用的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TF32（Tensor Core）を使えばさらに速くなるが、今回の規模では呼び出しの手間が先に効く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どの方法を選ぶか</a:t>
            </a:r>
            <a:endParaRPr lang="en-US" sz="2800" dirty="0"/>
          </a:p>
        </p:txBody>
      </p:sp>
      <p:sp>
        <p:nvSpPr>
          <p:cNvPr id="3" name="card-113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tile-114"/>
          <p:cNvSpPr txBox="1"/>
          <p:nvPr/>
        </p:nvSpPr>
        <p:spPr>
          <a:xfrm>
            <a:off x="731520" y="150876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</a:t>
            </a:r>
            <a:endParaRPr lang="en-US" sz="1300" dirty="0"/>
          </a:p>
        </p:txBody>
      </p:sp>
      <p:sp>
        <p:nvSpPr>
          <p:cNvPr id="5" name="text-115"/>
          <p:cNvSpPr txBox="1"/>
          <p:nvPr/>
        </p:nvSpPr>
        <p:spPr>
          <a:xfrm>
            <a:off x="1463040" y="138988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速さを求めるなら A（defforeign + C）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ループごと GPU に置けて一番速い。cblaslib.l と同じ書き方で、EusLisp の内部に依存しない</a:t>
            </a:r>
            <a:endParaRPr lang="en-US" sz="1400" dirty="0"/>
          </a:p>
        </p:txBody>
      </p:sp>
      <p:sp>
        <p:nvSpPr>
          <p:cNvPr id="6" name="card-116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7" name="tile-117"/>
          <p:cNvSpPr txBox="1"/>
          <p:nvPr/>
        </p:nvSpPr>
        <p:spPr>
          <a:xfrm>
            <a:off x="731520" y="269748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</a:t>
            </a:r>
            <a:endParaRPr lang="en-US" sz="1300" dirty="0"/>
          </a:p>
        </p:txBody>
      </p:sp>
      <p:sp>
        <p:nvSpPr>
          <p:cNvPr id="8" name="text-118"/>
          <p:cNvSpPr txBox="1"/>
          <p:nvPr/>
        </p:nvSpPr>
        <p:spPr>
          <a:xfrm>
            <a:off x="1463040" y="257860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EusLisp に部品として組み込むなら B（CUDAPROD）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MATPROD と同じ流儀。行列の形の誤りを Lisp のエラーにでき、結果を Lisp のオブジェクトで返せる。速さは A と同じ</a:t>
            </a:r>
            <a:endParaRPr lang="en-US" sz="1400" dirty="0"/>
          </a:p>
        </p:txBody>
      </p:sp>
      <p:sp>
        <p:nvSpPr>
          <p:cNvPr id="9" name="card-119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ile-120"/>
          <p:cNvSpPr txBox="1"/>
          <p:nvPr/>
        </p:nvSpPr>
        <p:spPr>
          <a:xfrm>
            <a:off x="731520" y="388620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</a:t>
            </a:r>
            <a:endParaRPr lang="en-US" sz="1300" dirty="0"/>
          </a:p>
        </p:txBody>
      </p:sp>
      <p:sp>
        <p:nvSpPr>
          <p:cNvPr id="11" name="text-121"/>
          <p:cNvSpPr txBox="1"/>
          <p:nvPr/>
        </p:nvSpPr>
        <p:spPr>
          <a:xfrm>
            <a:off x="1463040" y="37673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とりあえず試すなら C（cuBLAS 直接）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Lisp だけで動く。ただし独自カーネルが書けず演算ごとの転送になるので、nn.l では約 2 割しか速くならない</a:t>
            </a:r>
            <a:endParaRPr lang="en-US" sz="1400" dirty="0"/>
          </a:p>
        </p:txBody>
      </p:sp>
      <p:sp>
        <p:nvSpPr>
          <p:cNvPr id="12" name="card-122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3" name="tile-123"/>
          <p:cNvSpPr txBox="1"/>
          <p:nvPr/>
        </p:nvSpPr>
        <p:spPr>
          <a:xfrm>
            <a:off x="731520" y="5074920"/>
            <a:ext cx="548640" cy="5486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</a:t>
            </a:r>
            <a:endParaRPr lang="en-US" sz="1300" dirty="0"/>
          </a:p>
        </p:txBody>
      </p:sp>
      <p:sp>
        <p:nvSpPr>
          <p:cNvPr id="14" name="text-124"/>
          <p:cNvSpPr txBox="1"/>
          <p:nvPr/>
        </p:nvSpPr>
        <p:spPr>
          <a:xfrm>
            <a:off x="1463040" y="495604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の資産を使う・プロセスを分けるなら D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PyTorch に任せれば実装は短い。往復が数〜数十 ms なので、エポック単位など大きな単位で頼む</a:t>
            </a:r>
            <a:endParaRPr lang="en-US" sz="1400" dirty="0"/>
          </a:p>
        </p:txBody>
      </p:sp>
      <p:sp>
        <p:nvSpPr>
          <p:cNvPr id="15" name="text-125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共通の教訓: GPU の効果を出すには、演算だけでなくデータとループも GPU に置き、Lisp との往復を減らすこと。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追加したファイルと使い方</a:t>
            </a:r>
            <a:endParaRPr lang="en-US" sz="2800" dirty="0"/>
          </a:p>
        </p:txBody>
      </p:sp>
      <p:sp>
        <p:nvSpPr>
          <p:cNvPr id="4" name="code-126"/>
          <p:cNvSpPr txBox="1"/>
          <p:nvPr/>
        </p:nvSpPr>
        <p:spPr>
          <a:xfrm>
            <a:off x="548640" y="128016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CUDA/src/cudamlp.cu   GPU 計算本体 (cuBLAS + カーネル, FP64/FP32) と C+OpenBLAS 版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CUDA/Makefile         → CUDA/LinuxARM/libcudamlp.so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cudalib.l             方法 A: defforeign の定義と Lisp の関数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CUDAPROD/src/cudaprod.c, Makefile   方法 B: MATPROD 形式のモジュール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cuda-direct.l         方法 C: libcublas.so を直接 defforeign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cuda-ipc.l, ipc/torch_server.py     方法 D: PyTorch 別プロセス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nn-cuda.l             学習・テストの関数 (nn.l を読み込む)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bench-cuda.l          本スライドの計測 (RESULT 行を出力)</a:t>
            </a:r>
            <a:endParaRPr lang="en-US" sz="1350" dirty="0"/>
          </a:p>
        </p:txBody>
      </p:sp>
      <p:sp>
        <p:nvSpPr>
          <p:cNvPr id="5" name="code-127"/>
          <p:cNvSpPr txBox="1"/>
          <p:nvPr/>
        </p:nvSpPr>
        <p:spPr>
          <a:xfrm>
            <a:off x="548640" y="3794760"/>
            <a:ext cx="11064240" cy="2377440"/>
          </a:xfrm>
          <a:prstGeom prst="roundRect">
            <a:avLst>
              <a:gd name="adj" fmla="val 2308"/>
            </a:avLst>
          </a:prstGeom>
          <a:solidFill>
            <a:srgbClr val="1B2433"/>
          </a:solidFill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(cd CUDA; make) &amp;&amp; (cd CUDAPROD; make)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roseus nn-cuda.l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(test-mnist-batch-cuda 200)                 ;; GPU 常駐 FP64 で 20 エポック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(test-mnist-batch-cuda 200 :precision 32)   ;; FP32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(test-mnist-batch-lisp 200 :dgemm :cuda)    ;; nn.l のループのまま dgemm だけ GPU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(test-mnist-cuda-test)                      ;; mlp/mnist-mlp-19.l を GPU で認識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8ECF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$ irteusgl bench-cuda.l                       ;; 接続方法の比較 (約 10 分)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IST Ink">
  <a:themeElements>
    <a:clrScheme name="MNIST Ink">
      <a:dk1>
        <a:srgbClr val="14213D"/>
      </a:dk1>
      <a:lt1>
        <a:srgbClr val="FFFFFF"/>
      </a:lt1>
      <a:dk2>
        <a:srgbClr val="2B3A55"/>
      </a:dk2>
      <a:lt2>
        <a:srgbClr val="EEF1F6"/>
      </a:lt2>
      <a:accent1>
        <a:srgbClr val="E4572E"/>
      </a:accent1>
      <a:accent2>
        <a:srgbClr val="3A6EA5"/>
      </a:accent2>
      <a:accent3>
        <a:srgbClr val="F2A541"/>
      </a:accent3>
      <a:accent4>
        <a:srgbClr val="5B8C5A"/>
      </a:accent4>
      <a:accent5>
        <a:srgbClr val="8E7DBE"/>
      </a:accent5>
      <a:accent6>
        <a:srgbClr val="5B6577"/>
      </a:accent6>
      <a:hlink>
        <a:srgbClr val="3A6EA5"/>
      </a:hlink>
      <a:folHlink>
        <a:srgbClr val="8E7DBE"/>
      </a:folHlink>
    </a:clrScheme>
    <a:fontScheme name="MNIST Ink">
      <a:majorFont>
        <a:latin typeface="Noto Sans CJK JP"/>
        <a:ea typeface="Noto Sans CJK JP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Noto Sans CJK JP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× EusLisp を CUDA で — 接続方法の比較と速度</dc:title>
  <dc:subject>MNIST dataset, MLP implementation in EusLisp, profiling and results</dc:subject>
  <dc:creator>Masayuki Inaba</dc:creator>
  <cp:lastModifiedBy>Masayuki Inaba</cp:lastModifiedBy>
  <cp:revision>1</cp:revision>
  <dcterms:created xsi:type="dcterms:W3CDTF">2026-10-02T22:00:43Z</dcterms:created>
  <dcterms:modified xsi:type="dcterms:W3CDTF">2026-10-02T22:00:43Z</dcterms:modified>
</cp:coreProperties>
</file>