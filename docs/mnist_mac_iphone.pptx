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0295350b-28a4-a298-7f8a-4484bd34a59c}">
          <p14:sldIdLst>
            <p14:sldId id="256"/>
            <p14:sldId id="257"/>
          </p14:sldIdLst>
        </p14:section>
        <p14:section name="1. 実験の方法" id="{49171032-8af6-37c6-2f25-a040755a5dce}">
          <p14:sldIdLst>
            <p14:sldId id="258"/>
            <p14:sldId id="259"/>
            <p14:sldId id="260"/>
            <p14:sldId id="261"/>
            <p14:sldId id="262"/>
          </p14:sldIdLst>
        </p14:section>
        <p14:section name="2. 学習の時間" id="{dd1984d7-6e95-933b-17af-7d227c7d0da9}">
          <p14:sldIdLst>
            <p14:sldId id="263"/>
            <p14:sldId id="264"/>
            <p14:sldId id="265"/>
          </p14:sldIdLst>
        </p14:section>
        <p14:section name="3. ハードウェアを使う・使わない" id="{ea50585e-67ea-d571-9e5d-73655ba74692}">
          <p14:sldIdLst>
            <p14:sldId id="266"/>
            <p14:sldId id="267"/>
            <p14:sldId id="268"/>
            <p14:sldId id="269"/>
          </p14:sldIdLst>
        </p14:section>
        <p14:section name="4. 推論の時間" id="{70f437f9-2112-4d67-0924-49a3d64399b8}">
          <p14:sldIdLst>
            <p14:sldId id="270"/>
            <p14:sldId id="271"/>
            <p14:sldId id="272"/>
            <p14:sldId id="273"/>
          </p14:sldIdLst>
        </p14:section>
        <p14:section name="5. ブラウザでの計測" id="{814079c1-ffd7-58bf-b667-bd737a1942a5}">
          <p14:sldIdLst>
            <p14:sldId id="274"/>
            <p14:sldId id="275"/>
            <p14:sldId id="276"/>
          </p14:sldIdLst>
        </p14:section>
        <p14:section name="6. すべての結果の比較" id="{9ae0e0c2-e130-a223-8bfc-509243b1344c}">
          <p14:sldIdLst>
            <p14:sldId id="277"/>
            <p14:sldId id="278"/>
            <p14:sldId id="279"/>
          </p14:sldIdLst>
        </p14:section>
        <p14:section name="7. まとめ" id="{141d8da6-6614-66ba-3476-4008989cdb5a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1 エポック [秒]（対数, 短いほど速い）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DGX: EusLisp nn.l</c:v>
                  </c:pt>
                  <c:pt idx="1">
                    <c:v>Mac: EusLisp nn.l</c:v>
                  </c:pt>
                  <c:pt idx="2">
                    <c:v>DGX: C++ + OpenBLAS FP32</c:v>
                  </c:pt>
                  <c:pt idx="3">
                    <c:v>Mac: C++ + Accelerate FP32</c:v>
                  </c:pt>
                  <c:pt idx="4">
                    <c:v>iPhone: C++ + Accelerate FP32</c:v>
                  </c:pt>
                  <c:pt idx="5">
                    <c:v>Mac: GPU（MPSGraph）</c:v>
                  </c:pt>
                  <c:pt idx="6">
                    <c:v>iPhone: GPU（MPSGraph）</c:v>
                  </c:pt>
                  <c:pt idx="7">
                    <c:v>DGX: CUDA GPU FP32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26.1</c:v>
                </c:pt>
                <c:pt idx="1">
                  <c:v>27.061</c:v>
                </c:pt>
                <c:pt idx="2">
                  <c:v>4.25</c:v>
                </c:pt>
                <c:pt idx="3">
                  <c:v>2.617</c:v>
                </c:pt>
                <c:pt idx="4">
                  <c:v>0.662</c:v>
                </c:pt>
                <c:pt idx="5">
                  <c:v>4.765</c:v>
                </c:pt>
                <c:pt idx="6">
                  <c:v>0.735</c:v>
                </c:pt>
                <c:pt idx="7">
                  <c:v>0.099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DGX: EusLisp nn.l</c:v>
                  </c:pt>
                  <c:pt idx="1">
                    <c:v>Mac: EusLisp nn.l</c:v>
                  </c:pt>
                  <c:pt idx="2">
                    <c:v>DGX: C++ + OpenBLAS FP32</c:v>
                  </c:pt>
                  <c:pt idx="3">
                    <c:v>Mac: C++ + Accelerate FP32</c:v>
                  </c:pt>
                  <c:pt idx="4">
                    <c:v>iPhone: C++ + Accelerate FP32</c:v>
                  </c:pt>
                  <c:pt idx="5">
                    <c:v>Mac: GPU（MPSGraph）</c:v>
                  </c:pt>
                  <c:pt idx="6">
                    <c:v>iPhone: GPU（MPSGraph）</c:v>
                  </c:pt>
                  <c:pt idx="7">
                    <c:v>DGX: CUDA GPU FP32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>28.967</c:v>
                </c:pt>
                <c:pt idx="3">
                  <c:v>19.829</c:v>
                </c:pt>
                <c:pt idx="4">
                  <c:v>7.441</c:v>
                </c:pt>
                <c:pt idx="5">
                  <c:v>51.448</c:v>
                </c:pt>
                <c:pt idx="6">
                  <c:v>7.839</c:v>
                </c:pt>
                <c:pt idx="7">
                  <c:v>0.426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1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CNN 1 エポック [秒]（対数, 短いほど速い）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素朴なループ
1 スレッド</c:v>
                  </c:pt>
                  <c:pt idx="1">
                    <c:v>Accelerate
1 スレッド</c:v>
                  </c:pt>
                  <c:pt idx="2">
                    <c:v>Accelerate
全コア</c:v>
                  </c:pt>
                  <c:pt idx="3">
                    <c:v>GPU
MPSGraph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670.03</c:v>
                </c:pt>
                <c:pt idx="1">
                  <c:v>71.2</c:v>
                </c:pt>
                <c:pt idx="2">
                  <c:v>19.83</c:v>
                </c:pt>
                <c:pt idx="3">
                  <c:v>51.45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素朴なループ
1 スレッド</c:v>
                  </c:pt>
                  <c:pt idx="1">
                    <c:v>Accelerate
1 スレッド</c:v>
                  </c:pt>
                  <c:pt idx="2">
                    <c:v>Accelerate
全コア</c:v>
                  </c:pt>
                  <c:pt idx="3">
                    <c:v>GPU
MPSGraph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380.37</c:v>
                </c:pt>
                <c:pt idx="1">
                  <c:v>16.22</c:v>
                </c:pt>
                <c:pt idx="2">
                  <c:v>7.44</c:v>
                </c:pt>
                <c:pt idx="3">
                  <c:v>7.84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1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CNN 推論 1 枚あたり [ms]（対数, 短いほど速い）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素朴なループ</c:v>
                  </c:pt>
                  <c:pt idx="1">
                    <c:v>Accelerate</c:v>
                  </c:pt>
                  <c:pt idx="2">
                    <c:v>GPU MPSGraph</c:v>
                  </c:pt>
                  <c:pt idx="3">
                    <c:v>Core ML CPU</c:v>
                  </c:pt>
                  <c:pt idx="4">
                    <c:v>Core ML GPU</c:v>
                  </c:pt>
                  <c:pt idx="5">
                    <c:v>Core ML
Neural Engine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2.7039</c:v>
                </c:pt>
                <c:pt idx="1">
                  <c:v>0.2244</c:v>
                </c:pt>
                <c:pt idx="2">
                  <c:v>0.1247</c:v>
                </c:pt>
                <c:pt idx="3">
                  <c:v>0.1262</c:v>
                </c:pt>
                <c:pt idx="4">
                  <c:v>0.2286</c:v>
                </c:pt>
                <c:pt idx="5">
                  <c:v>0.1248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素朴なループ</c:v>
                  </c:pt>
                  <c:pt idx="1">
                    <c:v>Accelerate</c:v>
                  </c:pt>
                  <c:pt idx="2">
                    <c:v>GPU MPSGraph</c:v>
                  </c:pt>
                  <c:pt idx="3">
                    <c:v>Core ML CPU</c:v>
                  </c:pt>
                  <c:pt idx="4">
                    <c:v>Core ML GPU</c:v>
                  </c:pt>
                  <c:pt idx="5">
                    <c:v>Core ML
Neural Engine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2.0044</c:v>
                </c:pt>
                <c:pt idx="1">
                  <c:v>0.0921</c:v>
                </c:pt>
                <c:pt idx="2">
                  <c:v>0.013</c:v>
                </c:pt>
                <c:pt idx="3">
                  <c:v>0.0127</c:v>
                </c:pt>
                <c:pt idx="4">
                  <c:v>0.0233</c:v>
                </c:pt>
                <c:pt idx="5">
                  <c:v>0.0026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"/>
          <c:min val="0.001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CNN 推論 1 枚あたり [µs]（短いほど速い）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旧形式（FP32, 1 枚ずつ）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 のみ</c:v>
                  </c:pt>
                  <c:pt idx="1">
                    <c:v>CPU + GPU</c:v>
                  </c:pt>
                  <c:pt idx="2">
                    <c:v>CPU + Neural Engine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41.8</c:v>
                </c:pt>
                <c:pt idx="1">
                  <c:v>57.5</c:v>
                </c:pt>
                <c:pt idx="2">
                  <c:v>531.4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新形式（FP16, 100 枚ずつ）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 のみ</c:v>
                  </c:pt>
                  <c:pt idx="1">
                    <c:v>CPU + GPU</c:v>
                  </c:pt>
                  <c:pt idx="2">
                    <c:v>CPU + Neural Engine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12.7</c:v>
                </c:pt>
                <c:pt idx="1">
                  <c:v>23.3</c:v>
                </c:pt>
                <c:pt idx="2">
                  <c:v>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時間は 60,000 枚あたりに換算（学習は 1 エポック, バッチ 200）。C++ + Accelerate は 6,000 枚 × 2 エポックを測り、速い方から換算。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DGX Spark の値は前回の計測（docs/mnist_cnn.pptx, mnist_euslisp.pptx）。Mac と iPhone は今回の計測。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データと重みはブラウザの計測ページ（phone/site）と同じファイル。Core ML のモデルは ios/models の .mlmodel（EusLisp で学習した重み）。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OpenMP は Apple の clang にないので GCD（Grand Central Dispatch）の dispatch_apply で同じ並列ループを作った。行列積は Accelerate の cblas。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eus は Homebrew の jskeus 1.2.1。起動直後に 3〜5 割の確率で落ちる（Bus error）ので、出力を見てやり直した。irteusgl は libjpeg がなく使えず、描画なしの eus で動かした。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60,000 枚・バッチ 200 の 1 エポック。対数目盛。EusLisp の nn.l は MLP だけ。CUDA は DGX Spark の GPU。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 のエンジンは同じコード。DGX は OpenMP 10 + OpenBLAS 10 スレッド、Mac・iPhone は GCD + Accelerate（スレッド数は Accelerate が決める）。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の CPU の命令は sysctl machdep.cpu で確認。iPhone のコア数・GPU 名は計測アプリで取得。行列ユニットと Neural Engine の性能は Apple の公開資料による（公称）。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 1 エポック（60,000 枚）の換算時間。素朴なループは 1,000 枚、ほかは 6,000 枚から換算。対数目盛。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まとめて処理したときの 1 枚あたり。素朴なループは 1,000 枚、ほかは 10,000 枚。Core ML は新形式（ML Program, FP16）に 100 枚ずつ渡した値。GPU = CPU + GPU、Neural Engine = CPU + Neural Engine を選んだ場合。対数目盛。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まとめて = 10,000 枚を処理した 1 枚あたり（C++ はバッチ 200、Core ML は batch API）。1 枚ずつ = 1 枚ごとに呼んだときの平均。µs = 1/1000 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旧形式 = NeuralNetwork（FP32, 1 枚ずつ受け取る。batch API で 10,000 枚）。新形式 = ML Program（FP16, 100 枚ずつ受け取る）。層の割り当ては MLComputePlan で調べた。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60,000 枚 1 エポックに換算（JS 自作は 600 枚、TF.js CPU は 400 枚（CNN 200 枚）、ほかは 6,000 枚から）。赤 = その機器で最速。iPhone は Safari、Mac は Safari、DGX は Chromium。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まとめて = 1,000 枚ずつ処理した 1 枚あたり（JS 自作・TF.js CPU は 1,000 枚、ほかは 10,000 枚）。1 枚ずつ = 1 枚だけ認識したときの応答時間（中央値, ブラウザのタイマーの細かさで丸められる）。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C++・GPU は 6,000 枚 × 2 エポックの速い方から換算。ブラウザは各機器で最も速かった方法。赤 = 全体で最速。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10,000 枚（素朴なループは 1,000 枚）をまとめて処理した 1 枚あたり。ブラウザは各機器で最も速かった方法。赤 = 全体で最速。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iPhone アプリのビルドには Xcode の iOS プラットフォームと Apple ID（無料で可）、iPhone のデベロッパモードが必要。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MNIST × EusLisp — Mac と iPhone での計測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MNIST を Mac と iPhone で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計算スピードの比較実験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EusLisp で作った MNIST の MLP と CNN を、同じ C++ + Accelerate のコードと Core ML で Mac と iPhone の上で動かし、学習と推論の時間を DGX Spark と比べた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計測した機器: MacBook Pro（2019, Intel） ／ iPhone 16 Pro ／ 比較: DGX Spark（GB10）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2026-10-04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概要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stat-2"/>
          <p:cNvSpPr txBox="1"/>
          <p:nvPr/>
        </p:nvSpPr>
        <p:spPr>
          <a:xfrm>
            <a:off x="73152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27.1 秒</a:t>
            </a:r>
            <a:endParaRPr lang="en-US" sz="3400" dirty="0"/>
          </a:p>
        </p:txBody>
      </p:sp>
      <p:sp>
        <p:nvSpPr>
          <p:cNvPr id="6" name="statlbl-3"/>
          <p:cNvSpPr txBox="1"/>
          <p:nvPr/>
        </p:nvSpPr>
        <p:spPr>
          <a:xfrm>
            <a:off x="73152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Mac: 元の EusLisp（nn.l）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MLP 1 エポック（DGX 26.1 秒）</a:t>
            </a:r>
            <a:endParaRPr lang="en-US" sz="1200" dirty="0"/>
          </a:p>
        </p:txBody>
      </p:sp>
      <p:sp>
        <p:nvSpPr>
          <p:cNvPr id="7" name="card-4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stat-5"/>
          <p:cNvSpPr txBox="1"/>
          <p:nvPr/>
        </p:nvSpPr>
        <p:spPr>
          <a:xfrm>
            <a:off x="35661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19.8 秒</a:t>
            </a:r>
            <a:endParaRPr lang="en-US" sz="3400" dirty="0"/>
          </a:p>
        </p:txBody>
      </p:sp>
      <p:sp>
        <p:nvSpPr>
          <p:cNvPr id="9" name="statlbl-6"/>
          <p:cNvSpPr txBox="1"/>
          <p:nvPr/>
        </p:nvSpPr>
        <p:spPr>
          <a:xfrm>
            <a:off x="35661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Mac: C++ + Accelerate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CNN 1 エポック（DGX CPU 29.0 秒）</a:t>
            </a:r>
            <a:endParaRPr lang="en-US" sz="1200" dirty="0"/>
          </a:p>
        </p:txBody>
      </p:sp>
      <p:sp>
        <p:nvSpPr>
          <p:cNvPr id="10" name="card-7"/>
          <p:cNvSpPr/>
          <p:nvPr/>
        </p:nvSpPr>
        <p:spPr>
          <a:xfrm>
            <a:off x="62179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stat-8"/>
          <p:cNvSpPr txBox="1"/>
          <p:nvPr/>
        </p:nvSpPr>
        <p:spPr>
          <a:xfrm>
            <a:off x="6400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7.44 秒</a:t>
            </a:r>
            <a:endParaRPr lang="en-US" sz="3400" dirty="0"/>
          </a:p>
        </p:txBody>
      </p:sp>
      <p:sp>
        <p:nvSpPr>
          <p:cNvPr id="12" name="statlbl-9"/>
          <p:cNvSpPr txBox="1"/>
          <p:nvPr/>
        </p:nvSpPr>
        <p:spPr>
          <a:xfrm>
            <a:off x="6400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iPhone 16 Pro: C++ + Accelerate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CNN 1 エポック</a:t>
            </a:r>
            <a:endParaRPr lang="en-US" sz="1200" dirty="0"/>
          </a:p>
        </p:txBody>
      </p:sp>
      <p:sp>
        <p:nvSpPr>
          <p:cNvPr id="13" name="card-10"/>
          <p:cNvSpPr/>
          <p:nvPr/>
        </p:nvSpPr>
        <p:spPr>
          <a:xfrm>
            <a:off x="905256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stat-11"/>
          <p:cNvSpPr txBox="1"/>
          <p:nvPr/>
        </p:nvSpPr>
        <p:spPr>
          <a:xfrm>
            <a:off x="92354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2.6 µs</a:t>
            </a:r>
            <a:endParaRPr lang="en-US" sz="3400" dirty="0"/>
          </a:p>
        </p:txBody>
      </p:sp>
      <p:sp>
        <p:nvSpPr>
          <p:cNvPr id="15" name="statlbl-12"/>
          <p:cNvSpPr txBox="1"/>
          <p:nvPr/>
        </p:nvSpPr>
        <p:spPr>
          <a:xfrm>
            <a:off x="92354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iPhone 16 Pro: Neural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CNN 推論 1 枚（Core ML）</a:t>
            </a:r>
            <a:endParaRPr lang="en-US" sz="1200" dirty="0"/>
          </a:p>
        </p:txBody>
      </p:sp>
      <p:sp>
        <p:nvSpPr>
          <p:cNvPr id="16" name="tile-13"/>
          <p:cNvSpPr txBox="1"/>
          <p:nvPr/>
        </p:nvSpPr>
        <p:spPr>
          <a:xfrm>
            <a:off x="5486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head-14"/>
          <p:cNvSpPr txBox="1"/>
          <p:nvPr/>
        </p:nvSpPr>
        <p:spPr>
          <a:xfrm>
            <a:off x="105156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実験の方法 — 同じコードを Mac と iPhone で</a:t>
            </a:r>
            <a:endParaRPr lang="en-US" sz="1700" dirty="0"/>
          </a:p>
        </p:txBody>
      </p:sp>
      <p:sp>
        <p:nvSpPr>
          <p:cNvPr id="18" name="tile-15"/>
          <p:cNvSpPr txBox="1"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head-16"/>
          <p:cNvSpPr txBox="1"/>
          <p:nvPr/>
        </p:nvSpPr>
        <p:spPr>
          <a:xfrm>
            <a:off x="105156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元の EusLisp（nn.l）を Mac で動かす</a:t>
            </a:r>
            <a:endParaRPr lang="en-US" sz="1700" dirty="0"/>
          </a:p>
        </p:txBody>
      </p:sp>
      <p:sp>
        <p:nvSpPr>
          <p:cNvPr id="20" name="tile-17"/>
          <p:cNvSpPr txBox="1"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head-18"/>
          <p:cNvSpPr txBox="1"/>
          <p:nvPr/>
        </p:nvSpPr>
        <p:spPr>
          <a:xfrm>
            <a:off x="105156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学習の時間（1 エポック）</a:t>
            </a:r>
            <a:endParaRPr lang="en-US" sz="1700" dirty="0"/>
          </a:p>
        </p:txBody>
      </p:sp>
      <p:sp>
        <p:nvSpPr>
          <p:cNvPr id="22" name="tile-19"/>
          <p:cNvSpPr txBox="1"/>
          <p:nvPr/>
        </p:nvSpPr>
        <p:spPr>
          <a:xfrm>
            <a:off x="630936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head-20"/>
          <p:cNvSpPr txBox="1"/>
          <p:nvPr/>
        </p:nvSpPr>
        <p:spPr>
          <a:xfrm>
            <a:off x="681228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ハードウェアを使う・使わない</a:t>
            </a:r>
            <a:endParaRPr lang="en-US" sz="1700" dirty="0"/>
          </a:p>
        </p:txBody>
      </p:sp>
      <p:sp>
        <p:nvSpPr>
          <p:cNvPr id="24" name="tile-21"/>
          <p:cNvSpPr txBox="1"/>
          <p:nvPr/>
        </p:nvSpPr>
        <p:spPr>
          <a:xfrm>
            <a:off x="630936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head-22"/>
          <p:cNvSpPr txBox="1"/>
          <p:nvPr/>
        </p:nvSpPr>
        <p:spPr>
          <a:xfrm>
            <a:off x="681228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推論の時間と Core ML の計算装置</a:t>
            </a:r>
            <a:endParaRPr lang="en-US" sz="1700" dirty="0"/>
          </a:p>
        </p:txBody>
      </p:sp>
      <p:sp>
        <p:nvSpPr>
          <p:cNvPr id="26" name="text-23"/>
          <p:cNvSpPr txBox="1"/>
          <p:nvPr/>
        </p:nvSpPr>
        <p:spPr>
          <a:xfrm>
            <a:off x="548640" y="512064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iPhone 16 Pro の CPU（Accelerate）は MLP・CNN の学習とも Mac と DGX Spark の CPU より速い（CNN 1 エポック 7.44 秒、DGX の CPU 29.0 秒）。推論は Neural Engine が最速で CNN 1 枚 2.6 µs（CPU の 4.9 倍）。ハードウェアを使わない素朴なループと比べると学習で 51 倍（CNN）〜339 倍（MLP）速い。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実験の方法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同じ C++ + Accelerate のコードと Core ML のモデルを、Mac（コマンドライン）と iPhone（アプリ）で動かす</a:t>
            </a:r>
            <a:endParaRPr lang="en-US" sz="1600" dirty="0"/>
          </a:p>
        </p:txBody>
      </p:sp>
      <p:sp>
        <p:nvSpPr>
          <p:cNvPr id="4" name="tile-24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比べた 3 つの機器</a:t>
            </a:r>
            <a:endParaRPr lang="en-US" sz="2800" dirty="0"/>
          </a:p>
        </p:txBody>
      </p:sp>
      <p:graphicFrame>
        <p:nvGraphicFramePr>
          <p:cNvPr id="5" name="table-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38328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DGX Spark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MacBook Pro（2019, Intel）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 16 Pro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ARM 20 コア（Cortex-X925 ×10 + A725 ×10）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Intel Core i7-8569U @ 2.80GHz（4 コア 8 スレッド）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Apple A18 Pro（2 高性能 + 4 高効率コア）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NVIDIA GB10（CUDA）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Intel Iris Plus Graphics 655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Apple A18 Pro GPU（6 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なし（Intel Mac には Neural Engine がない）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Apple Neural Engine（16 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メモリ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128 GB（統合メモリ）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16 GB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7.5 GB（統合メモリ）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Ubuntu 24.04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macOS 15.7.7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iOS 26.6.2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行列計算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OpenBLAS（CPU）/ cuBLAS（GPU）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Accelerate（CPU）/ Core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Accelerate（CPU）/ Core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動かしたもの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EusLisp nn.l, C++ + OpenBLAS, CUDA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EusLisp nn.l, C++ + Accelerate, Core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C++ + Accelerate, Core ML（EusLisp は動かない）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-2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iPhone では EusLisp は動かせない（アプリの中で別のプログラムを起動できない）。そこで nn.l と同じ計算をする C++ のエンジンを作り、Mac と iPhone の両方で同じものを動かした。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同じコードを Mac と iPhone で動かすしくみ</a:t>
            </a:r>
            <a:endParaRPr lang="en-US" sz="2800" dirty="0"/>
          </a:p>
        </p:txBody>
      </p:sp>
      <p:sp>
        <p:nvSpPr>
          <p:cNvPr id="4" name="box-27"/>
          <p:cNvSpPr txBox="1"/>
          <p:nvPr/>
        </p:nvSpPr>
        <p:spPr>
          <a:xfrm>
            <a:off x="548640" y="13258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データ・重み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テスト 10,000 枚, 学習 6,000 枚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MLP・CNN の重み（gzip + Base64）</a:t>
            </a:r>
            <a:endParaRPr lang="en-US" sz="1400" dirty="0"/>
          </a:p>
        </p:txBody>
      </p:sp>
      <p:sp>
        <p:nvSpPr>
          <p:cNvPr id="5" name="box-28"/>
          <p:cNvSpPr txBox="1"/>
          <p:nvPr/>
        </p:nvSpPr>
        <p:spPr>
          <a:xfrm>
            <a:off x="548640" y="26974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Core ML モデル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旧形式 MNIST{MLP,CNN}.mlmodel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新形式 MNIST{MLP,CNN}_P{1,100}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.mlpackage（FP16）</a:t>
            </a:r>
            <a:endParaRPr lang="en-US" sz="1400" dirty="0"/>
          </a:p>
        </p:txBody>
      </p:sp>
      <p:sp>
        <p:nvSpPr>
          <p:cNvPr id="6" name="box-29"/>
          <p:cNvSpPr txBox="1"/>
          <p:nvPr/>
        </p:nvSpPr>
        <p:spPr>
          <a:xfrm>
            <a:off x="3840480" y="1325880"/>
            <a:ext cx="3657600" cy="246888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共通のコード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Bench.swift: 計測の手順・結果の JSON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cpucnn.cpp: cudacnn.cu の CPU 経路を Accelerate + GCD に移植（素朴なループも）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GPUNet.swift: MPSGraph で GPU の学習・推論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MLP と CNN の学習と推論、Core ML 4 通り × 2 形式</a:t>
            </a:r>
            <a:endParaRPr lang="en-US" sz="1400" dirty="0"/>
          </a:p>
        </p:txBody>
      </p:sp>
      <p:sp>
        <p:nvSpPr>
          <p:cNvPr id="7" name="box-30"/>
          <p:cNvSpPr txBox="1"/>
          <p:nvPr/>
        </p:nvSpPr>
        <p:spPr>
          <a:xfrm>
            <a:off x="8138160" y="132588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Mac: コマンドライン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make -C ios mac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ios/build/mac/mnistbench</a:t>
            </a:r>
            <a:endParaRPr lang="en-US" sz="1400" dirty="0"/>
          </a:p>
        </p:txBody>
      </p:sp>
      <p:sp>
        <p:nvSpPr>
          <p:cNvPr id="8" name="box-31"/>
          <p:cNvSpPr txBox="1"/>
          <p:nvPr/>
        </p:nvSpPr>
        <p:spPr>
          <a:xfrm>
            <a:off x="8138160" y="269748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iPhone: アプリ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ios/MNISTBench.xcodeproj（SwiftUI）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USB でつないでビルド・実行</a:t>
            </a:r>
            <a:endParaRPr lang="en-US" sz="1400" dirty="0"/>
          </a:p>
        </p:txBody>
      </p:sp>
      <p:sp>
        <p:nvSpPr>
          <p:cNvPr id="9" name="arrow-32"/>
          <p:cNvSpPr/>
          <p:nvPr/>
        </p:nvSpPr>
        <p:spPr>
          <a:xfrm>
            <a:off x="3200400" y="1874520"/>
            <a:ext cx="640080" cy="36576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arrow-33"/>
          <p:cNvSpPr/>
          <p:nvPr/>
        </p:nvSpPr>
        <p:spPr>
          <a:xfrm flipV="1">
            <a:off x="3200400" y="3246120"/>
            <a:ext cx="640080" cy="-36576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1" name="arrow-34"/>
          <p:cNvSpPr/>
          <p:nvPr/>
        </p:nvSpPr>
        <p:spPr>
          <a:xfrm flipV="1">
            <a:off x="7498080" y="2286000"/>
            <a:ext cx="640080" cy="-41148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2" name="arrow-35"/>
          <p:cNvSpPr/>
          <p:nvPr/>
        </p:nvSpPr>
        <p:spPr>
          <a:xfrm>
            <a:off x="7498080" y="2834640"/>
            <a:ext cx="640080" cy="41148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bullets-36"/>
          <p:cNvSpPr txBox="1"/>
          <p:nvPr/>
        </p:nvSpPr>
        <p:spPr>
          <a:xfrm>
            <a:off x="548640" y="40690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学習: nn.l と同じ。SGD, 学習率 0.001, 勾配はバッチ和, バッチ 200, 初期値 U(−0.08, 0.08)。6,000 枚 × 2 エポックを測り、速い方を 60,000 枚に換算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推論: EusLisp で学習した重み（MLP: mnist-mlp-19.l, CNN: 20 エポック後）でテスト 10,000 枚。認識数で正しさを確かめる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ハードウェアを使う・使わない: 行列積を素朴なループ（1 スレッド, SIMD なし）→ Accelerate（SIMD・行列ユニット）1 スレッド → 全コア → GPU（Metal MPSGraph）→ Neural Engine（Core ML）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Core ML: 旧形式（NeuralNetwork, FP32）と新形式（ML Program, FP16, 100 枚ずつ）で、computeUnits を 4 通りに切り替えて推論を測る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結果は JSON（Mac はファイル、iPhone は USB 経由の標準出力）。phone/native/*.json に置き、mkmacios.py で集計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DGX の CUDA 版から Mac・iPhone 版への置き換え</a:t>
            </a:r>
            <a:endParaRPr lang="en-US" sz="2800" dirty="0"/>
          </a:p>
        </p:txBody>
      </p:sp>
      <p:sp>
        <p:nvSpPr>
          <p:cNvPr id="4" name="code-37"/>
          <p:cNvSpPr txBox="1"/>
          <p:nvPr/>
        </p:nvSpPr>
        <p:spPr>
          <a:xfrm>
            <a:off x="548640" y="1280160"/>
            <a:ext cx="6035040" cy="3017520"/>
          </a:xfrm>
          <a:prstGeom prst="roundRect">
            <a:avLst>
              <a:gd name="adj" fmla="val 181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cudacnn.cu（DGX）: CPU は OpenMP + OpenBLAS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#pragma omp parallel for schedule(static)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for (long i = 0; i &lt; n; i++) f(i);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cblas_sgemm(101, ta?112:111, tb?112:111, m, n, k, ...);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cpucnn.cpp（Mac・iPhone）: GCD + Accelerate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dispatch_apply(nchunk, DISPATCH_APPLY_AUTO, ^(size_t c)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for (long i = c*step; i &lt; min(n, (c+1)*step); i++) f(i);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cblas_sgemm(CblasRowMajor, ..., m, n, k, ...);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BLASSetThreading(BLAS_THREADING_SINGLE_THREADED); // 1 スレッドの計測</a:t>
            </a:r>
            <a:endParaRPr lang="en-US" sz="1200" dirty="0"/>
          </a:p>
        </p:txBody>
      </p:sp>
      <p:sp>
        <p:nvSpPr>
          <p:cNvPr id="5" name="code-38"/>
          <p:cNvSpPr txBox="1"/>
          <p:nvPr/>
        </p:nvSpPr>
        <p:spPr>
          <a:xfrm>
            <a:off x="6766560" y="1280160"/>
            <a:ext cx="4846320" cy="3017520"/>
          </a:xfrm>
          <a:prstGeom prst="roundRect">
            <a:avLst>
              <a:gd name="adj" fmla="val 181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Core ML: 計算装置を選んで読み込む（Bench.swift）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let cfg = MLModelConfiguration()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cfg.computeUnits = .cpuOnly        // CPU のみ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              .cpuAndGPU       // CPU + GPU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              .cpuAndNeuralEngine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              .all             // 自動で選ぶ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let m = try MLModel(contentsOf: url,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            configuration: cfg)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まとめて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m.predictions(from: MLArrayBatchProvider(...))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1 枚ずつ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m.prediction(from: input)</a:t>
            </a:r>
            <a:endParaRPr lang="en-US" sz="1200" dirty="0"/>
          </a:p>
        </p:txBody>
      </p:sp>
      <p:sp>
        <p:nvSpPr>
          <p:cNvPr id="6" name="bullets-39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層の並べ方・im2col・逆伝播の式は cudacnn.cu の CPU 経路と同じ。MLP も同じエンジンで（全結合 + ReLU の並び）動かす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確認: Mac の C++ で認識数 MLP 9824・CNN 9917、Core ML でも同じ（EusLisp・PyTorch・ONNX と一致）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元の EusLisp（nn.l）を Mac で動かす</a:t>
            </a:r>
            <a:endParaRPr lang="en-US" sz="2800" dirty="0"/>
          </a:p>
        </p:txBody>
      </p:sp>
      <p:sp>
        <p:nvSpPr>
          <p:cNvPr id="4" name="tile-40"/>
          <p:cNvSpPr txBox="1"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head-41"/>
          <p:cNvSpPr txBox="1"/>
          <p:nvPr/>
        </p:nvSpPr>
        <p:spPr>
          <a:xfrm>
            <a:off x="1051560" y="12801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変更（Linux の動作は変えていない）</a:t>
            </a:r>
            <a:endParaRPr lang="en-US" sz="1700" dirty="0"/>
          </a:p>
        </p:txBody>
      </p:sp>
      <p:sp>
        <p:nvSpPr>
          <p:cNvPr id="6" name="bullets-42"/>
          <p:cNvSpPr txBox="1"/>
          <p:nvPr/>
        </p:nvSpPr>
        <p:spPr>
          <a:xfrm>
            <a:off x="548640" y="178308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cblaslib.l: macOS なら Accelerate の BLAS を読む（load-foreign で直接開けないので、Accelerate をリンクしただけの小さなライブラリ libaccelblas.so を経由）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nn.l: MATPROD/Darwin/libmatprod を読む。描画（mnist-draw.l）は使えるときだけ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MATPROD/Makefile.Darwin: Homebrew の jskeus の defun の引数の違いを吸収してビルド</a:t>
            </a:r>
            <a:endParaRPr lang="en-US" sz="1300" dirty="0"/>
          </a:p>
        </p:txBody>
      </p:sp>
      <p:graphicFrame>
        <p:nvGraphicFramePr>
          <p:cNvPr id="8" name="table-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計測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実時間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CPU 時間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CPU / 実時間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回目・1 エポック目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30.0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44.9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1.50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回目・2 エポック目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27.1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41.5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1.53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 回目・1 エポック目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33.0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52.0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1.57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 回目・2 エポック目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30.5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49.1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1.61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スレッドに制限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35.9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35.9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DGX Spark（OpenBLAS）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26.1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ullets-44"/>
          <p:cNvSpPr txBox="1"/>
          <p:nvPr/>
        </p:nvSpPr>
        <p:spPr>
          <a:xfrm>
            <a:off x="6217920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エポック（60,000 枚, バッチ 200）は 27.1 秒〜33.0 秒。DGX Spark の 26.1 秒 とほぼ同じ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CPU 時間は実時間の 1.5 倍ほど。行列積は複数のコアで動くが、nn.l は行列積以外（バッチ作成・配列の確保など）が多い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学習済みの mnist-mlp-19.l でテスト 10,000 枚中 9824 枚正解（DGX と同じ）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学習の時間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 エポック（60,000 枚, バッチ 200）の時間を、DGX Spark・Mac・iPhone で比べる</a:t>
            </a:r>
            <a:endParaRPr lang="en-US" sz="1600" dirty="0"/>
          </a:p>
        </p:txBody>
      </p:sp>
      <p:sp>
        <p:nvSpPr>
          <p:cNvPr id="4" name="tile-45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 エポックの学習時間 — 3 つの機器の比較</a:t>
            </a:r>
            <a:endParaRPr lang="en-US" sz="2800" dirty="0"/>
          </a:p>
        </p:txBody>
      </p:sp>
      <p:graphicFrame>
        <p:nvGraphicFramePr>
          <p:cNvPr id="4" name="epoch-chart" descr=""/>
          <p:cNvGraphicFramePr/>
          <p:nvPr/>
        </p:nvGraphicFramePr>
        <p:xfrm>
          <a:off x="457200" y="1188720"/>
          <a:ext cx="73152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46"/>
          <p:cNvSpPr txBox="1"/>
          <p:nvPr/>
        </p:nvSpPr>
        <p:spPr>
          <a:xfrm>
            <a:off x="8046720" y="1280160"/>
            <a:ext cx="3611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 16 Pro の C++ + Accelerate は MLP 662 ms・CNN 7.44 秒。Mac（2.62 秒・19.8 秒）や DGX Spark の CPU（4.25 秒・29.0 秒）より速い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 の GPU（MPSGraph）は CNN 7.84 秒 で CPU と同じくらい。Mac の内蔵 GPU は 51.4 秒 で CPU より遅い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EusLisp の nn.l（Mac 27 秒）は、同じ計算の C++ の約 10 倍の時間。DGX の CUDA（CNN 426 ms）が最速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学習時間の表 — 精度とスレッドの違い</a:t>
            </a:r>
            <a:endParaRPr lang="en-US" sz="2800" dirty="0"/>
          </a:p>
        </p:txBody>
      </p:sp>
      <p:graphicFrame>
        <p:nvGraphicFramePr>
          <p:cNvPr id="11" name="table-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機器・方法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MLP FP32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MLP FP64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CNN FP32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CNN FP64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DGX Spark: C++ + OpenBLAS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4.25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7.55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29.0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35.8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Mac: C++ + Accelerate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2.62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4.31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19.8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27.3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iPhone: C++ + Accelerate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662.1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1.61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7.44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10.8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Mac: GPU（MPSGraph）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4.76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51.4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iPhone: GPU（MPSGraph）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734.5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7.84 秒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DGX Spark: CUDA（GPU）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98.5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426.2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ullets-48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FP64 は FP32 の Mac で 1.4〜1.7 倍、iPhone で 1.4〜2.4 倍の時間。iPhone の行列ユニットは FP32 が得意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GPU（MPSGraph）は FP32 のみ。最初の 1 バッチはグラフの準備（コンパイル）に使い、時間に含めない。値は 2 回の計測・2 エポックの速い方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ハードウェアを使う・使わない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CPU の積和命令（SIMD）・行列ユニット・複数コア・GPU・Neural Engine を、使う場合と使わない場合で比べる</a:t>
            </a:r>
            <a:endParaRPr lang="en-US" sz="1600" dirty="0"/>
          </a:p>
        </p:txBody>
      </p:sp>
      <p:sp>
        <p:nvSpPr>
          <p:cNvPr id="4" name="tile-49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Mac と iPhone の計算用ハードウェア</a:t>
            </a:r>
            <a:endParaRPr lang="en-US" sz="2800" dirty="0"/>
          </a:p>
        </p:txBody>
      </p:sp>
      <p:graphicFrame>
        <p:nvGraphicFramePr>
          <p:cNvPr id="13" name="table-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651760"/>
                <a:gridCol w="228600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ハードウェア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MacBook Pro（2019, Intel）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 16 Pro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使う方法（今回）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使わない比較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の SIMD 積和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AVX2 + FMA（FP32 を 8 個ずつ積和）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NEON（FP32 を 4 個ずつ積和, 128 bit）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Accelerate の cblas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素朴なループ（SIMD を止める）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行列演算ユニット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あり（Accelerate から使われる。公開の命令では直接使えない）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Accelerate の cblas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素朴なループ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複数コア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 コア 8 スレッド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 高性能 + 4 高効率コア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GCD + Accelerate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スレッド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Intel Iris Plus 655（内蔵）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Apple A18 Pro 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Metal MPSGraph（学習・推論）, Core ML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だけで動かす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NN 専用（NPU）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Neural Engine（16 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Core ML（推論のみ）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Core ML の CPU のみ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51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Intel Mac には Neural Engine がない。Core ML で CPU + Neural Engine を選んでも CPU で動く（時間も CPU のみと同じ）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Neural Engine は推論専用で、学習には使えない。学習で使えるのは CPU（Accelerate）と GPU（MPSGraph）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学習: ハードウェアを使うほど速くなるか（CNN）</a:t>
            </a:r>
            <a:endParaRPr lang="en-US" sz="2800" dirty="0"/>
          </a:p>
        </p:txBody>
      </p:sp>
      <p:graphicFrame>
        <p:nvGraphicFramePr>
          <p:cNvPr id="4" name="hw-train-chart" descr=""/>
          <p:cNvGraphicFramePr/>
          <p:nvPr/>
        </p:nvGraphicFramePr>
        <p:xfrm>
          <a:off x="45720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52"/>
          <p:cNvSpPr txBox="1"/>
          <p:nvPr/>
        </p:nvSpPr>
        <p:spPr>
          <a:xfrm>
            <a:off x="7680960" y="128016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SIMD・行列ユニット: ×9.4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複数コア: ×3.6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GPU（全コアの CPU と比べて）: ×2.6 遅い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iPhone 16 Pro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SIMD・行列ユニット: ×23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複数コア: ×2.2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GPU（全コアの CPU と比べて）: ×1.1 遅い</a:t>
            </a:r>
            <a:endParaRPr lang="en-US" sz="1300" dirty="0"/>
          </a:p>
        </p:txBody>
      </p:sp>
      <p:sp>
        <p:nvSpPr>
          <p:cNvPr id="6" name="bullets-53"/>
          <p:cNvSpPr txBox="1"/>
          <p:nvPr/>
        </p:nvSpPr>
        <p:spPr>
          <a:xfrm>
            <a:off x="7680960" y="3749040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iPhone の CPU は 1 スレッドでも行列ユニットで速い。素朴なループとの差は MLP で 233 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Neural Engine は学習には使えない（Core ML は推論用）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推論: ハードウェアごとの CNN 1 枚あたりの時間</a:t>
            </a:r>
            <a:endParaRPr lang="en-US" sz="2800" dirty="0"/>
          </a:p>
        </p:txBody>
      </p:sp>
      <p:graphicFrame>
        <p:nvGraphicFramePr>
          <p:cNvPr id="4" name="hw-infer-chart" descr=""/>
          <p:cNvGraphicFramePr/>
          <p:nvPr/>
        </p:nvGraphicFramePr>
        <p:xfrm>
          <a:off x="45720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54"/>
          <p:cNvSpPr txBox="1"/>
          <p:nvPr/>
        </p:nvSpPr>
        <p:spPr>
          <a:xfrm>
            <a:off x="7680960" y="1280160"/>
            <a:ext cx="3977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iPhone: 素朴なループ 2.00 ms → Accelerate 92 µs → GPU 13 µs（MPSGraph）→ Neural Engine 2.6 µs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素朴なループから Neural Engine まで約 772 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Mac: 素朴なループ 2.70 ms → Accelerate 224 µs → GPU 125 µs。Neural Engine はないので CPU と同じ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Core ML は新形式（FP16, 100 枚ずつ）の値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推論の時間と Core ML の計算装置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EusLisp で学習した重みでテスト 10,000 枚を認識。C++ + Accelerate と Core ML（CPU / GPU / Neural Engine）</a:t>
            </a:r>
            <a:endParaRPr lang="en-US" sz="1600" dirty="0"/>
          </a:p>
        </p:txBody>
      </p:sp>
      <p:sp>
        <p:nvSpPr>
          <p:cNvPr id="4" name="tile-55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推論 1 枚あたりの時間</a:t>
            </a:r>
            <a:endParaRPr lang="en-US" sz="2800" dirty="0"/>
          </a:p>
        </p:txBody>
      </p:sp>
      <p:graphicFrame>
        <p:nvGraphicFramePr>
          <p:cNvPr id="17" name="table-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508760"/>
                <a:gridCol w="1508760"/>
                <a:gridCol w="1508760"/>
                <a:gridCol w="1508760"/>
                <a:gridCol w="15087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MLP まとめて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MLP まとめて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CNN 1 枚ずつ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素朴なループ（1 スレッド）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1.78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2.70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1.58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2.00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224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4.0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164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GPU（MPSGraph）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5.0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887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ML（旧）CPU のみ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112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49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ML（旧）CPU + 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854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1.24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66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ML（旧）CPU + Neural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111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39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531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304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ML（新）CPU のみ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126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50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ML（新）CPU + 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229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ML（新）CPU + Neural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2.6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49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参考: DGX CPU（C++ + OpenBLAS）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268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参考: DGX GPU（CUDA）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4.1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57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Core ML（旧）= 1 枚ずつ受け取る NeuralNetwork 形式（FP32）。Core ML（新）= ML Program 形式（FP16）を 100 枚ずつ渡す。「すべて」は Neural Engine と同じ値なので省いた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 枚ずつ呼ぶと、どの方法も 1 回の呼び出しの手間（数十 µs〜1 ms）が目立つ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ML のモデル形式と Neural Engine（iPhone, CNN）</a:t>
            </a:r>
            <a:endParaRPr lang="en-US" sz="2800" dirty="0"/>
          </a:p>
        </p:txBody>
      </p:sp>
      <p:graphicFrame>
        <p:nvGraphicFramePr>
          <p:cNvPr id="4" name="coreml-chart" descr=""/>
          <p:cNvGraphicFramePr/>
          <p:nvPr/>
        </p:nvGraphicFramePr>
        <p:xfrm>
          <a:off x="457200" y="1188720"/>
          <a:ext cx="60350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-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892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計算装置の指定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旧形式の割り当て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新形式の割り当て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のみ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+ 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1, GPU 13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+ Neural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Neural Engine 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Neural Engine 14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6" name="bullets-59"/>
          <p:cNvSpPr txBox="1"/>
          <p:nvPr/>
        </p:nvSpPr>
        <p:spPr>
          <a:xfrm>
            <a:off x="6766560" y="315468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旧形式（1 枚ずつ, FP32）では、Neural Engine を選んでも MLP は全層が CPU。CNN は Neural Engine に載るが 531 µs で CPU（42 µs）より遅い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新形式（ML Program, FP16, 100 枚ずつ）にすると全層が Neural Engine に載り、CNN 2.6 µs・MLP 2.8 µs。CPU の 4.9 倍、GPU の 9.0 倍 速い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Neural Engine の力を出すには、FP16 の新形式にして、まとめて渡すことが必要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考察 — Mac と iPhone で速さを左右するもの</a:t>
            </a:r>
            <a:endParaRPr lang="en-US" sz="2800" dirty="0"/>
          </a:p>
        </p:txBody>
      </p:sp>
      <p:sp>
        <p:nvSpPr>
          <p:cNvPr id="3" name="card-60"/>
          <p:cNvSpPr/>
          <p:nvPr/>
        </p:nvSpPr>
        <p:spPr>
          <a:xfrm>
            <a:off x="54864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tile-61"/>
          <p:cNvSpPr txBox="1"/>
          <p:nvPr/>
        </p:nvSpPr>
        <p:spPr>
          <a:xfrm>
            <a:off x="73152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-62"/>
          <p:cNvSpPr txBox="1"/>
          <p:nvPr/>
        </p:nvSpPr>
        <p:spPr>
          <a:xfrm>
            <a:off x="128016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CPU の SIMD・行列ユニットが土台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素朴なループ → Accelerate（1 スレッド）で MLP の学習が Mac 38 倍、iPhone 233 倍。iPhone は行列ユニットの効果が大きい</a:t>
            </a:r>
            <a:endParaRPr lang="en-US" sz="1400" dirty="0"/>
          </a:p>
        </p:txBody>
      </p:sp>
      <p:sp>
        <p:nvSpPr>
          <p:cNvPr id="6" name="card-63"/>
          <p:cNvSpPr/>
          <p:nvPr/>
        </p:nvSpPr>
        <p:spPr>
          <a:xfrm>
            <a:off x="617220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7" name="tile-64"/>
          <p:cNvSpPr txBox="1"/>
          <p:nvPr/>
        </p:nvSpPr>
        <p:spPr>
          <a:xfrm>
            <a:off x="6355080" y="1463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-65"/>
          <p:cNvSpPr txBox="1"/>
          <p:nvPr/>
        </p:nvSpPr>
        <p:spPr>
          <a:xfrm>
            <a:off x="6903720" y="14447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iPhone の CPU は DGX の CPU より速い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CNN の学習 7.44 秒 対 29.0 秒。小さな行列積は、コア数より 1 コアの速さと行列ユニットが効く</a:t>
            </a:r>
            <a:endParaRPr lang="en-US" sz="1400" dirty="0"/>
          </a:p>
        </p:txBody>
      </p:sp>
      <p:sp>
        <p:nvSpPr>
          <p:cNvPr id="9" name="card-66"/>
          <p:cNvSpPr/>
          <p:nvPr/>
        </p:nvSpPr>
        <p:spPr>
          <a:xfrm>
            <a:off x="54864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ile-67"/>
          <p:cNvSpPr txBox="1"/>
          <p:nvPr/>
        </p:nvSpPr>
        <p:spPr>
          <a:xfrm>
            <a:off x="731520" y="31089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-68"/>
          <p:cNvSpPr txBox="1"/>
          <p:nvPr/>
        </p:nvSpPr>
        <p:spPr>
          <a:xfrm>
            <a:off x="1280160" y="309067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Neural Engine は推論で最速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新形式（FP16）でまとめて渡すと CNN 1 枚 2.6 µs。旧形式・1 枚ずつでは CPU より遅いこともある</a:t>
            </a:r>
            <a:endParaRPr lang="en-US" sz="1400" dirty="0"/>
          </a:p>
        </p:txBody>
      </p:sp>
      <p:sp>
        <p:nvSpPr>
          <p:cNvPr id="12" name="card-69"/>
          <p:cNvSpPr/>
          <p:nvPr/>
        </p:nvSpPr>
        <p:spPr>
          <a:xfrm>
            <a:off x="617220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3" name="tile-70"/>
          <p:cNvSpPr txBox="1"/>
          <p:nvPr/>
        </p:nvSpPr>
        <p:spPr>
          <a:xfrm>
            <a:off x="6355080" y="31089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-71"/>
          <p:cNvSpPr txBox="1"/>
          <p:nvPr/>
        </p:nvSpPr>
        <p:spPr>
          <a:xfrm>
            <a:off x="6903720" y="309067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GPU は大きさと種類しだい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iPhone の GPU は学習で CPU と同じくらい、推論のまとめ処理で CPU より速い。Intel Mac の GPU は CPU より遅い。DGX の GB10 は桁違い</a:t>
            </a:r>
            <a:endParaRPr lang="en-US" sz="1400" dirty="0"/>
          </a:p>
        </p:txBody>
      </p:sp>
      <p:sp>
        <p:nvSpPr>
          <p:cNvPr id="15" name="card-72"/>
          <p:cNvSpPr/>
          <p:nvPr/>
        </p:nvSpPr>
        <p:spPr>
          <a:xfrm>
            <a:off x="54864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tile-73"/>
          <p:cNvSpPr txBox="1"/>
          <p:nvPr/>
        </p:nvSpPr>
        <p:spPr>
          <a:xfrm>
            <a:off x="731520" y="4754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-74"/>
          <p:cNvSpPr txBox="1"/>
          <p:nvPr/>
        </p:nvSpPr>
        <p:spPr>
          <a:xfrm>
            <a:off x="1280160" y="47365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EusLisp は行列積以外が重い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nn.l は Mac でも DGX でも約 30 秒。同じ計算の C++ は Mac で 2.62 秒</a:t>
            </a:r>
            <a:endParaRPr lang="en-US" sz="1400" dirty="0"/>
          </a:p>
        </p:txBody>
      </p:sp>
      <p:sp>
        <p:nvSpPr>
          <p:cNvPr id="18" name="card-75"/>
          <p:cNvSpPr/>
          <p:nvPr/>
        </p:nvSpPr>
        <p:spPr>
          <a:xfrm>
            <a:off x="617220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9" name="tile-76"/>
          <p:cNvSpPr txBox="1"/>
          <p:nvPr/>
        </p:nvSpPr>
        <p:spPr>
          <a:xfrm>
            <a:off x="6355080" y="4754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-77"/>
          <p:cNvSpPr txBox="1"/>
          <p:nvPr/>
        </p:nvSpPr>
        <p:spPr>
          <a:xfrm>
            <a:off x="6903720" y="473659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精度と認識数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10,000 枚で測った方法は FP64・FP32・FP16 のどれでも認識数 MLP 9824・CNN 9917（iPhone の FP16 の CPU だけ CNN 9916）。EusLisp の結果と同じ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ブラウザでの計測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同じ計測ページ（自作 JavaScript と TensorFlow.js）を DGX Spark・Mac・iPhone のブラウザで動かす</a:t>
            </a:r>
            <a:endParaRPr lang="en-US" sz="1600" dirty="0"/>
          </a:p>
        </p:txBody>
      </p:sp>
      <p:sp>
        <p:nvSpPr>
          <p:cNvPr id="4" name="tile-78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ブラウザ: 学習 1 エポックの時間</a:t>
            </a:r>
            <a:endParaRPr lang="en-US" sz="2800" dirty="0"/>
          </a:p>
        </p:txBody>
      </p:sp>
      <p:graphicFrame>
        <p:nvGraphicFramePr>
          <p:cNvPr id="21" name="table-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DGX Spark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DGX Spark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JS 自作（1 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476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466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353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392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121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142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WASM（CPU）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226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204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74.7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WebGL（GPU）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2.30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10.9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5.17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41.8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2.49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WebGPU（GPU）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1.43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14.4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CPU（JS）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951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7581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899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10646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269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4218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80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DGX: CNN 1 エポック最速は TF.js WebGL の 10.9 秒（ネイティブ CUDA 426 ms）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Mac: CNN 1 エポック最速は TF.js WebGL の 41.8 秒（同じ機器のネイティブ C++ 19.8 秒）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iPhone: CNN 1 エポック最速は JS 自作 の 142 秒（同じ機器のネイティブ C++ 7.44 秒）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WebGPU は Mac の Safari（macOS 15）では使えず、iPhone では LAN の http で開いたため使えなかった（WebGPU は https などの安全なページでだけ使える）。WASM の TF.js は CNN の学習に未対応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 の Safari では TF.js WebGL の CNN の学習が途中で止まって進まなかったので、その項目だけ飛ばして測った。そのため iPhone の CNN の学習は GPU なしの値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ブラウザの JS 自作・WASM は 1 スレッド。ネイティブの Accelerate（複数コア・行列ユニット）とは大きな差がある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ブラウザ: 推論 1 枚あたりの時間</a:t>
            </a:r>
            <a:endParaRPr lang="en-US" sz="2800" dirty="0"/>
          </a:p>
        </p:txBody>
      </p:sp>
      <p:graphicFrame>
        <p:nvGraphicFramePr>
          <p:cNvPr id="22" name="table-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DGX Spark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DGX Spark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1 枚ずつ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1 枚ずつ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まとめて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iPhone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 1 枚ずつ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JS 自作（1 コア）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5.78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5.05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1.74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WASM（CPU）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265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500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269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ms 未満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107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ms 未満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WebGL（GPU）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149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7.20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375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8.00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43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8.00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WebGPU（GPU）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48 µs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5.00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TF.js CPU（JS）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9.42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6.70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5.37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6.00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1.63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2.00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bullets-82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DGX: CNN まとめての最速は TF.js WebGPU で 1 枚 48 µs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Mac: CNN まとめての最速は TF.js WASM で 1 枚 269 µs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iPhone: CNN まとめての最速は TF.js WebGL で 1 枚 43 µs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枚ずつは GPU を呼ぶ手間（数 ms）が目立ち、WASM（CPU）が速い。ネイティブアプリ（Core ML）はブラウザより 1〜2 桁速い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すべての計測結果の比較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DGX Spark・Mac・iPhone の、EusLisp・C++・GPU・Neural Engine・ブラウザの結果を 1 つの表に</a:t>
            </a:r>
            <a:endParaRPr lang="en-US" sz="1600" dirty="0"/>
          </a:p>
        </p:txBody>
      </p:sp>
      <p:sp>
        <p:nvSpPr>
          <p:cNvPr id="4" name="tile-83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すべての結果: 学習 1 エポック（60,000 枚）</a:t>
            </a:r>
            <a:endParaRPr lang="en-US" sz="2800" dirty="0"/>
          </a:p>
        </p:txBody>
      </p:sp>
      <p:graphicFrame>
        <p:nvGraphicFramePr>
          <p:cNvPr id="24" name="table-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  <a:gridCol w="1371600"/>
                <a:gridCol w="1371600"/>
                <a:gridCol w="3200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機器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使うハードウェア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EusLisp nn.l（OpenBLAS）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26.1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CPU（BLAS）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OpenBLAS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4.25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29.0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20 コア（SIMD）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CUDA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98.5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426.2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GPU（GB10）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WebGPU / TF.js WebGL）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10.9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EusLisp nn.l（Accelerate）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27.1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CPU（BLAS）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素朴なループ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670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コア, SIMD なし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1 スレッド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6.44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71.2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コア（AVX2・FMA）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2.62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19.8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4 コア（AVX2・FMA）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GPU（MPSGraph）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4.76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51.4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GPU（Iris Plus 655）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WebGL / TF.js WebGL）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5.17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41.8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素朴なループ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224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380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コア, SIMD なし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1 スレッド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961.7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16.2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コア（NEON・行列ユニット）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662.1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7.44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6 コア（NEON・行列ユニット）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GPU（MPSGraph）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734.5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7.84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GPU（A18 Pro）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WebGL / JS 自作）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2.49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142 秒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 / CPU 1 コア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すべての結果: 推論 1 枚あたり（まとめて処理）</a:t>
            </a:r>
            <a:endParaRPr lang="en-US" sz="2800" dirty="0"/>
          </a:p>
        </p:txBody>
      </p:sp>
      <p:graphicFrame>
        <p:nvGraphicFramePr>
          <p:cNvPr id="25" name="table-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  <a:gridCol w="1371600"/>
                <a:gridCol w="1371600"/>
                <a:gridCol w="3200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機器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使うハードウェア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OpenBLAS FP32（CPU）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268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20 コア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CUDA（GPU）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0.4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4.1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GPU（GB10）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DGX Spark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WebGPU）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素朴なループ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1.78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2.70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コア, SIMD なし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224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4 コア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GPU（MPSGraph）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GPU（Iris Plus 655）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ML（新形式）CPU のみ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45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126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WASM）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157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269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コア（SIMD）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素朴なループ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1.58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2.00 ms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1 コア, SIMD なし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C++ + Accelerate FP32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4.0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92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 6 コア（行列ユニット）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GPU（MPSGraph）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5.0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GPU（A18 Pro）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ML（新形式）CPU のみ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Core ML（新形式）Neural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2.8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2.6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Neural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ブラウザ 最速（TF.js WebGL）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17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43 µs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追加したファイルと使い方</a:t>
            </a:r>
            <a:endParaRPr lang="en-US" sz="2800" dirty="0"/>
          </a:p>
        </p:txBody>
      </p:sp>
      <p:sp>
        <p:nvSpPr>
          <p:cNvPr id="4" name="code-86"/>
          <p:cNvSpPr txBox="1"/>
          <p:nvPr/>
        </p:nvSpPr>
        <p:spPr>
          <a:xfrm>
            <a:off x="548640" y="1280160"/>
            <a:ext cx="11064240" cy="1965960"/>
          </a:xfrm>
          <a:prstGeom prst="roundRect">
            <a:avLst>
              <a:gd name="adj" fmla="val 279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ios/MNISTBench/Engine/cpucnn.cpp   C++ エンジン（cudacnn.cu の CPU 経路を Accelerate + GCD に移植）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ios/MNISTBench/Shared/Bench.swift  計測の手順, 結果の JSON    GPUNet.swift  GPU（MPSGraph）の学習・推論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ios/models/mkmlprogram.py          Core ML の新形式（ML Program, FP16）のモデルを作る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ios/MNISTBench/App/                iPhone アプリ（SwiftUI）  ios/MNISTBench/Mac/  Mac のコマンドライン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ios/project.yml, ios/Makefile      Xcode プロジェクト（XcodeGen）と Mac 版のビルド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phone/native/*.json                計測結果    docs/src/mkmacios.py, build_macios.js  このスライド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cblaslib.l, nn.l, MATPROD/Makefile.Darwin   EusLisp を Mac（Accelerate）で動かす変更</a:t>
            </a:r>
            <a:endParaRPr lang="en-US" sz="1200" dirty="0"/>
          </a:p>
        </p:txBody>
      </p:sp>
      <p:sp>
        <p:nvSpPr>
          <p:cNvPr id="5" name="code-87"/>
          <p:cNvSpPr txBox="1"/>
          <p:nvPr/>
        </p:nvSpPr>
        <p:spPr>
          <a:xfrm>
            <a:off x="548640" y="333756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Mac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make -C ios mac &amp;&amp; ios/build/mac/mnistbench --out phone/native/mac_run1.json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MAC_EPOCH=2 eus '(load "docs/src/eus/mac_bench.l")'     # EusLisp nn.l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iPhone（USB でつなぐ）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make -C ios project &amp;&amp; xcodebuild -project ios/MNISTBench.xcodeproj -scheme MNISTBench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-destination 'generic/platform=iOS' -allowProvisioningUpdates DEVELOPMENT_TEAM=&lt;チーム ID&gt; 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xcrun devicectl device process launch --console --device &lt;ID&gt; jp.jsk.mnist.MNISTBench -autorun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スライド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cd docs/src &amp;&amp; python3 mkmacios.py &amp;&amp; node build_macios.js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まとめ</a:t>
            </a:r>
            <a:endParaRPr lang="en-US" sz="3400" dirty="0"/>
          </a:p>
        </p:txBody>
      </p:sp>
      <p:sp>
        <p:nvSpPr>
          <p:cNvPr id="3" name="conclusion"/>
          <p:cNvSpPr txBox="1"/>
          <p:nvPr/>
        </p:nvSpPr>
        <p:spPr>
          <a:xfrm>
            <a:off x="731520" y="3520440"/>
            <a:ext cx="10698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元の EusLisp（nn.l）を Mac で動かした。1 エポック約 27 秒で DGX Spark（26.1 秒）とほぼ同じ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DGX の CUDA 版を C++ + Accelerate と MPSGraph（GPU）に移植し、Mac と iPhone 16 Pro で同じコードを動かした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iPhone の CPU は CNN 1 エポック 7.44 秒 で、Mac（19.8 秒）や DGX の CPU（29.0 秒）より速い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ハードウェアを使う・使わないの差は大きい: 素朴なループ → 行列ユニット → Neural Engine で CNN の推論が 2.00 ms → 2.6 µs（約 772 倍）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Neural Engine は推論専用。FP16 の新形式にし、まとめて渡すと力が出る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ブラウザ（Safari）は手軽だがネイティブより 1〜2 桁遅く、iPhone では WebGL の CNN の学習が止まった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IST Ink">
  <a:themeElements>
    <a:clrScheme name="MNIST Ink">
      <a:dk1>
        <a:srgbClr val="14213D"/>
      </a:dk1>
      <a:lt1>
        <a:srgbClr val="FFFFFF"/>
      </a:lt1>
      <a:dk2>
        <a:srgbClr val="2B3A55"/>
      </a:dk2>
      <a:lt2>
        <a:srgbClr val="EEF1F6"/>
      </a:lt2>
      <a:accent1>
        <a:srgbClr val="E4572E"/>
      </a:accent1>
      <a:accent2>
        <a:srgbClr val="3A6EA5"/>
      </a:accent2>
      <a:accent3>
        <a:srgbClr val="F2A541"/>
      </a:accent3>
      <a:accent4>
        <a:srgbClr val="5B8C5A"/>
      </a:accent4>
      <a:accent5>
        <a:srgbClr val="8E7DBE"/>
      </a:accent5>
      <a:accent6>
        <a:srgbClr val="5B6577"/>
      </a:accent6>
      <a:hlink>
        <a:srgbClr val="3A6EA5"/>
      </a:hlink>
      <a:folHlink>
        <a:srgbClr val="8E7DBE"/>
      </a:folHlink>
    </a:clrScheme>
    <a:fontScheme name="MNIST Ink">
      <a:majorFont>
        <a:latin typeface="BIZ UDPGothic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を Mac と iPhone で — 計算スピードの比較</dc:title>
  <dc:subject>MNIST MLP and CNN on Mac and iPhone: C++ + Accelerate, Core ML, EusLisp</dc:subject>
  <dc:creator>Masayuki Inaba</dc:creator>
  <cp:lastModifiedBy>Masayuki Inaba</cp:lastModifiedBy>
  <cp:revision>1</cp:revision>
  <dcterms:created xsi:type="dcterms:W3CDTF">2026-10-04T23:41:42Z</dcterms:created>
  <dcterms:modified xsi:type="dcterms:W3CDTF">2026-10-04T23:41:42Z</dcterms:modified>
</cp:coreProperties>
</file>