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" id="{7d121fe8-f53b-23f9-a76a-53fea51e04e1}">
          <p14:sldIdLst>
            <p14:sldId id="256"/>
            <p14:sldId id="257"/>
          </p14:sldIdLst>
        </p14:section>
        <p14:section name="1. スマホで NN を動かす方法" id="{79782632-43af-5a44-4d0a-385e0771b717}">
          <p14:sldIdLst>
            <p14:sldId id="258"/>
            <p14:sldId id="259"/>
            <p14:sldId id="260"/>
          </p14:sldIdLst>
        </p14:section>
        <p14:section name="2. スマホの AI 機能" id="{575cb627-38c9-c48a-f90b-a84cabf1e52e}">
          <p14:sldIdLst>
            <p14:sldId id="261"/>
            <p14:sldId id="262"/>
            <p14:sldId id="263"/>
            <p14:sldId id="264"/>
          </p14:sldIdLst>
        </p14:section>
        <p14:section name="3. MNIST をスマホで行う方法" id="{b4b7effd-0abf-9ff6-4544-2f4710b44aa4}">
          <p14:sldIdLst>
            <p14:sldId id="265"/>
            <p14:sldId id="266"/>
            <p14:sldId id="267"/>
            <p14:sldId id="268"/>
          </p14:sldIdLst>
        </p14:section>
        <p14:section name="4. 計測ページ" id="{cc215a2a-7292-ed99-48ac-2b07305bf4bc}">
          <p14:sldIdLst>
            <p14:sldId id="269"/>
            <p14:sldId id="270"/>
            <p14:sldId id="271"/>
          </p14:sldIdLst>
        </p14:section>
        <p14:section name="5. 計算時間の比較" id="{f543440c-1aa4-b1cf-99ad-899957dc03bf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6. まとめ" id="{8b34e342-0b7e-ccd9-a91c-acd8d79aac23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1 エポック [秒]（対数, 短いほど速い）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5B6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DGX: EusLisp + OpenBLAS（nn.l）</c:v>
                  </c:pt>
                  <c:pt idx="1">
                    <c:v>DGX: C + OpenBLAS（CPU）</c:v>
                  </c:pt>
                  <c:pt idx="2">
                    <c:v>DGX: CUDA GPU（FP32）</c:v>
                  </c:pt>
                  <c:pt idx="3">
                    <c:v>DGX ブラウザ 最速（TF.js WebGPU / TF.js WebGL）</c:v>
                  </c:pt>
                  <c:pt idx="4">
                    <c:v>DGX ブラウザ JS 自作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26.1</c:v>
                </c:pt>
                <c:pt idx="1">
                  <c:v>4.25</c:v>
                </c:pt>
                <c:pt idx="2">
                  <c:v>0.099</c:v>
                </c:pt>
                <c:pt idx="3">
                  <c:v>1.432</c:v>
                </c:pt>
                <c:pt idx="4">
                  <c:v>476.46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DGX: EusLisp + OpenBLAS（nn.l）</c:v>
                  </c:pt>
                  <c:pt idx="1">
                    <c:v>DGX: C + OpenBLAS（CPU）</c:v>
                  </c:pt>
                  <c:pt idx="2">
                    <c:v>DGX: CUDA GPU（FP32）</c:v>
                  </c:pt>
                  <c:pt idx="3">
                    <c:v>DGX ブラウザ 最速（TF.js WebGPU / TF.js WebGL）</c:v>
                  </c:pt>
                  <c:pt idx="4">
                    <c:v>DGX ブラウザ JS 自作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/>
                </c:pt>
                <c:pt idx="1">
                  <c:v>28.97</c:v>
                </c:pt>
                <c:pt idx="2">
                  <c:v>0.426</c:v>
                </c:pt>
                <c:pt idx="3">
                  <c:v>10.911</c:v>
                </c:pt>
                <c:pt idx="4">
                  <c:v>465.9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"/>
          <c:min val="0.01"/>
        </c:scaling>
        <c:delete val="0"/>
        <c:axPos val="b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時間は 60,000 枚あたりに換算（学習は 1 エポック）。スマートフォンの値は計測ページで最も速かった方法。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右の列は、その方法から使える計算装置。NPU（AI 専用の演算装置）は、基本的に OS やアプリ向けの仕組みからしか使えない。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数値は機種で大きく違うため、ここでは種類と特徴だけを示す。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の Android 開発者向け資料をもとに整理。NNAPI は Android 15 で非推奨になり、LiteRT（TensorFlow Lite の後継の名前）が中心。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Apple の開発者向け資料をもとに整理。Core ML が CPU・GPU・Neural Engine を自動で使い分ける。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ブラウザは同じページが Android・iPhone・PC のどれでも動く。今回の計測ページはこの方法。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◎ = 実装して計測、○ = ファイルを用意、△ = 手順の整理のみ（このマシンにはスマートフォンの開発環境がない）。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phone/onnx/mnist_cnn.onnx は入力 image（n×1×28×28, 0〜1）、出力 prob（n×10 の確率）。以下はコードの例（このマシンではビルドしていない）。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Termux の手順は案（実機では未確認）。jskeus は aarch64 の Linux（DGX Spark）で動いているので、同じ ARM の Android でもビルドできる見込み。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claude.ai の Artifact として公開（非公開・本人のみ）。結果はページのデータベースに保存され、後から読み出してこのスライドに使った。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時間は performance.now() で測る。GPU は非同期なので、結果を data() で取り出すまでを時間に含める。最初に 1 回準備運転してから測る。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同じ計測ページを DGX Spark の Chromium（headless, GPU は Vulkan 経由の WebGL）で実行。60,000 枚換算。WebGPU は headless では使えなかった。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60,000 枚・バッチ 200 の 1 エポック。スマートフォンとブラウザは計測した枚数から換算。対数目盛。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まとめて処理 = 1,000 枚ずつ 10,000 枚を認識した 1 枚あたりの時間。1 枚ずつ = 1 枚だけ認識したときの応答時間（中央値）。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計測ページは claude.ai の Artifact として公開済み（リンクは非公開。共有はページの Share から）。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MNIST × EusLisp — スマートフォンでの計測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EET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MNIST をスマートフォンで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方法・AI 機能・計算時間の比較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スマートフォンで NN を動かす方法とスマートフォンの AI 機能を整理し、EusLisp で学習した MNIST の MLP と CNN をブラウザで動かす計測ページを作って、DGX Spark（OpenBLAS / CUDA）と時間を比べた</a:t>
            </a: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FA3C8"/>
                </a:solidFill>
              </a:rPr>
              <a:t>計測した端末: （スマートフォンの結果待ち） ／ 比較: DGX Spark（GB10 GPU, 20 コア ARM CPU）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</a:rPr>
              <a:t>2026-10-03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概要</a:t>
            </a:r>
            <a:endParaRPr lang="en-US" sz="2800" dirty="0"/>
          </a:p>
        </p:txBody>
      </p:sp>
      <p:sp>
        <p:nvSpPr>
          <p:cNvPr id="4" name="card-1"/>
          <p:cNvSpPr/>
          <p:nvPr/>
        </p:nvSpPr>
        <p:spPr>
          <a:xfrm>
            <a:off x="54864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</a:rPr>
              <a:t>—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スマートフォンの結果待ち</a:t>
            </a:r>
            <a:endParaRPr lang="en-US" sz="1150" dirty="0"/>
          </a:p>
        </p:txBody>
      </p:sp>
      <p:sp>
        <p:nvSpPr>
          <p:cNvPr id="7" name="card-2"/>
          <p:cNvSpPr/>
          <p:nvPr/>
        </p:nvSpPr>
        <p:spPr>
          <a:xfrm>
            <a:off x="338328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6616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</a:rPr>
              <a:t>—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0" name="card-3"/>
          <p:cNvSpPr/>
          <p:nvPr/>
        </p:nvSpPr>
        <p:spPr>
          <a:xfrm>
            <a:off x="621792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</a:rPr>
              <a:t>—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3" name="card-4"/>
          <p:cNvSpPr/>
          <p:nvPr/>
        </p:nvSpPr>
        <p:spPr>
          <a:xfrm>
            <a:off x="905256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23544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</a:rPr>
              <a:t>—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6" name="tile-5"/>
          <p:cNvSpPr txBox="1"/>
          <p:nvPr/>
        </p:nvSpPr>
        <p:spPr>
          <a:xfrm>
            <a:off x="54864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head-6"/>
          <p:cNvSpPr txBox="1"/>
          <p:nvPr/>
        </p:nvSpPr>
        <p:spPr>
          <a:xfrm>
            <a:off x="1051560" y="36118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スマートフォンで NN を動かす方法</a:t>
            </a:r>
            <a:endParaRPr lang="en-US" sz="1700" dirty="0"/>
          </a:p>
        </p:txBody>
      </p:sp>
      <p:sp>
        <p:nvSpPr>
          <p:cNvPr id="18" name="tile-7"/>
          <p:cNvSpPr txBox="1"/>
          <p:nvPr/>
        </p:nvSpPr>
        <p:spPr>
          <a:xfrm>
            <a:off x="548640" y="4069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head-8"/>
          <p:cNvSpPr txBox="1"/>
          <p:nvPr/>
        </p:nvSpPr>
        <p:spPr>
          <a:xfrm>
            <a:off x="1051560" y="40690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スマートフォンの AI 機能（Android / iOS / ブラウザ）</a:t>
            </a:r>
            <a:endParaRPr lang="en-US" sz="1700" dirty="0"/>
          </a:p>
        </p:txBody>
      </p:sp>
      <p:sp>
        <p:nvSpPr>
          <p:cNvPr id="20" name="tile-9"/>
          <p:cNvSpPr txBox="1"/>
          <p:nvPr/>
        </p:nvSpPr>
        <p:spPr>
          <a:xfrm>
            <a:off x="548640" y="45262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head-10"/>
          <p:cNvSpPr txBox="1"/>
          <p:nvPr/>
        </p:nvSpPr>
        <p:spPr>
          <a:xfrm>
            <a:off x="1051560" y="45262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MNIST をスマートフォンで行う方法</a:t>
            </a:r>
            <a:endParaRPr lang="en-US" sz="1700" dirty="0"/>
          </a:p>
        </p:txBody>
      </p:sp>
      <p:sp>
        <p:nvSpPr>
          <p:cNvPr id="22" name="tile-11"/>
          <p:cNvSpPr txBox="1"/>
          <p:nvPr/>
        </p:nvSpPr>
        <p:spPr>
          <a:xfrm>
            <a:off x="630936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head-12"/>
          <p:cNvSpPr txBox="1"/>
          <p:nvPr/>
        </p:nvSpPr>
        <p:spPr>
          <a:xfrm>
            <a:off x="6812280" y="36118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実装した計測ページ</a:t>
            </a:r>
            <a:endParaRPr lang="en-US" sz="1700" dirty="0"/>
          </a:p>
        </p:txBody>
      </p:sp>
      <p:sp>
        <p:nvSpPr>
          <p:cNvPr id="24" name="tile-13"/>
          <p:cNvSpPr txBox="1"/>
          <p:nvPr/>
        </p:nvSpPr>
        <p:spPr>
          <a:xfrm>
            <a:off x="6309360" y="4069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head-14"/>
          <p:cNvSpPr txBox="1"/>
          <p:nvPr/>
        </p:nvSpPr>
        <p:spPr>
          <a:xfrm>
            <a:off x="6812280" y="40690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計算時間の比較</a:t>
            </a:r>
            <a:endParaRPr lang="en-US" sz="1700" dirty="0"/>
          </a:p>
        </p:txBody>
      </p:sp>
      <p:sp>
        <p:nvSpPr>
          <p:cNvPr id="26" name="tile-15"/>
          <p:cNvSpPr txBox="1"/>
          <p:nvPr/>
        </p:nvSpPr>
        <p:spPr>
          <a:xfrm>
            <a:off x="6309360" y="45262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head-16"/>
          <p:cNvSpPr txBox="1"/>
          <p:nvPr/>
        </p:nvSpPr>
        <p:spPr>
          <a:xfrm>
            <a:off x="6812280" y="45262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まとめと使い方</a:t>
            </a:r>
            <a:endParaRPr lang="en-US" sz="1700" dirty="0"/>
          </a:p>
        </p:txBody>
      </p:sp>
      <p:sp>
        <p:nvSpPr>
          <p:cNvPr id="28" name="text-17"/>
          <p:cNvSpPr txBox="1"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accent6"/>
                </a:solidFill>
              </a:rPr>
              <a:t>スマートフォンでの計測はまだです（計測ページで実行すると入ります）。DGX Spark のブラウザでは WebGPU / WebGL が速く、CNN の 1 エポックが約 11〜14 秒、MLP が 1.4 秒だった。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スマートフォンで NN を動かす方法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ブラウザ ／ ネイティブアプリ ／ OS の AI 機能 ／ Linux 環境（Termux）／ サーバーに送る</a:t>
            </a:r>
            <a:endParaRPr lang="en-US" sz="1600" dirty="0"/>
          </a:p>
        </p:txBody>
      </p:sp>
      <p:sp>
        <p:nvSpPr>
          <p:cNvPr id="4" name="tile-18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 つの方法の全体像</a:t>
            </a:r>
            <a:endParaRPr lang="en-US" sz="2800" dirty="0"/>
          </a:p>
        </p:txBody>
      </p:sp>
      <p:graphicFrame>
        <p:nvGraphicFramePr>
          <p:cNvPr id="5" name="table-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4206240"/>
                <a:gridCol w="3017520"/>
                <a:gridCol w="12801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使うもの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特徴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計算装置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</a:rPr>
                        <a:t>ブラウザ（Web アプリ）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JavaScript, WebAssembly, WebGL, WebGPU。TensorFlow.js, ONNX Runtime Web など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インストール不要・URL を開くだけ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CPU, GPU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</a:rPr>
                        <a:t>ネイティブアプリ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Android: LiteRT（旧 TensorFlow Lite）, ONNX Runtime Mobile, ExecuTorch ／ iOS: Core ML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最速。NPU も使える。アプリの作成・配布が必要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CPU, GPU, NPU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</a:rPr>
                        <a:t>OS の AI 機能を呼ぶ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Android: ML Kit（手書き認識あり）, Gemini Nano ／ iOS: Vision（文字認識）, Foundation Models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学習済みの機能をすぐ使える。中身は選べない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CPU, GPU, NPU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</a:rPr>
                        <a:t>Linux 環境（Termux など）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Android の Termux で Python・C・EusLisp をビルドして動かす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PC と同じコードが動く。GPU・NPU は使いにくい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CPU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5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</a:rPr>
                        <a:t>サーバーに送る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画像をスマートフォンから DGX Spark などに送り、結果を返す（HTTP, ROS など）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端末の性能に依らない。通信の遅れと接続が必要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サーバー側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text-20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今回は A（ブラウザ）を実装してスマートフォンで計測し、B 用には ONNX 形式のモデルを用意した。C・D・E は使い方と手順を整理した。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スマートフォンの計算資源</a:t>
            </a:r>
            <a:endParaRPr lang="en-US" sz="2800" dirty="0"/>
          </a:p>
        </p:txBody>
      </p:sp>
      <p:graphicFrame>
        <p:nvGraphicFramePr>
          <p:cNvPr id="6" name="table-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39319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装置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特徴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どこから使えるか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ARM の高性能コア数個 + 省電力コア数個。NEON（SIMD）で 4〜8 個の数を同時に計算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ブラウザの JavaScript・WebAssembly、Termux、アプリ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GPU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Apple GPU, Qualcomm Adreno, ARM Mali など。単精度（FP32）・半精度（FP16）の並列計算が得意。FP64 はほぼ使えない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WebGL, WebGPU（ブラウザ）、Metal / Vulkan / OpenCL（アプリ）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AI 専用の演算装置（Apple Neural Engine, Qualcomm Hexagon, Google Tensor の TPU など）。INT8 / FP16 で数十 TOPS（公称）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Core ML, LiteRT / NNAPI, QNN など OS・アプリ向けの仕組みから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メモリ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CPU・GPU・NPU で共有（統合メモリ）。PC の GPU のような転送はいらないが、帯域は PC より小さい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すべて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熱と電池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長く全力で動かすと温度が上がり、クロックが下がる（サーマルスロットリング）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長い学習ほど影響が大きい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text-2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DGX Spark（GB10）も ARM CPU + GPU + 統合メモリという、スマートフォンと同じ形の構成。違いは規模（コア数・メモリ帯域・電力）。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スマートフォンの AI 機能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Android・iOS・ブラウザで使える NN の仕組みと、手書き認識などの学習済み機能</a:t>
            </a:r>
            <a:endParaRPr lang="en-US" sz="1600" dirty="0"/>
          </a:p>
        </p:txBody>
      </p:sp>
      <p:sp>
        <p:nvSpPr>
          <p:cNvPr id="4" name="tile-23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Android の AI 機能と NN の仕組み</a:t>
            </a:r>
            <a:endParaRPr lang="en-US" sz="2800" dirty="0"/>
          </a:p>
        </p:txBody>
      </p:sp>
      <p:graphicFrame>
        <p:nvGraphicFramePr>
          <p:cNvPr id="8" name="table-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846320"/>
                <a:gridCol w="34747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仕組み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何ができるか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MNIST での使い方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LiteRT（旧 TensorFlow Lite）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自分の学習済みモデル（.tflite）を CPU（XNNPACK）・GPU・NPU で実行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MLP / CNN を .tflite に変換して実行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ONNX Runtime Mobile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ONNX モデルを実行。NNAPI / QNN（Qualcomm NPU）/ XNNPACK を選べる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今回作った mnist_cnn.onnx をそのまま使える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ExecuTorch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PyTorch のモデルを書き出して端末で実行（PyTorch 公式）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PyTorch で同じ構成を作って書き出す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MediaPipe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画像分類・物体検出・手の検出などの部品をまとめたもの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画像分類器としてモデルを載せる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ML Kit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学習済みの機能: 文字認識（OCR）, デジタルインク認識（手書き文字）, 顔・バーコード検出など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デジタルインク認識で、指で書いた数字をそのまま認識できる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Gemini Nano（AICore / ML Kit GenAI）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端末内で動く生成 AI。要約・文章生成・画像の説明など（対応機種のみ）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数字の認識よりも説明や対話に向く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iOS（iPhone）の AI 機能と NN の仕組み</a:t>
            </a:r>
            <a:endParaRPr lang="en-US" sz="2800" dirty="0"/>
          </a:p>
        </p:txBody>
      </p:sp>
      <p:graphicFrame>
        <p:nvGraphicFramePr>
          <p:cNvPr id="9" name="table-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572000"/>
                <a:gridCol w="33832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仕組み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何ができるか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MNIST での使い方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Core ML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学習済みモデル（.mlmodel / .mlpackage）を CPU・GPU・Neural Engine で実行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coremltools で PyTorch / ONNX から変換して実行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Vision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画像処理と学習済み機能: 文字認識（手書きを含む）, 顔・物体検出など。Core ML のモデルも呼べる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VNRecognizeTextRequest で書いた数字を読む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Create ML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Mac で画像分類などのモデルを作る道具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MNIST の画像から分類器を作れる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Metal Performance Shaders Graph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GPU で NN の計算を組む低いレベルの仕組み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自分で層を書いて GPU で動かす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Accelerate（BNNS, vDSP）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CPU の SIMD を使う数値計算（BLAS もある）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OpenBLAS の代わりに行列積を速く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Foundation Models（Apple Intelligence）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端末内の言語モデルを呼ぶ（対応機種）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説明・要約向け。数字認識には使わない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ブラウザで使える NN の仕組み</a:t>
            </a:r>
            <a:endParaRPr lang="en-US" sz="2800" dirty="0"/>
          </a:p>
        </p:txBody>
      </p:sp>
      <p:graphicFrame>
        <p:nvGraphicFramePr>
          <p:cNvPr id="10" name="table-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5943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仕組み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計算装置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特徴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JavaScript（Float32Array のループ）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CPU 1 コア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ライブラリ不要。遅い（今回の「自作」）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WebAssembly（WASM）+ SIMD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C/C++ をコンパイルした速いコード。マルチスレッドはページの設定（cross-origin isolation）が必要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WebGL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GPU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画像描画の仕組みを計算に流用。ほぼすべての端末で使える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WebGPU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GPU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計算用に設計された新しい仕組み。Chrome（Android）・Safari（iOS 26 以降）などで順次対応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WebNN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CPU / GPU / NPU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NN 専用の新しい API（策定中）。ブラウザから NPU を使える見込み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TensorFlow.js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上のどれでも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Google のライブラリ。学習もできる。backend を切り替える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ONNX Runtime Web / Transformers.js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WASM / WebGPU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ONNX モデルや Hugging Face のモデルを動かす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MNIST をスマートフォンで行う方法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ブラウザで動かす（実装・計測）／ アプリに組み込む（ONNX モデル）／ OS の手書き認識を使う ／ Termux で EusLisp</a:t>
            </a:r>
            <a:endParaRPr lang="en-US" sz="1600" dirty="0"/>
          </a:p>
        </p:txBody>
      </p:sp>
      <p:sp>
        <p:nvSpPr>
          <p:cNvPr id="4" name="tile-27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 つのやり方と今回の対応</a:t>
            </a:r>
            <a:endParaRPr lang="en-US" sz="2800" dirty="0"/>
          </a:p>
        </p:txBody>
      </p:sp>
      <p:graphicFrame>
        <p:nvGraphicFramePr>
          <p:cNvPr id="12" name="table-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1463040"/>
                <a:gridCol w="182880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やり方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学習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推論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使える計算装置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今回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① ブラウザの計測ページ（TensorFlow.js と自作 JS）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できる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できる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CPU, GPU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◎ 実装・計測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② アプリ（ONNX Runtime Mobile / LiteRT / Core ML）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難しい（推論向け）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できる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CPU, GPU, NPU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○ ONNX モデルを用意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③ OS の手書き認識（ML Kit / Vision）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できない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できる（文字一般）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CPU, GPU, NPU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△ 使い方を整理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④ Termux で EusLisp / Python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できる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できる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CPU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△ 手順を整理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ullets-29"/>
          <p:cNvSpPr txBox="1"/>
          <p:nvPr/>
        </p:nvSpPr>
        <p:spPr>
          <a:xfrm>
            <a:off x="548640" y="434340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学習まで含めてスマートフォンで試すなら ①（ブラウザ）が手軽。WebGL / WebGPU で GPU も使える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製品として速く動かすなら ②。モデルは PC（DGX Spark）で学習し、スマートフォンでは推論だけを行うのが普通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手書きの数字を読むだけなら ③ の学習済み機能で足りる（MNIST のモデルを作る必要がない）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EusLisp のコードをそのまま試すなら ④。ARM の Linux 環境なので、DGX Spark（aarch64）と同じ手順でビルドできる見込み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アプリに組み込む例 — ONNX モデルを使う</a:t>
            </a:r>
            <a:endParaRPr lang="en-US" sz="2800" dirty="0"/>
          </a:p>
        </p:txBody>
      </p:sp>
      <p:sp>
        <p:nvSpPr>
          <p:cNvPr id="4" name="code-30"/>
          <p:cNvSpPr txBox="1"/>
          <p:nvPr/>
        </p:nvSpPr>
        <p:spPr>
          <a:xfrm>
            <a:off x="548640" y="1280160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Android (Kotlin) + ONNX Runtime Mobile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val env = OrtEnvironment.getEnvironment()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val opts = OrtSession.SessionOptions()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opts.addNnapi()          // NPU / GPU を使う (使えなければ CPU)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val session = env.createSession(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assets.open("mnist_cnn.onnx").readBytes(), opts)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val x = OnnxTensor.createTensor(env,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FloatBuffer.wrap(pixels), longArrayOf(1, 1, 28, 28))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val prob = session.run(mapOf("image" to x))[0].value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as Array&lt;FloatArray&gt;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val digit = prob[0].indices.maxBy { prob[0][it] }</a:t>
            </a:r>
            <a:endParaRPr lang="en-US" sz="1200" dirty="0"/>
          </a:p>
        </p:txBody>
      </p:sp>
      <p:sp>
        <p:nvSpPr>
          <p:cNvPr id="5" name="code-31"/>
          <p:cNvSpPr txBox="1"/>
          <p:nvPr/>
        </p:nvSpPr>
        <p:spPr>
          <a:xfrm>
            <a:off x="6217920" y="1280160"/>
            <a:ext cx="5394960" cy="3840480"/>
          </a:xfrm>
          <a:prstGeom prst="roundRect">
            <a:avLst>
              <a:gd name="adj" fmla="val 1429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Mac で Core ML に変換 (Python, coremltools)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import coremltools as ct, torch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m = torch.jit.trace(cnn, torch.zeros(1,1,28,28))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ml = ct.convert(m, inputs=[ct.TensorType(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name="image", shape=(1,1,28,28))])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ml.save("MNISTCNN.mlpackage")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iPhone (Swift) で推論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let model = try MNISTCNN(configuration: .init())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computeUnits = .all で Neural Engine も使う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let out = try model.prediction(image: input)</a:t>
            </a:r>
            <a:endParaRPr lang="en-US" sz="1200" dirty="0"/>
          </a:p>
        </p:txBody>
      </p:sp>
      <p:sp>
        <p:nvSpPr>
          <p:cNvPr id="6" name="bullets-32"/>
          <p:cNvSpPr txBox="1"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モデルは同じ重み（EusLisp で学習したもの）。ONNX Runtime（このマシンの ARM CPU, 4 スレッド）で 10,000 枚の認識数が MLP 9824・CNN 9917 と一致することを確認済み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LiteRT（.tflite）へは ONNX → TensorFlow → LiteRT の変換か、PyTorch から ai-edge-torch で変換する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OS の手書き認識を使う・Termux で EusLisp を動かす</a:t>
            </a:r>
            <a:endParaRPr lang="en-US" sz="2800" dirty="0"/>
          </a:p>
        </p:txBody>
      </p:sp>
      <p:sp>
        <p:nvSpPr>
          <p:cNvPr id="4" name="tile-33"/>
          <p:cNvSpPr txBox="1"/>
          <p:nvPr/>
        </p:nvSpPr>
        <p:spPr>
          <a:xfrm>
            <a:off x="548640" y="12801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5" name="head-34"/>
          <p:cNvSpPr txBox="1"/>
          <p:nvPr/>
        </p:nvSpPr>
        <p:spPr>
          <a:xfrm>
            <a:off x="1051560" y="12801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OS の手書き認識（学習済み）</a:t>
            </a:r>
            <a:endParaRPr lang="en-US" sz="1700" dirty="0"/>
          </a:p>
        </p:txBody>
      </p:sp>
      <p:sp>
        <p:nvSpPr>
          <p:cNvPr id="6" name="bullets-35"/>
          <p:cNvSpPr txBox="1"/>
          <p:nvPr/>
        </p:nvSpPr>
        <p:spPr>
          <a:xfrm>
            <a:off x="548640" y="17830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Android: ML Kit の Digital Ink Recognition。指で書いた線（座標の列）から文字を認識。言語ごとのモデルを端末に落として使う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iOS: Vision の VNRecognizeTextRequest。画像中の文字（手書きを含む）を読む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MNIST の学習は不要。ただし数字 1 文字の分類に特化したものではないので、精度や速さは別に評価が必要</a:t>
            </a:r>
            <a:endParaRPr lang="en-US" sz="1200" dirty="0"/>
          </a:p>
        </p:txBody>
      </p:sp>
      <p:sp>
        <p:nvSpPr>
          <p:cNvPr id="7" name="tile-36"/>
          <p:cNvSpPr txBox="1"/>
          <p:nvPr/>
        </p:nvSpPr>
        <p:spPr>
          <a:xfrm>
            <a:off x="6309360" y="12801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8" name="head-37"/>
          <p:cNvSpPr txBox="1"/>
          <p:nvPr/>
        </p:nvSpPr>
        <p:spPr>
          <a:xfrm>
            <a:off x="6812280" y="12801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Termux で EusLisp（手順案）</a:t>
            </a:r>
            <a:endParaRPr lang="en-US" sz="1700" dirty="0"/>
          </a:p>
        </p:txBody>
      </p:sp>
      <p:sp>
        <p:nvSpPr>
          <p:cNvPr id="9" name="code-38"/>
          <p:cNvSpPr txBox="1"/>
          <p:nvPr/>
        </p:nvSpPr>
        <p:spPr>
          <a:xfrm>
            <a:off x="6309360" y="1783080"/>
            <a:ext cx="5303520" cy="2926080"/>
          </a:xfrm>
          <a:prstGeom prst="roundRect">
            <a:avLst>
              <a:gd name="adj" fmla="val 1875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pkg install git clang make libx11 openblas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git clone https://github.com/euslisp/jskeus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cd jskeus &amp;&amp; make          # aarch64 の設定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git clone https://github.com/inabajsk/mnist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cd mnist/MATPROD &amp;&amp; make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eusgl nn.l   ; X なしなら描画の部分を外す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Python + ONNX Runtime でも可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pkg install python &amp;&amp; pip install onnxruntime</a:t>
            </a:r>
            <a:endParaRPr lang="en-US" sz="1150" dirty="0"/>
          </a:p>
        </p:txBody>
      </p:sp>
      <p:sp>
        <p:nvSpPr>
          <p:cNvPr id="10" name="text-39"/>
          <p:cNvSpPr txBox="1"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Termux では GPU・NPU は使いにくく CPU だけになる。cblaslib.l の OpenBLAS のパスは Termux のライブラリの場所（$PREFIX/lib）に合わせて追加が必要。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実装した計測ページ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同じ重みの MLP と CNN を、自作 JavaScript と TensorFlow.js（WASM / WebGL / WebGPU / CPU）で動かし、推論と学習の時間を測る</a:t>
            </a:r>
            <a:endParaRPr lang="en-US" sz="1600" dirty="0"/>
          </a:p>
        </p:txBody>
      </p:sp>
      <p:sp>
        <p:nvSpPr>
          <p:cNvPr id="4" name="tile-40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計測ページの構成</a:t>
            </a:r>
            <a:endParaRPr lang="en-US" sz="2800" dirty="0"/>
          </a:p>
        </p:txBody>
      </p:sp>
      <p:pic>
        <p:nvPicPr>
          <p:cNvPr id="4" name="page-shot" descr="/tmp/claude-1001/-home-mi-mnist/137a571b-9a80-4a1c-8647-53667b8e1fcb/scratchpad/work/figp/pag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1730636" cy="5029200"/>
          </a:xfrm>
          <a:prstGeom prst="rect">
            <a:avLst/>
          </a:prstGeom>
        </p:spPr>
      </p:pic>
      <p:sp>
        <p:nvSpPr>
          <p:cNvPr id="5" name="bullets-41"/>
          <p:cNvSpPr txBox="1"/>
          <p:nvPr/>
        </p:nvSpPr>
        <p:spPr>
          <a:xfrm>
            <a:off x="3383280" y="1234440"/>
            <a:ext cx="8229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読み込み: テスト 10,000 枚・学習 6,000 枚・重み（MLP 7.2 MB, CNN 1.7 MB）。gzip + Base64 で置き、ブラウザの DecompressionStream で展開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端末の情報: CPU のコア数、メモリ、GPU の名前（WebGL）、WebGPU の有無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計測: 方法ごとに MLP・CNN の推論（まとめて / 1 枚ずつ）と学習（バッチ 200, 学習率 0.001, 勾配はバッチ和）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表示: 1 枚あたりの時間と 60,000 枚換算。DGX Spark の値と並べる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保存: 端末名と結果をデータベースへ。複数の端末の結果を一覧</a:t>
            </a:r>
            <a:endParaRPr lang="en-US" sz="1150" dirty="0"/>
          </a:p>
        </p:txBody>
      </p:sp>
      <p:graphicFrame>
        <p:nvGraphicFramePr>
          <p:cNvPr id="16" name="table-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38404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2468880"/>
                <a:gridCol w="2834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推論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学習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 回の量（標準）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JavaScript（自作）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◎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◎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推論 1,000 / 学習 600 枚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TensorFlow.js WASM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◎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MLP のみ（CNN 学習は未対応）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推論 10,000 / 学習 6,000 枚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TensorFlow.js WebGL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◎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◎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推論 10,000 / 学習 6,000 枚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TensorFlow.js WebGPU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◎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◎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推論 10,000 / 学習 6,000 枚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TensorFlow.js CPU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◎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◎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推論 1,000 / 学習 400（CNN 200）枚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計測の中身と正しさの確認</a:t>
            </a:r>
            <a:endParaRPr lang="en-US" sz="2800" dirty="0"/>
          </a:p>
        </p:txBody>
      </p:sp>
      <p:sp>
        <p:nvSpPr>
          <p:cNvPr id="4" name="code-43"/>
          <p:cNvSpPr txBox="1"/>
          <p:nvPr/>
        </p:nvSpPr>
        <p:spPr>
          <a:xfrm>
            <a:off x="548640" y="1280160"/>
            <a:ext cx="6766560" cy="3017520"/>
          </a:xfrm>
          <a:prstGeom prst="roundRect">
            <a:avLst>
              <a:gd name="adj" fmla="val 1818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自作 JS: 行列積 C = A · Bᵀ + b（重みは EusLisp と同じ 出力×入力）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for (i = 0; i &lt; M; i++) for (j = 0; j &lt; N; j++)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s = b[j]; for (k = 0; k &lt; K; k++) s += A[i*K+k] * B[j*K+k];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C[i*N+j] = s;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TensorFlow.js: 畳み込みの重み (co, c·5·5) → [ky, kx, c, co]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tf.conv2d(x /* [n,28,28,1] NHWC */, K1, 1, "valid")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学習: 損失はバッチの和, SGD 0.001（nn.l と同じ）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tf.losses.softmaxCrossEntropy(t, logits, undefined, 0, tf.Reduction.SUM)</a:t>
            </a:r>
            <a:endParaRPr lang="en-US" sz="1150" dirty="0"/>
          </a:p>
        </p:txBody>
      </p:sp>
      <p:sp>
        <p:nvSpPr>
          <p:cNvPr id="5" name="bullets-44"/>
          <p:cNvSpPr txBox="1"/>
          <p:nvPr/>
        </p:nvSpPr>
        <p:spPr>
          <a:xfrm>
            <a:off x="7589520" y="1280160"/>
            <a:ext cx="40690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重みは EusLisp で学習したもの（MLP: mnist-mlp-19.l, CNN: nn-cnn.l の 20 エポック後）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TensorFlow.js の推論は 10,000 枚で MLP 9824・CNN 9917 枚正解。EusLisp・PyTorch・ONNX Runtime と同じ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自作 JS の MLP は先頭 1,000 枚で 98.3%（Python での計算と一致）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学習は乱数の初期値 U(−0.08, 0.08) から。時間を測るのが目的で、認識率は見ていない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WASM の TensorFlow.js は畳み込みの重みの勾配（Conv2DBackpropFilter）が未実装で、CNN の学習はできなかった</a:t>
            </a:r>
            <a:endParaRPr lang="en-US" sz="1150" dirty="0"/>
          </a:p>
        </p:txBody>
      </p:sp>
      <p:sp>
        <p:nvSpPr>
          <p:cNvPr id="6" name="text-45"/>
          <p:cNvSpPr txBox="1"/>
          <p:nvPr/>
        </p:nvSpPr>
        <p:spPr>
          <a:xfrm>
            <a:off x="548640" y="4480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NHWC: 画像の並びを（枚, 縦, 横, チャネル）にすると、EusLisp 版の CNN と同じ順で全結合層につながる。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計算時間の比較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DGX Spark のブラウザ・ネイティブ（OpenBLAS / CUDA / ONNX Runtime）と、スマートフォンのブラウザ</a:t>
            </a:r>
            <a:endParaRPr lang="en-US" sz="1600" dirty="0"/>
          </a:p>
        </p:txBody>
      </p:sp>
      <p:sp>
        <p:nvSpPr>
          <p:cNvPr id="4" name="tile-46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DGX Spark のブラウザ（Chromium）での結果</a:t>
            </a:r>
            <a:endParaRPr lang="en-US" sz="2800" dirty="0"/>
          </a:p>
        </p:txBody>
      </p:sp>
      <p:graphicFrame>
        <p:nvGraphicFramePr>
          <p:cNvPr id="19" name="table-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MLP 推論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6 万枚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CNN 推論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6 万枚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MLP 1 枚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（応答）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CNN 1 枚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（応答）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MLP 学習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1 エポック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CNN 学習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1 エポック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JS 自作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206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347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476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466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TF.js WASM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8.49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15.9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500 µs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500 µs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226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TF.js WebGL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4.61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8.95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6.40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7.20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2.30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10.9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TF.js WebGPU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2.03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2.87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3.80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5.00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1.43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14.4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TF.js CPU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393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565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5.40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6.70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951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7581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bullets-48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GPU を使う WebGL・WebGPU が最速。CNN 1 エポックは TF.js WebGL で 10.9 秒（ネイティブの CUDA 426 ms の約 26 倍）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自作 JS は 1 コアの素朴なループで、WebGPU の数百倍遅い。TF.js CPU はさらに遅い（参照用の実装で最適化されていない）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WASM は SIMD 版の単一スレッド（このページは cross-origin isolation がないのでスレッドが使えない）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スマートフォンでの結果</a:t>
            </a:r>
            <a:endParaRPr lang="en-US" sz="2800" dirty="0"/>
          </a:p>
        </p:txBody>
      </p:sp>
      <p:sp>
        <p:nvSpPr>
          <p:cNvPr id="3" name="text-49"/>
          <p:cNvSpPr txBox="1"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スマートフォンでの計測結果はまだありません。計測ページを開いて「計測を始める」を押すと、ここに入ります。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 エポックの学習時間 — 環境ごとの比較</a:t>
            </a:r>
            <a:endParaRPr lang="en-US" sz="2800" dirty="0"/>
          </a:p>
        </p:txBody>
      </p:sp>
      <p:graphicFrame>
        <p:nvGraphicFramePr>
          <p:cNvPr id="4" name="epoch-env" descr=""/>
          <p:cNvGraphicFramePr/>
          <p:nvPr/>
        </p:nvGraphicFramePr>
        <p:xfrm>
          <a:off x="457200" y="1188720"/>
          <a:ext cx="73152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ullets-50"/>
          <p:cNvSpPr txBox="1"/>
          <p:nvPr/>
        </p:nvSpPr>
        <p:spPr>
          <a:xfrm>
            <a:off x="8046720" y="1280160"/>
            <a:ext cx="3611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ネイティブの CUDA（DGX）が最速。ブラウザの GPU（WebGL / WebGPU）はその数倍〜数十倍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同じ JS でも CPU だけの方法は GPU の方法より 2〜3 桁遅い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スマートフォンの値は短い計測からの換算。長く動かすと熱で遅くなることがある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推論の時間 — まとめて処理と 1 枚ずつ</a:t>
            </a:r>
            <a:endParaRPr lang="en-US" sz="2800" dirty="0"/>
          </a:p>
        </p:txBody>
      </p:sp>
      <p:graphicFrame>
        <p:nvGraphicFramePr>
          <p:cNvPr id="22" name="table-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4980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51560"/>
                <a:gridCol w="1051560"/>
                <a:gridCol w="10515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環境・方法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MLP まとめて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CNN まとめて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MLP 1 枚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CNN 1 枚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DGX: CUDA GPU（FP32, 常駐）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0.4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4.1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DGX: ONNX Runtime（ARM CPU 4 スレッド）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20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38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70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89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DGX ブラウザ 最速（TF.js WebGPU）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34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48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500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500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　DGX ブラウザ TF.js WASM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142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265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500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500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　DGX ブラウザ TF.js WebGL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77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149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6.40 ms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7.20 ms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　DGX ブラウザ TF.js WebGPU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34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48 µs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3.80 ms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5.00 ms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　DGX ブラウザ JS 自作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3.43 ms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5.78 ms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bullets-52"/>
          <p:cNvSpPr txBox="1"/>
          <p:nvPr/>
        </p:nvSpPr>
        <p:spPr>
          <a:xfrm>
            <a:off x="8321040" y="1280160"/>
            <a:ext cx="33375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まとめて処理するなら GPU（WebGPU / WebGL）が速い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 枚だけの応答は、GPU に仕事を渡す手間（数 ms）が目立ち、WASM（CPU）の方が速いことが多い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WASM の 1 枚の時間はブラウザのタイマーの細かさ（0.1〜0.5 ms 程度）で丸められている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ネイティブの ONNX Runtime は 1 枚 0.07〜0.09 ms。アプリにすればブラウザより速くできる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考察 — スマートフォンで速さを左右するもの</a:t>
            </a:r>
            <a:endParaRPr lang="en-US" sz="2800" dirty="0"/>
          </a:p>
        </p:txBody>
      </p:sp>
      <p:sp>
        <p:nvSpPr>
          <p:cNvPr id="3" name="card-53"/>
          <p:cNvSpPr/>
          <p:nvPr/>
        </p:nvSpPr>
        <p:spPr>
          <a:xfrm>
            <a:off x="548640" y="128016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" name="tile-54"/>
          <p:cNvSpPr txBox="1"/>
          <p:nvPr/>
        </p:nvSpPr>
        <p:spPr>
          <a:xfrm>
            <a:off x="731520" y="14630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-55"/>
          <p:cNvSpPr txBox="1"/>
          <p:nvPr/>
        </p:nvSpPr>
        <p:spPr>
          <a:xfrm>
            <a:off x="1280160" y="144475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GPU は「まとめて」で効く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1,000 枚ずつまとめると WebGL / WebGPU が CPU より 1〜2 桁速い。1 枚ずつでは GPU を呼ぶ手間が勝つ</a:t>
            </a:r>
            <a:endParaRPr lang="en-US" sz="1400" dirty="0"/>
          </a:p>
        </p:txBody>
      </p:sp>
      <p:sp>
        <p:nvSpPr>
          <p:cNvPr id="6" name="card-56"/>
          <p:cNvSpPr/>
          <p:nvPr/>
        </p:nvSpPr>
        <p:spPr>
          <a:xfrm>
            <a:off x="6172200" y="128016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7" name="tile-57"/>
          <p:cNvSpPr txBox="1"/>
          <p:nvPr/>
        </p:nvSpPr>
        <p:spPr>
          <a:xfrm>
            <a:off x="6355080" y="14630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-58"/>
          <p:cNvSpPr txBox="1"/>
          <p:nvPr/>
        </p:nvSpPr>
        <p:spPr>
          <a:xfrm>
            <a:off x="6903720" y="144475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ブラウザの CPU は 1 コア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JS も WASM も、このページでは 1 スレッド。WASM の SIMD で JS より数十倍速い</a:t>
            </a:r>
            <a:endParaRPr lang="en-US" sz="1400" dirty="0"/>
          </a:p>
        </p:txBody>
      </p:sp>
      <p:sp>
        <p:nvSpPr>
          <p:cNvPr id="9" name="card-59"/>
          <p:cNvSpPr/>
          <p:nvPr/>
        </p:nvSpPr>
        <p:spPr>
          <a:xfrm>
            <a:off x="548640" y="292608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0" name="tile-60"/>
          <p:cNvSpPr txBox="1"/>
          <p:nvPr/>
        </p:nvSpPr>
        <p:spPr>
          <a:xfrm>
            <a:off x="731520" y="31089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-61"/>
          <p:cNvSpPr txBox="1"/>
          <p:nvPr/>
        </p:nvSpPr>
        <p:spPr>
          <a:xfrm>
            <a:off x="1280160" y="309067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NPU はブラウザから使えない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Neural Engine や Hexagon を使うには Core ML・LiteRT などのアプリが必要。WebNN が広まれば変わる</a:t>
            </a:r>
            <a:endParaRPr lang="en-US" sz="1400" dirty="0"/>
          </a:p>
        </p:txBody>
      </p:sp>
      <p:sp>
        <p:nvSpPr>
          <p:cNvPr id="12" name="card-62"/>
          <p:cNvSpPr/>
          <p:nvPr/>
        </p:nvSpPr>
        <p:spPr>
          <a:xfrm>
            <a:off x="6172200" y="292608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3" name="tile-63"/>
          <p:cNvSpPr txBox="1"/>
          <p:nvPr/>
        </p:nvSpPr>
        <p:spPr>
          <a:xfrm>
            <a:off x="6355080" y="31089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-64"/>
          <p:cNvSpPr txBox="1"/>
          <p:nvPr/>
        </p:nvSpPr>
        <p:spPr>
          <a:xfrm>
            <a:off x="6903720" y="309067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精度と速さ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ブラウザの GPU は FP32（端末によっては FP16）。今回の重みで認識数は EusLisp と同じだった</a:t>
            </a:r>
            <a:endParaRPr lang="en-US" sz="1400" dirty="0"/>
          </a:p>
        </p:txBody>
      </p:sp>
      <p:sp>
        <p:nvSpPr>
          <p:cNvPr id="15" name="card-65"/>
          <p:cNvSpPr/>
          <p:nvPr/>
        </p:nvSpPr>
        <p:spPr>
          <a:xfrm>
            <a:off x="548640" y="457200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6" name="tile-66"/>
          <p:cNvSpPr txBox="1"/>
          <p:nvPr/>
        </p:nvSpPr>
        <p:spPr>
          <a:xfrm>
            <a:off x="731520" y="4754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-67"/>
          <p:cNvSpPr txBox="1"/>
          <p:nvPr/>
        </p:nvSpPr>
        <p:spPr>
          <a:xfrm>
            <a:off x="1280160" y="473659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熱と電池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スマートフォンは長く全力で動かすと遅くなる。学習は DGX Spark、推論はスマートフォン、という分担が現実的</a:t>
            </a:r>
            <a:endParaRPr lang="en-US" sz="1400" dirty="0"/>
          </a:p>
        </p:txBody>
      </p:sp>
      <p:sp>
        <p:nvSpPr>
          <p:cNvPr id="18" name="card-68"/>
          <p:cNvSpPr/>
          <p:nvPr/>
        </p:nvSpPr>
        <p:spPr>
          <a:xfrm>
            <a:off x="6172200" y="457200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9" name="tile-69"/>
          <p:cNvSpPr txBox="1"/>
          <p:nvPr/>
        </p:nvSpPr>
        <p:spPr>
          <a:xfrm>
            <a:off x="6355080" y="4754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-70"/>
          <p:cNvSpPr txBox="1"/>
          <p:nvPr/>
        </p:nvSpPr>
        <p:spPr>
          <a:xfrm>
            <a:off x="6903720" y="473659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同じ ARM の仲間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DGX Spark もスマートフォンも ARM CPU + GPU + 統合メモリ。規模の違いが速さの違いになる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追加したファイルと使い方</a:t>
            </a:r>
            <a:endParaRPr lang="en-US" sz="2800" dirty="0"/>
          </a:p>
        </p:txBody>
      </p:sp>
      <p:sp>
        <p:nvSpPr>
          <p:cNvPr id="4" name="code-71"/>
          <p:cNvSpPr txBox="1"/>
          <p:nvPr/>
        </p:nvSpPr>
        <p:spPr>
          <a:xfrm>
            <a:off x="548640" y="128016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phone/site/index.html     計測ページ（自作 JS と TensorFlow.js）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phone/site/*.gz.txt       データと重み（gzip + Base64）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phone/site/tfjs/*.wasm    TensorFlow.js の WASM（CDN から直接は読めないので同梱）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phone/make_data.py        EusLisp の出力からデータ・重み・ONNX モデルを作る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phone/onnx/mnist_mlp.onnx, mnist_cnn.onnx   アプリ用モデル（入力 n×1×28×28）</a:t>
            </a:r>
            <a:endParaRPr lang="en-US" sz="1250" dirty="0"/>
          </a:p>
        </p:txBody>
      </p:sp>
      <p:sp>
        <p:nvSpPr>
          <p:cNvPr id="5" name="code-72"/>
          <p:cNvSpPr txBox="1"/>
          <p:nvPr/>
        </p:nvSpPr>
        <p:spPr>
          <a:xfrm>
            <a:off x="548640" y="3291840"/>
            <a:ext cx="11064240" cy="2377440"/>
          </a:xfrm>
          <a:prstGeom prst="roundRect">
            <a:avLst>
              <a:gd name="adj" fmla="val 2308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データとモデルを作り直す（EusLisp で学習した後）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roseus nn-cnn.l    ;; (test-mnist-cnn *cnn-net* :save t) で mlp-cuda/mnist-cnn-9.l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python3 phone/make_data.py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PC で試す（ローカルのサーバー）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cd phone/site &amp;&amp; python3 -m http.server 8000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  → http://localhost:8000/ （同じ LAN のスマートフォンからは PC の IP アドレスで）</a:t>
            </a:r>
            <a:endParaRPr lang="en-US" sz="1250" dirty="0"/>
          </a:p>
        </p:txBody>
      </p:sp>
      <p:sp>
        <p:nvSpPr>
          <p:cNvPr id="6" name="text-73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計測ページ: https://claude.ai/artifact/3373AhmSK4JkSFxqCw6e3S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まとめ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スマートフォンで NN を動かすには、ブラウザ・アプリ（Core ML / LiteRT / ONNX Runtime）・OS の AI 機能・Termux・サーバーの方法がある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EusLisp で学習した MNIST の MLP と CNN を、ブラウザで動く計測ページにした（自作 JS と TensorFlow.js の 5 方式、推論と学習）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スマートフォンでの計測はまだです（計測ページで実行すると入ります）。DGX Spark のブラウザでは WebGPU / WebGL が速く、CNN の 1 エポックが約 11〜14 秒、MLP が 1.4 秒だった。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速く動かすなら GPU をまとめて使う。NPU まで使うならアプリにする（ONNX モデルを用意済み）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NIST Ink">
  <a:themeElements>
    <a:clrScheme name="MNIST Ink">
      <a:dk1>
        <a:srgbClr val="14213D"/>
      </a:dk1>
      <a:lt1>
        <a:srgbClr val="FFFFFF"/>
      </a:lt1>
      <a:dk2>
        <a:srgbClr val="2B3A55"/>
      </a:dk2>
      <a:lt2>
        <a:srgbClr val="EEF1F6"/>
      </a:lt2>
      <a:accent1>
        <a:srgbClr val="E4572E"/>
      </a:accent1>
      <a:accent2>
        <a:srgbClr val="3A6EA5"/>
      </a:accent2>
      <a:accent3>
        <a:srgbClr val="F2A541"/>
      </a:accent3>
      <a:accent4>
        <a:srgbClr val="5B8C5A"/>
      </a:accent4>
      <a:accent5>
        <a:srgbClr val="8E7DBE"/>
      </a:accent5>
      <a:accent6>
        <a:srgbClr val="5B6577"/>
      </a:accent6>
      <a:hlink>
        <a:srgbClr val="3A6EA5"/>
      </a:hlink>
      <a:folHlink>
        <a:srgbClr val="8E7DBE"/>
      </a:folHlink>
    </a:clrScheme>
    <a:fontScheme name="MNIST Ink">
      <a:majorFont>
        <a:latin typeface="BIZ UDPGothic"/>
        <a:ea typeface="BIZ UDP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BIZ UDP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 をスマートフォンで — 方法・AI 機能・計算時間</dc:title>
  <dc:subject>MNIST dataset, MLP implementation in EusLisp, profiling and results</dc:subject>
  <dc:creator>Masayuki Inaba</dc:creator>
  <cp:lastModifiedBy>Masayuki Inaba</cp:lastModifiedBy>
  <cp:revision>1</cp:revision>
  <dcterms:created xsi:type="dcterms:W3CDTF">2026-10-03T07:29:56Z</dcterms:created>
  <dcterms:modified xsi:type="dcterms:W3CDTF">2026-10-03T07:29:56Z</dcterms:modified>
</cp:coreProperties>
</file>