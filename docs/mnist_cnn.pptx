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4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5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6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7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8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11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82d9f2d5-c3bc-12a8-9dc2-0759e44dbee4}">
          <p14:sldIdLst>
            <p14:sldId id="256"/>
            <p14:sldId id="257"/>
          </p14:sldIdLst>
        </p14:section>
        <p14:section name="1. 基本の用語" id="{53e85b2b-44d6-86b7-dfe9-fdc8205de7ed}">
          <p14:sldIdLst>
            <p14:sldId id="258"/>
            <p14:sldId id="259"/>
            <p14:sldId id="260"/>
            <p14:sldId id="261"/>
            <p14:sldId id="262"/>
          </p14:sldIdLst>
        </p14:section>
        <p14:section name="2. CNN は何をするか" id="{5f43b9a5-2f22-2282-f929-0e7bbaa6e60c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3. 学習のしくみ" id="{b30e902a-cc15-fa47-1ed7-733f7a27ae2d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4. パラメータの効果" id="{08a1be72-802c-77e3-a967-09b7e778c16f}">
          <p14:sldIdLst>
            <p14:sldId id="280"/>
            <p14:sldId id="281"/>
            <p14:sldId id="282"/>
            <p14:sldId id="283"/>
          </p14:sldIdLst>
        </p14:section>
        <p14:section name="5. 認識率の比較" id="{50a9b2f9-0e17-c621-ffad-cbcc26491c79}">
          <p14:sldIdLst>
            <p14:sldId id="284"/>
            <p14:sldId id="285"/>
            <p14:sldId id="286"/>
            <p14:sldId id="287"/>
          </p14:sldIdLst>
        </p14:section>
        <p14:section name="6. 計算時間の比較" id="{68069f85-6292-beb9-a123-2011835b6e7f}">
          <p14:sldIdLst>
            <p14:sldId id="288"/>
            <p14:sldId id="289"/>
            <p14:sldId id="290"/>
            <p14:sldId id="291"/>
            <p14:sldId id="292"/>
          </p14:sldIdLst>
        </p14:section>
        <p14:section name="7. 実装と使い方" id="{7756d2bc-d4a5-52ed-a640-d8d08fe5f7b3}">
          <p14:sldIdLst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左右にずらした画素数とテスト認識率 [%]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MLP（CNN なし）</c:v>
                </c:pt>
              </c:strCache>
            </c:strRef>
          </c:tx>
          <c:spPr>
            <a:solidFill>
              <a:srgbClr val="5B6577"/>
            </a:solidFill>
            <a:ln w="31750" cap="flat">
              <a:solidFill>
                <a:srgbClr val="5B6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577"/>
              </a:solidFill>
              <a:ln w="9525" cap="flat">
                <a:solidFill>
                  <a:srgbClr val="5B6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-4</c:v>
                  </c:pt>
                  <c:pt idx="1">
                    <c:v>-3</c:v>
                  </c:pt>
                  <c:pt idx="2">
                    <c:v>-2</c:v>
                  </c:pt>
                  <c:pt idx="3">
                    <c:v>-1</c:v>
                  </c:pt>
                  <c:pt idx="4">
                    <c:v>0</c:v>
                  </c:pt>
                  <c:pt idx="5">
                    <c:v>+1</c:v>
                  </c:pt>
                  <c:pt idx="6">
                    <c:v>+2</c:v>
                  </c:pt>
                  <c:pt idx="7">
                    <c:v>+3</c:v>
                  </c:pt>
                  <c:pt idx="8">
                    <c:v>+4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37.98</c:v>
                </c:pt>
                <c:pt idx="1">
                  <c:v>56.83</c:v>
                </c:pt>
                <c:pt idx="2">
                  <c:v>82.04</c:v>
                </c:pt>
                <c:pt idx="3">
                  <c:v>95.92</c:v>
                </c:pt>
                <c:pt idx="4">
                  <c:v>98.17</c:v>
                </c:pt>
                <c:pt idx="5">
                  <c:v>96.76</c:v>
                </c:pt>
                <c:pt idx="6">
                  <c:v>85.74</c:v>
                </c:pt>
                <c:pt idx="7">
                  <c:v>61.22</c:v>
                </c:pt>
                <c:pt idx="8">
                  <c:v>37.84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LeNet-5 型 CNN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-4</c:v>
                  </c:pt>
                  <c:pt idx="1">
                    <c:v>-3</c:v>
                  </c:pt>
                  <c:pt idx="2">
                    <c:v>-2</c:v>
                  </c:pt>
                  <c:pt idx="3">
                    <c:v>-1</c:v>
                  </c:pt>
                  <c:pt idx="4">
                    <c:v>0</c:v>
                  </c:pt>
                  <c:pt idx="5">
                    <c:v>+1</c:v>
                  </c:pt>
                  <c:pt idx="6">
                    <c:v>+2</c:v>
                  </c:pt>
                  <c:pt idx="7">
                    <c:v>+3</c:v>
                  </c:pt>
                  <c:pt idx="8">
                    <c:v>+4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59.74</c:v>
                </c:pt>
                <c:pt idx="1">
                  <c:v>80.94</c:v>
                </c:pt>
                <c:pt idx="2">
                  <c:v>93.21</c:v>
                </c:pt>
                <c:pt idx="3">
                  <c:v>97.49</c:v>
                </c:pt>
                <c:pt idx="4">
                  <c:v>98.5</c:v>
                </c:pt>
                <c:pt idx="5">
                  <c:v>97.72</c:v>
                </c:pt>
                <c:pt idx="6">
                  <c:v>95.22</c:v>
                </c:pt>
                <c:pt idx="7">
                  <c:v>84.56</c:v>
                </c:pt>
                <c:pt idx="8">
                  <c:v>61.19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CNN（20/50ch）</c:v>
                </c:pt>
              </c:strCache>
            </c:strRef>
          </c:tx>
          <c:spPr>
            <a:solidFill>
              <a:srgbClr val="3A6EA5"/>
            </a:solidFill>
            <a:ln w="31750" cap="flat">
              <a:solidFill>
                <a:srgbClr val="3A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-4</c:v>
                  </c:pt>
                  <c:pt idx="1">
                    <c:v>-3</c:v>
                  </c:pt>
                  <c:pt idx="2">
                    <c:v>-2</c:v>
                  </c:pt>
                  <c:pt idx="3">
                    <c:v>-1</c:v>
                  </c:pt>
                  <c:pt idx="4">
                    <c:v>0</c:v>
                  </c:pt>
                  <c:pt idx="5">
                    <c:v>+1</c:v>
                  </c:pt>
                  <c:pt idx="6">
                    <c:v>+2</c:v>
                  </c:pt>
                  <c:pt idx="7">
                    <c:v>+3</c:v>
                  </c:pt>
                  <c:pt idx="8">
                    <c:v>+4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66.2</c:v>
                </c:pt>
                <c:pt idx="1">
                  <c:v>84.66</c:v>
                </c:pt>
                <c:pt idx="2">
                  <c:v>96.13</c:v>
                </c:pt>
                <c:pt idx="3">
                  <c:v>98.69</c:v>
                </c:pt>
                <c:pt idx="4">
                  <c:v>99.17</c:v>
                </c:pt>
                <c:pt idx="5">
                  <c:v>98.79</c:v>
                </c:pt>
                <c:pt idx="6">
                  <c:v>97.06</c:v>
                </c:pt>
                <c:pt idx="7">
                  <c:v>88.52</c:v>
                </c:pt>
                <c:pt idx="8">
                  <c:v>66.78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30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回転させた角度とテスト認識率 [%]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MLP（CNN なし）</c:v>
                </c:pt>
              </c:strCache>
            </c:strRef>
          </c:tx>
          <c:spPr>
            <a:solidFill>
              <a:srgbClr val="5B6577"/>
            </a:solidFill>
            <a:ln w="31750" cap="flat">
              <a:solidFill>
                <a:srgbClr val="5B6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577"/>
              </a:solidFill>
              <a:ln w="9525" cap="flat">
                <a:solidFill>
                  <a:srgbClr val="5B6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-30°</c:v>
                  </c:pt>
                  <c:pt idx="1">
                    <c:v>-20°</c:v>
                  </c:pt>
                  <c:pt idx="2">
                    <c:v>-10°</c:v>
                  </c:pt>
                  <c:pt idx="3">
                    <c:v>0°</c:v>
                  </c:pt>
                  <c:pt idx="4">
                    <c:v>+10°</c:v>
                  </c:pt>
                  <c:pt idx="5">
                    <c:v>+20°</c:v>
                  </c:pt>
                  <c:pt idx="6">
                    <c:v>+30°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68.33</c:v>
                </c:pt>
                <c:pt idx="1">
                  <c:v>87.55</c:v>
                </c:pt>
                <c:pt idx="2">
                  <c:v>96.74</c:v>
                </c:pt>
                <c:pt idx="3">
                  <c:v>98.17</c:v>
                </c:pt>
                <c:pt idx="4">
                  <c:v>97</c:v>
                </c:pt>
                <c:pt idx="5">
                  <c:v>91.77</c:v>
                </c:pt>
                <c:pt idx="6">
                  <c:v>78.11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LeNet-5 型 CNN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-30°</c:v>
                  </c:pt>
                  <c:pt idx="1">
                    <c:v>-20°</c:v>
                  </c:pt>
                  <c:pt idx="2">
                    <c:v>-10°</c:v>
                  </c:pt>
                  <c:pt idx="3">
                    <c:v>0°</c:v>
                  </c:pt>
                  <c:pt idx="4">
                    <c:v>+10°</c:v>
                  </c:pt>
                  <c:pt idx="5">
                    <c:v>+20°</c:v>
                  </c:pt>
                  <c:pt idx="6">
                    <c:v>+30°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77.41</c:v>
                </c:pt>
                <c:pt idx="1">
                  <c:v>91.74</c:v>
                </c:pt>
                <c:pt idx="2">
                  <c:v>97.33</c:v>
                </c:pt>
                <c:pt idx="3">
                  <c:v>98.5</c:v>
                </c:pt>
                <c:pt idx="4">
                  <c:v>97.65</c:v>
                </c:pt>
                <c:pt idx="5">
                  <c:v>94.07</c:v>
                </c:pt>
                <c:pt idx="6">
                  <c:v>85.05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CNN（20/50ch）</c:v>
                </c:pt>
              </c:strCache>
            </c:strRef>
          </c:tx>
          <c:spPr>
            <a:solidFill>
              <a:srgbClr val="3A6EA5"/>
            </a:solidFill>
            <a:ln w="31750" cap="flat">
              <a:solidFill>
                <a:srgbClr val="3A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-30°</c:v>
                  </c:pt>
                  <c:pt idx="1">
                    <c:v>-20°</c:v>
                  </c:pt>
                  <c:pt idx="2">
                    <c:v>-10°</c:v>
                  </c:pt>
                  <c:pt idx="3">
                    <c:v>0°</c:v>
                  </c:pt>
                  <c:pt idx="4">
                    <c:v>+10°</c:v>
                  </c:pt>
                  <c:pt idx="5">
                    <c:v>+20°</c:v>
                  </c:pt>
                  <c:pt idx="6">
                    <c:v>+30°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80.51</c:v>
                </c:pt>
                <c:pt idx="1">
                  <c:v>93.65</c:v>
                </c:pt>
                <c:pt idx="2">
                  <c:v>98.49</c:v>
                </c:pt>
                <c:pt idx="3">
                  <c:v>99.17</c:v>
                </c:pt>
                <c:pt idx="4">
                  <c:v>98.6</c:v>
                </c:pt>
                <c:pt idx="5">
                  <c:v>96.07</c:v>
                </c:pt>
                <c:pt idx="6">
                  <c:v>88.65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20 エポック後のテスト認識率 [%]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元の画像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MLP</c:v>
                  </c:pt>
                  <c:pt idx="1">
                    <c:v>CNN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98.2</c:v>
                </c:pt>
                <c:pt idx="1">
                  <c:v>99.21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画素を入れ替えた画像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MLP</c:v>
                  </c:pt>
                  <c:pt idx="1">
                    <c:v>CNN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98.12</c:v>
                </c:pt>
                <c:pt idx="1">
                  <c:v>96.76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20 エポック後のテスト認識率 [%]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テスト認識率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57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通常（全部学習）</c:v>
                  </c:pt>
                  <c:pt idx="1">
                    <c:v>conv1 を固定</c:v>
                  </c:pt>
                  <c:pt idx="2">
                    <c:v>conv1 と conv2 を固定</c:v>
                  </c:pt>
                  <c:pt idx="3">
                    <c:v>参考: MLP（CNN なし）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99.21</c:v>
                </c:pt>
                <c:pt idx="1">
                  <c:v>99.03</c:v>
                </c:pt>
                <c:pt idx="2">
                  <c:v>97.21</c:v>
                </c:pt>
                <c:pt idx="3">
                  <c:v>98.17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9.5"/>
          <c:min val="96"/>
        </c:scaling>
        <c:delete val="0"/>
        <c:axPos val="b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学習率 0.0005</c:v>
                </c:pt>
              </c:strCache>
            </c:strRef>
          </c:tx>
          <c:spPr>
            <a:solidFill>
              <a:srgbClr val="F2A541"/>
            </a:solidFill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96.65</c:v>
                </c:pt>
                <c:pt idx="1">
                  <c:v>97.75</c:v>
                </c:pt>
                <c:pt idx="2">
                  <c:v>98.26</c:v>
                </c:pt>
                <c:pt idx="3">
                  <c:v>98.5</c:v>
                </c:pt>
                <c:pt idx="4">
                  <c:v>98.65</c:v>
                </c:pt>
                <c:pt idx="5">
                  <c:v>98.82</c:v>
                </c:pt>
                <c:pt idx="6">
                  <c:v>98.82</c:v>
                </c:pt>
                <c:pt idx="7">
                  <c:v>98.8</c:v>
                </c:pt>
                <c:pt idx="8">
                  <c:v>98.82</c:v>
                </c:pt>
                <c:pt idx="9">
                  <c:v>98.86</c:v>
                </c:pt>
                <c:pt idx="10">
                  <c:v>98.83</c:v>
                </c:pt>
                <c:pt idx="11">
                  <c:v>98.88</c:v>
                </c:pt>
                <c:pt idx="12">
                  <c:v>98.9</c:v>
                </c:pt>
                <c:pt idx="13">
                  <c:v>98.89</c:v>
                </c:pt>
                <c:pt idx="14">
                  <c:v>98.91</c:v>
                </c:pt>
                <c:pt idx="15">
                  <c:v>98.94</c:v>
                </c:pt>
                <c:pt idx="16">
                  <c:v>98.96</c:v>
                </c:pt>
                <c:pt idx="17">
                  <c:v>99</c:v>
                </c:pt>
                <c:pt idx="18">
                  <c:v>99.02</c:v>
                </c:pt>
                <c:pt idx="19">
                  <c:v>99.03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学習率 0.001（基準）</c:v>
                </c:pt>
              </c:strCache>
            </c:strRef>
          </c:tx>
          <c:spPr>
            <a:solidFill>
              <a:srgbClr val="3A6EA5"/>
            </a:solidFill>
            <a:ln w="25400" cap="flat">
              <a:solidFill>
                <a:srgbClr val="3A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97.53</c:v>
                </c:pt>
                <c:pt idx="1">
                  <c:v>98.36</c:v>
                </c:pt>
                <c:pt idx="2">
                  <c:v>98.67</c:v>
                </c:pt>
                <c:pt idx="3">
                  <c:v>98.9</c:v>
                </c:pt>
                <c:pt idx="4">
                  <c:v>98.96</c:v>
                </c:pt>
                <c:pt idx="5">
                  <c:v>98.99</c:v>
                </c:pt>
                <c:pt idx="6">
                  <c:v>99.04</c:v>
                </c:pt>
                <c:pt idx="7">
                  <c:v>99.09</c:v>
                </c:pt>
                <c:pt idx="8">
                  <c:v>99.05</c:v>
                </c:pt>
                <c:pt idx="9">
                  <c:v>99.11</c:v>
                </c:pt>
                <c:pt idx="10">
                  <c:v>99.14</c:v>
                </c:pt>
                <c:pt idx="11">
                  <c:v>99.22</c:v>
                </c:pt>
                <c:pt idx="12">
                  <c:v>99.19</c:v>
                </c:pt>
                <c:pt idx="13">
                  <c:v>99.19</c:v>
                </c:pt>
                <c:pt idx="14">
                  <c:v>99.14</c:v>
                </c:pt>
                <c:pt idx="15">
                  <c:v>99.17</c:v>
                </c:pt>
                <c:pt idx="16">
                  <c:v>99.16</c:v>
                </c:pt>
                <c:pt idx="17">
                  <c:v>99.14</c:v>
                </c:pt>
                <c:pt idx="18">
                  <c:v>99.16</c:v>
                </c:pt>
                <c:pt idx="19">
                  <c:v>99.17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学習率 0.002</c:v>
                </c:pt>
              </c:strCache>
            </c:strRef>
          </c:tx>
          <c:spPr>
            <a:solidFill>
              <a:srgbClr val="E4572E"/>
            </a:solidFill>
            <a:ln w="254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97.9</c:v>
                </c:pt>
                <c:pt idx="1">
                  <c:v>98.47</c:v>
                </c:pt>
                <c:pt idx="2">
                  <c:v>98.5</c:v>
                </c:pt>
                <c:pt idx="3">
                  <c:v>98.59</c:v>
                </c:pt>
                <c:pt idx="4">
                  <c:v>98.65</c:v>
                </c:pt>
                <c:pt idx="5">
                  <c:v>98.75</c:v>
                </c:pt>
                <c:pt idx="6">
                  <c:v>98.99</c:v>
                </c:pt>
                <c:pt idx="7">
                  <c:v>98.96</c:v>
                </c:pt>
                <c:pt idx="8">
                  <c:v>99.04</c:v>
                </c:pt>
                <c:pt idx="9">
                  <c:v>98.62</c:v>
                </c:pt>
                <c:pt idx="10">
                  <c:v>98.86</c:v>
                </c:pt>
                <c:pt idx="11">
                  <c:v>98.96</c:v>
                </c:pt>
                <c:pt idx="12">
                  <c:v>99.03</c:v>
                </c:pt>
                <c:pt idx="13">
                  <c:v>99.02</c:v>
                </c:pt>
                <c:pt idx="14">
                  <c:v>99.1</c:v>
                </c:pt>
                <c:pt idx="15">
                  <c:v>99.07</c:v>
                </c:pt>
                <c:pt idx="16">
                  <c:v>99.06</c:v>
                </c:pt>
                <c:pt idx="17">
                  <c:v>99.12</c:v>
                </c:pt>
                <c:pt idx="18">
                  <c:v>99.08</c:v>
                </c:pt>
                <c:pt idx="19">
                  <c:v>99.08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バッチ 50</c:v>
                </c:pt>
              </c:strCache>
            </c:strRef>
          </c:tx>
          <c:spPr>
            <a:solidFill>
              <a:srgbClr val="5B8C5A"/>
            </a:solidFill>
            <a:ln w="25400" cap="flat">
              <a:solidFill>
                <a:srgbClr val="5B8C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5B8C5A"/>
              </a:solidFill>
              <a:ln w="9525" cap="flat">
                <a:solidFill>
                  <a:srgbClr val="5B8C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97.44</c:v>
                </c:pt>
                <c:pt idx="1">
                  <c:v>98.39</c:v>
                </c:pt>
                <c:pt idx="2">
                  <c:v>98.69</c:v>
                </c:pt>
                <c:pt idx="3">
                  <c:v>98.87</c:v>
                </c:pt>
                <c:pt idx="4">
                  <c:v>98.91</c:v>
                </c:pt>
                <c:pt idx="5">
                  <c:v>98.9</c:v>
                </c:pt>
                <c:pt idx="6">
                  <c:v>98.99</c:v>
                </c:pt>
                <c:pt idx="7">
                  <c:v>99.01</c:v>
                </c:pt>
                <c:pt idx="8">
                  <c:v>99.05</c:v>
                </c:pt>
                <c:pt idx="9">
                  <c:v>99.09</c:v>
                </c:pt>
                <c:pt idx="10">
                  <c:v>99.09</c:v>
                </c:pt>
                <c:pt idx="11">
                  <c:v>99.1</c:v>
                </c:pt>
                <c:pt idx="12">
                  <c:v>99.17</c:v>
                </c:pt>
                <c:pt idx="13">
                  <c:v>99.14</c:v>
                </c:pt>
                <c:pt idx="14">
                  <c:v>99.16</c:v>
                </c:pt>
                <c:pt idx="15">
                  <c:v>99.06</c:v>
                </c:pt>
                <c:pt idx="16">
                  <c:v>99.1</c:v>
                </c:pt>
                <c:pt idx="17">
                  <c:v>99.07</c:v>
                </c:pt>
                <c:pt idx="18">
                  <c:v>99.13</c:v>
                </c:pt>
                <c:pt idx="19">
                  <c:v>99.12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バッチ 500・学習率 0.0004</c:v>
                </c:pt>
              </c:strCache>
            </c:strRef>
          </c:tx>
          <c:spPr>
            <a:solidFill>
              <a:srgbClr val="5B6577"/>
            </a:solidFill>
            <a:ln w="25400" cap="flat">
              <a:solidFill>
                <a:srgbClr val="5B6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5B6577"/>
              </a:solidFill>
              <a:ln w="9525" cap="flat">
                <a:solidFill>
                  <a:srgbClr val="5B6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96.4</c:v>
                </c:pt>
                <c:pt idx="1">
                  <c:v>97.71</c:v>
                </c:pt>
                <c:pt idx="2">
                  <c:v>98.13</c:v>
                </c:pt>
                <c:pt idx="3">
                  <c:v>98.53</c:v>
                </c:pt>
                <c:pt idx="4">
                  <c:v>98.68</c:v>
                </c:pt>
                <c:pt idx="5">
                  <c:v>98.82</c:v>
                </c:pt>
                <c:pt idx="6">
                  <c:v>98.83</c:v>
                </c:pt>
                <c:pt idx="7">
                  <c:v>98.84</c:v>
                </c:pt>
                <c:pt idx="8">
                  <c:v>98.92</c:v>
                </c:pt>
                <c:pt idx="9">
                  <c:v>98.94</c:v>
                </c:pt>
                <c:pt idx="10">
                  <c:v>98.96</c:v>
                </c:pt>
                <c:pt idx="11">
                  <c:v>98.98</c:v>
                </c:pt>
                <c:pt idx="12">
                  <c:v>99.02</c:v>
                </c:pt>
                <c:pt idx="13">
                  <c:v>99.08</c:v>
                </c:pt>
                <c:pt idx="14">
                  <c:v>99.11</c:v>
                </c:pt>
                <c:pt idx="15">
                  <c:v>99.15</c:v>
                </c:pt>
                <c:pt idx="16">
                  <c:v>99.17</c:v>
                </c:pt>
                <c:pt idx="17">
                  <c:v>99.17</c:v>
                </c:pt>
                <c:pt idx="18">
                  <c:v>99.18</c:v>
                </c:pt>
                <c:pt idx="19">
                  <c:v>99.2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BIZ UDPGothic"/>
                    <a:ea typeface="BIZ UDPGothic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BIZ UDPGothic"/>
                    <a:ea typeface="BIZ UDPGothic"/>
                  </a:rPr>
                  <a:t>エポック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9.5"/>
          <c:min val="96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BIZ UDPGothic"/>
                    <a:ea typeface="BIZ UDPGothic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BIZ UDPGothic"/>
                    <a:ea typeface="BIZ UDPGothic"/>
                  </a:rPr>
                  <a:t>テスト認識率 [%]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MLP（CNN なし）</c:v>
                </c:pt>
              </c:strCache>
            </c:strRef>
          </c:tx>
          <c:spPr>
            <a:solidFill>
              <a:srgbClr val="5B6577"/>
            </a:solidFill>
            <a:ln w="31750" cap="flat">
              <a:solidFill>
                <a:srgbClr val="5B6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B6577"/>
              </a:solidFill>
              <a:ln w="9525" cap="flat">
                <a:solidFill>
                  <a:srgbClr val="5B6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94.73</c:v>
                </c:pt>
                <c:pt idx="1">
                  <c:v>96.15</c:v>
                </c:pt>
                <c:pt idx="2">
                  <c:v>96.76</c:v>
                </c:pt>
                <c:pt idx="3">
                  <c:v>97.3</c:v>
                </c:pt>
                <c:pt idx="4">
                  <c:v>97.49</c:v>
                </c:pt>
                <c:pt idx="5">
                  <c:v>97.64</c:v>
                </c:pt>
                <c:pt idx="6">
                  <c:v>97.74</c:v>
                </c:pt>
                <c:pt idx="7">
                  <c:v>97.89</c:v>
                </c:pt>
                <c:pt idx="8">
                  <c:v>97.92</c:v>
                </c:pt>
                <c:pt idx="9">
                  <c:v>98</c:v>
                </c:pt>
                <c:pt idx="10">
                  <c:v>98</c:v>
                </c:pt>
                <c:pt idx="11">
                  <c:v>98.05</c:v>
                </c:pt>
                <c:pt idx="12">
                  <c:v>98.08</c:v>
                </c:pt>
                <c:pt idx="13">
                  <c:v>98.09</c:v>
                </c:pt>
                <c:pt idx="14">
                  <c:v>98.11</c:v>
                </c:pt>
                <c:pt idx="15">
                  <c:v>98.13</c:v>
                </c:pt>
                <c:pt idx="16">
                  <c:v>98.15</c:v>
                </c:pt>
                <c:pt idx="17">
                  <c:v>98.2</c:v>
                </c:pt>
                <c:pt idx="18">
                  <c:v>98.18</c:v>
                </c:pt>
                <c:pt idx="19">
                  <c:v>98.17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LeNet-5 型 CNN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94.93</c:v>
                </c:pt>
                <c:pt idx="1">
                  <c:v>97.04</c:v>
                </c:pt>
                <c:pt idx="2">
                  <c:v>97.53</c:v>
                </c:pt>
                <c:pt idx="3">
                  <c:v>97.8</c:v>
                </c:pt>
                <c:pt idx="4">
                  <c:v>98.02</c:v>
                </c:pt>
                <c:pt idx="5">
                  <c:v>98.17</c:v>
                </c:pt>
                <c:pt idx="6">
                  <c:v>98.32</c:v>
                </c:pt>
                <c:pt idx="7">
                  <c:v>98.29</c:v>
                </c:pt>
                <c:pt idx="8">
                  <c:v>98.31</c:v>
                </c:pt>
                <c:pt idx="9">
                  <c:v>98.17</c:v>
                </c:pt>
                <c:pt idx="10">
                  <c:v>98.2</c:v>
                </c:pt>
                <c:pt idx="11">
                  <c:v>98.03</c:v>
                </c:pt>
                <c:pt idx="12">
                  <c:v>98.3</c:v>
                </c:pt>
                <c:pt idx="13">
                  <c:v>98.05</c:v>
                </c:pt>
                <c:pt idx="14">
                  <c:v>98.36</c:v>
                </c:pt>
                <c:pt idx="15">
                  <c:v>98.16</c:v>
                </c:pt>
                <c:pt idx="16">
                  <c:v>98.47</c:v>
                </c:pt>
                <c:pt idx="17">
                  <c:v>98.22</c:v>
                </c:pt>
                <c:pt idx="18">
                  <c:v>98.53</c:v>
                </c:pt>
                <c:pt idx="19">
                  <c:v>98.5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CNN（20/50ch）</c:v>
                </c:pt>
              </c:strCache>
            </c:strRef>
          </c:tx>
          <c:spPr>
            <a:solidFill>
              <a:srgbClr val="3A6EA5"/>
            </a:solidFill>
            <a:ln w="31750" cap="flat">
              <a:solidFill>
                <a:srgbClr val="3A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97.53</c:v>
                </c:pt>
                <c:pt idx="1">
                  <c:v>98.36</c:v>
                </c:pt>
                <c:pt idx="2">
                  <c:v>98.67</c:v>
                </c:pt>
                <c:pt idx="3">
                  <c:v>98.9</c:v>
                </c:pt>
                <c:pt idx="4">
                  <c:v>98.96</c:v>
                </c:pt>
                <c:pt idx="5">
                  <c:v>98.99</c:v>
                </c:pt>
                <c:pt idx="6">
                  <c:v>99.04</c:v>
                </c:pt>
                <c:pt idx="7">
                  <c:v>99.09</c:v>
                </c:pt>
                <c:pt idx="8">
                  <c:v>99.05</c:v>
                </c:pt>
                <c:pt idx="9">
                  <c:v>99.11</c:v>
                </c:pt>
                <c:pt idx="10">
                  <c:v>99.14</c:v>
                </c:pt>
                <c:pt idx="11">
                  <c:v>99.22</c:v>
                </c:pt>
                <c:pt idx="12">
                  <c:v>99.19</c:v>
                </c:pt>
                <c:pt idx="13">
                  <c:v>99.19</c:v>
                </c:pt>
                <c:pt idx="14">
                  <c:v>99.14</c:v>
                </c:pt>
                <c:pt idx="15">
                  <c:v>99.17</c:v>
                </c:pt>
                <c:pt idx="16">
                  <c:v>99.16</c:v>
                </c:pt>
                <c:pt idx="17">
                  <c:v>99.14</c:v>
                </c:pt>
                <c:pt idx="18">
                  <c:v>99.16</c:v>
                </c:pt>
                <c:pt idx="19">
                  <c:v>99.17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BIZ UDPGothic"/>
                    <a:ea typeface="BIZ UDPGothic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BIZ UDPGothic"/>
                    <a:ea typeface="BIZ UDPGothic"/>
                  </a:rPr>
                  <a:t>エポック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4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BIZ UDPGothic"/>
                    <a:ea typeface="BIZ UDPGothic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BIZ UDPGothic"/>
                    <a:ea typeface="BIZ UDPGothic"/>
                  </a:rPr>
                  <a:t>テスト認識率 [%]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数字ごとのテスト認識率 [%]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5B6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98.78</c:v>
                </c:pt>
                <c:pt idx="1">
                  <c:v>98.94</c:v>
                </c:pt>
                <c:pt idx="2">
                  <c:v>98.26</c:v>
                </c:pt>
                <c:pt idx="3">
                  <c:v>97.33</c:v>
                </c:pt>
                <c:pt idx="4">
                  <c:v>98.07</c:v>
                </c:pt>
                <c:pt idx="5">
                  <c:v>97.65</c:v>
                </c:pt>
                <c:pt idx="6">
                  <c:v>98.33</c:v>
                </c:pt>
                <c:pt idx="7">
                  <c:v>98.25</c:v>
                </c:pt>
                <c:pt idx="8">
                  <c:v>97.74</c:v>
                </c:pt>
                <c:pt idx="9">
                  <c:v>98.22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99.59</c:v>
                </c:pt>
                <c:pt idx="1">
                  <c:v>99.47</c:v>
                </c:pt>
                <c:pt idx="2">
                  <c:v>99.61</c:v>
                </c:pt>
                <c:pt idx="3">
                  <c:v>99.21</c:v>
                </c:pt>
                <c:pt idx="4">
                  <c:v>99.08</c:v>
                </c:pt>
                <c:pt idx="5">
                  <c:v>98.65</c:v>
                </c:pt>
                <c:pt idx="6">
                  <c:v>98.96</c:v>
                </c:pt>
                <c:pt idx="7">
                  <c:v>99.22</c:v>
                </c:pt>
                <c:pt idx="8">
                  <c:v>98.97</c:v>
                </c:pt>
                <c:pt idx="9">
                  <c:v>98.81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6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1 エポック [s]（対数）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MLP（CNN なし）</c:v>
                </c:pt>
              </c:strCache>
            </c:strRef>
          </c:tx>
          <c:spPr>
            <a:solidFill>
              <a:srgbClr val="5B6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GPU FP32</c:v>
                  </c:pt>
                  <c:pt idx="1">
                    <c:v>GPU FP64</c:v>
                  </c:pt>
                  <c:pt idx="2">
                    <c:v>CPU FP32</c:v>
                  </c:pt>
                  <c:pt idx="3">
                    <c:v>CPU FP64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0.099</c:v>
                </c:pt>
                <c:pt idx="1">
                  <c:v>1.43</c:v>
                </c:pt>
                <c:pt idx="2">
                  <c:v>4.25</c:v>
                </c:pt>
                <c:pt idx="3">
                  <c:v>7.55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LeNet-5 型 CNN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GPU FP32</c:v>
                  </c:pt>
                  <c:pt idx="1">
                    <c:v>GPU FP64</c:v>
                  </c:pt>
                  <c:pt idx="2">
                    <c:v>CPU FP32</c:v>
                  </c:pt>
                  <c:pt idx="3">
                    <c:v>CPU FP64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0.26</c:v>
                </c:pt>
                <c:pt idx="1">
                  <c:v>0.885</c:v>
                </c:pt>
                <c:pt idx="2">
                  <c:v>12.185</c:v>
                </c:pt>
                <c:pt idx="3">
                  <c:v>14.764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CNN（20/50ch）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GPU FP32</c:v>
                  </c:pt>
                  <c:pt idx="1">
                    <c:v>GPU FP64</c:v>
                  </c:pt>
                  <c:pt idx="2">
                    <c:v>CPU FP32</c:v>
                  </c:pt>
                  <c:pt idx="3">
                    <c:v>CPU FP64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0.426</c:v>
                </c:pt>
                <c:pt idx="1">
                  <c:v>3.611</c:v>
                </c:pt>
                <c:pt idx="2">
                  <c:v>28.967</c:v>
                </c:pt>
                <c:pt idx="3">
                  <c:v>35.801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"/>
          <c:min val="0.01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GPU FP32 [ms / エポック]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順伝播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conv 5×5 20ch</c:v>
                  </c:pt>
                  <c:pt idx="1">
                    <c:v>relu 1</c:v>
                  </c:pt>
                  <c:pt idx="2">
                    <c:v>pool 1</c:v>
                  </c:pt>
                  <c:pt idx="3">
                    <c:v>conv 5×5 50ch</c:v>
                  </c:pt>
                  <c:pt idx="4">
                    <c:v>relu 2</c:v>
                  </c:pt>
                  <c:pt idx="5">
                    <c:v>pool 2</c:v>
                  </c:pt>
                  <c:pt idx="6">
                    <c:v>全結合 500</c:v>
                  </c:pt>
                  <c:pt idx="7">
                    <c:v>relu 3</c:v>
                  </c:pt>
                  <c:pt idx="8">
                    <c:v>全結合 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49</c:v>
                </c:pt>
                <c:pt idx="1">
                  <c:v>16.7</c:v>
                </c:pt>
                <c:pt idx="2">
                  <c:v>10.1</c:v>
                </c:pt>
                <c:pt idx="3">
                  <c:v>76.6</c:v>
                </c:pt>
                <c:pt idx="4">
                  <c:v>5.5</c:v>
                </c:pt>
                <c:pt idx="5">
                  <c:v>5.5</c:v>
                </c:pt>
                <c:pt idx="6">
                  <c:v>15.8</c:v>
                </c:pt>
                <c:pt idx="7">
                  <c:v>2.7</c:v>
                </c:pt>
                <c:pt idx="8">
                  <c:v>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逆伝播＋更新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conv 5×5 20ch</c:v>
                  </c:pt>
                  <c:pt idx="1">
                    <c:v>relu 1</c:v>
                  </c:pt>
                  <c:pt idx="2">
                    <c:v>pool 1</c:v>
                  </c:pt>
                  <c:pt idx="3">
                    <c:v>conv 5×5 50ch</c:v>
                  </c:pt>
                  <c:pt idx="4">
                    <c:v>relu 2</c:v>
                  </c:pt>
                  <c:pt idx="5">
                    <c:v>pool 2</c:v>
                  </c:pt>
                  <c:pt idx="6">
                    <c:v>全結合 500</c:v>
                  </c:pt>
                  <c:pt idx="7">
                    <c:v>relu 3</c:v>
                  </c:pt>
                  <c:pt idx="8">
                    <c:v>全結合 10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37.9</c:v>
                </c:pt>
                <c:pt idx="1">
                  <c:v>27.2</c:v>
                </c:pt>
                <c:pt idx="2">
                  <c:v>22</c:v>
                </c:pt>
                <c:pt idx="3">
                  <c:v>137.9</c:v>
                </c:pt>
                <c:pt idx="4">
                  <c:v>5.8</c:v>
                </c:pt>
                <c:pt idx="5">
                  <c:v>8.1</c:v>
                </c:pt>
                <c:pt idx="6">
                  <c:v>18.6</c:v>
                </c:pt>
                <c:pt idx="7">
                  <c:v>2.6</c:v>
                </c:pt>
                <c:pt idx="8">
                  <c:v>11.8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CPU FP32 [s / エポック]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順伝播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conv 5×5 20ch</c:v>
                  </c:pt>
                  <c:pt idx="1">
                    <c:v>relu 1</c:v>
                  </c:pt>
                  <c:pt idx="2">
                    <c:v>pool 1</c:v>
                  </c:pt>
                  <c:pt idx="3">
                    <c:v>conv 5×5 50ch</c:v>
                  </c:pt>
                  <c:pt idx="4">
                    <c:v>relu 2</c:v>
                  </c:pt>
                  <c:pt idx="5">
                    <c:v>pool 2</c:v>
                  </c:pt>
                  <c:pt idx="6">
                    <c:v>全結合 500</c:v>
                  </c:pt>
                  <c:pt idx="7">
                    <c:v>relu 3</c:v>
                  </c:pt>
                  <c:pt idx="8">
                    <c:v>全結合 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5.7</c:v>
                </c:pt>
                <c:pt idx="1">
                  <c:v>0.31</c:v>
                </c:pt>
                <c:pt idx="2">
                  <c:v>0.69</c:v>
                </c:pt>
                <c:pt idx="3">
                  <c:v>10.7</c:v>
                </c:pt>
                <c:pt idx="4">
                  <c:v>0.09</c:v>
                </c:pt>
                <c:pt idx="5">
                  <c:v>0.17</c:v>
                </c:pt>
                <c:pt idx="6">
                  <c:v>0.53</c:v>
                </c:pt>
                <c:pt idx="7">
                  <c:v>0.02</c:v>
                </c:pt>
                <c:pt idx="8">
                  <c:v>0.04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逆伝播＋更新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conv 5×5 20ch</c:v>
                  </c:pt>
                  <c:pt idx="1">
                    <c:v>relu 1</c:v>
                  </c:pt>
                  <c:pt idx="2">
                    <c:v>pool 1</c:v>
                  </c:pt>
                  <c:pt idx="3">
                    <c:v>conv 5×5 50ch</c:v>
                  </c:pt>
                  <c:pt idx="4">
                    <c:v>relu 2</c:v>
                  </c:pt>
                  <c:pt idx="5">
                    <c:v>pool 2</c:v>
                  </c:pt>
                  <c:pt idx="6">
                    <c:v>全結合 500</c:v>
                  </c:pt>
                  <c:pt idx="7">
                    <c:v>relu 3</c:v>
                  </c:pt>
                  <c:pt idx="8">
                    <c:v>全結合 10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2.65</c:v>
                </c:pt>
                <c:pt idx="1">
                  <c:v>0.55</c:v>
                </c:pt>
                <c:pt idx="2">
                  <c:v>0.43</c:v>
                </c:pt>
                <c:pt idx="3">
                  <c:v>5.67</c:v>
                </c:pt>
                <c:pt idx="4">
                  <c:v>0.26</c:v>
                </c:pt>
                <c:pt idx="5">
                  <c:v>0.2</c:v>
                </c:pt>
                <c:pt idx="6">
                  <c:v>0.78</c:v>
                </c:pt>
                <c:pt idx="7">
                  <c:v>0.07</c:v>
                </c:pt>
                <c:pt idx="8">
                  <c:v>0.08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  <a:ea typeface="BIZ UDPGothic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  <a:ea typeface="BIZ UDPGothic"/>
              </a:rPr>
              <a:t>GPU FP32 1 エポック [s] vs バッチサイズ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5B6577"/>
            </a:solidFill>
            <a:ln w="31750" cap="flat">
              <a:solidFill>
                <a:srgbClr val="5B6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577"/>
              </a:solidFill>
              <a:ln w="9525" cap="flat">
                <a:solidFill>
                  <a:srgbClr val="5B6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500</c:v>
                  </c:pt>
                  <c:pt idx="4">
                    <c:v>1000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0.206</c:v>
                </c:pt>
                <c:pt idx="1">
                  <c:v>0.142</c:v>
                </c:pt>
                <c:pt idx="2">
                  <c:v>0.1</c:v>
                </c:pt>
                <c:pt idx="3">
                  <c:v>0.069</c:v>
                </c:pt>
                <c:pt idx="4">
                  <c:v>0.059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3A6EA5"/>
            </a:solidFill>
            <a:ln w="31750" cap="flat">
              <a:solidFill>
                <a:srgbClr val="3A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ea typeface="BIZ UDP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500</c:v>
                  </c:pt>
                  <c:pt idx="4">
                    <c:v>1000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0.564</c:v>
                </c:pt>
                <c:pt idx="1">
                  <c:v>0.465</c:v>
                </c:pt>
                <c:pt idx="2">
                  <c:v>0.461</c:v>
                </c:pt>
                <c:pt idx="3">
                  <c:v>0.517</c:v>
                </c:pt>
                <c:pt idx="4">
                  <c:v>0.526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ea typeface="BIZ UDP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  <a:ea typeface="BIZ UDP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ea typeface="BIZ UDPGothic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同じ学習条件: SGD, 学習率 0.001（勾配はバッチ和）, バッチ 200, 20 エポック, 初期値 U(−0.08, 0.08)。GPU は FP32。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カーネルという言葉は、畳み込みの重み（このページ）と GPU で動くプログラム（計算機のページ）の2つの意味で使われる。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本実装の値: バッチ 200, 学習率 0.001, 20 エポック → 300 回 × 20 = 6,000 回の更新。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FLOP（演算数）と FLOPS（1 秒あたりの演算数）は別のもの。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このスライド群の時間はすべて「GPU の処理を待ってから測った壁時計時間（単調時計）」。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図は学習後の CNN の第 1 層のカーネルの 1 つ。数字 6 の横向きの筆跡の上側の縁で強く反応している。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pooling は重みを持たない。ReLU の前後どちらに置いても結果は同じ（最大値と max(0, ·) は順番を入れ替えられる）。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LeNet は Yann LeCun（ルカン）らが Bell 研究所で作った CNN の系列。LeNet-1（1989, 郵便番号の読み取り）から始まり、LeNet-5 は MNIST の原論文（Proc. IEEE, 1998）で発表された。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上: 第 1 層の 20 個のカーネル（赤 = 正、青 = 負）。中: 数字 6 を入れたときの第 1 層の 20 枚の特徴マップ。下: 第 2 層の 50 枚のうち 20 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テスト画像全体を左右にずらして認識させた（学習はずらしていない画像のまま）。回転は画像の中心まわり。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784 画素の並びを固定の乱順に入れ替えたデータで学習・テストした（学習もテストも同じ入れ替え）。初期値は両方とも U(−0.08, 0.08) の同じ乱数列。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nn.l の :train-batch と同じ。1 回の更新はバッチ 200 枚をまとめて行列で計算する。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ΔW = δᵀ z を 1 要素ずつ書くと右の式になる。行列積はこれを全要素まとめて計算している。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全体の流れは MLP と同じ（順伝播で値を覚える → 出力の誤差 → 下へ逆伝播 → 勾配で更新）。層の種類ごとに誤差の戻し方が違う。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記号: n = 画像, (oy, ox) = 出力の位置, (ky, kx) = カーネル内の位置, c = 入力チャネル, co = 出力チャネル（= カーネルの番号）。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学習後の CNN にテスト #0（6）を入れ、第 1 層のカーネル 8 の勾配を自動微分で求めた。手計算（右の式）と 1×10⁻²⁶ 以下の差で一致。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CNN（20/50ch）の第 1 層の 20 個のカーネル（5×5）を、学習前と 1・5・20 エポック後に取り出した。色の範囲は 20 エポック後に合わせてある（赤 = 正、青 = 負）。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類似度 = 2 つのカーネルを 25 次元のベクトルとみたときのコサイン（1 = 同じ形、−1 = 白黒反転した形、0 = 無関係）。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初期値（乱数）のカーネルに固定し、残りの層だけを学習した（各バッチの更新後に固定した層を初期値に戻す）。同じ初期値・同じ条件で 20 エポック。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基準は CNN（20/50ch, 5×5, pool 2 回, 全結合 500）。それ以外の条件は同じ。時間は GPU FP32 の 1 エポック（テストの評価を除く）。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数字は前のスライドの表から。差が 0.1 ポイント程度のものは、乱数の違いで入れ替わりうる範囲。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CNN（20/50ch）で学習率またはバッチサイズだけを変えた。勾配はバッチ和なので、バッチを変えると 1 枚あたりの学習率は同じで更新回数が変わる。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MLP は nn.l と同じ初期値（乱数の初期状態から作った 784-1000-1000-10）。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誤りの重なり: テスト 10,000 枚のうち、それぞれのモデルが間違えた画像の集合を比べた。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上: MLP は誤り CNN は正解した 129 枚のうち 24 枚（赤 = MLP の答え、青 = CNN の答え = 正解）。下: CNN の誤り（正解→予測）。白黒反転して表示。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は 3 回の最小、CPU は 1 回。参考の PyTorch（cuDNN）は同じ構成・同じ SGD をデータを GPU に置いて実行したもの。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CNN（20/50ch）を 1 エポック学習したときの層ごとの時間（同期してから単調時計で測定。測定のための同期で全体は少し遅くなる）。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推論は学習済みの重みで テスト 10,000 枚（1,000 枚ずつ）を認識した時間。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累積の学習時間（GPU FP32, テストの評価は除く）でテスト認識率を並べた。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前回の比較で最速だった方法 A（defforeign + C 共有ライブラリ）で実装。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既存の nn.l・mlp/ のモデルは変更していない。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MNIST × EusLisp — CNN あり / なしの比較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EET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MNIST × EusLisp に CNN を入れる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認識率と計算時間はどう変わるか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nn.l の全結合ネット（MLP）に畳み込み（CNN）を加えた版を作り、同じ学習条件で認識率と計算時間を比較。CNN の仕組み・パラメータの効果・用語の説明つき</a:t>
            </a: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FA3C8"/>
                </a:solidFill>
              </a:rPr>
              <a:t>計測環境: DGX Spark — NVIDIA GB10 (sm_121, 48 SMs), CUDA 13.0 / cuBLAS, OpenBLAS 0.3.26（CPU は OpenMP 10 + OpenBLAS 10 スレッド）</a:t>
            </a:r>
            <a:endParaRPr lang="en-US" sz="1800" dirty="0"/>
          </a:p>
        </p:txBody>
      </p:sp>
      <p:pic>
        <p:nvPicPr>
          <p:cNvPr id="4" name="title-filters" descr="/tmp/claude-1001/-home-mi-mnist/137a571b-9a80-4a1c-8647-53667b8e1fcb/scratchpad/work/figc/conv1_fil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5486400" cy="1234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</a:rPr>
              <a:t>2026-10-03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概要 — CNN を入れると</a:t>
            </a:r>
            <a:endParaRPr lang="en-US" sz="2800" dirty="0"/>
          </a:p>
        </p:txBody>
      </p:sp>
      <p:sp>
        <p:nvSpPr>
          <p:cNvPr id="4" name="card-1"/>
          <p:cNvSpPr/>
          <p:nvPr/>
        </p:nvSpPr>
        <p:spPr>
          <a:xfrm>
            <a:off x="54864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98.17%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MLP（CNN なし）のテスト認識率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誤り 183 枚</a:t>
            </a:r>
            <a:endParaRPr lang="en-US" sz="1150" dirty="0"/>
          </a:p>
        </p:txBody>
      </p:sp>
      <p:sp>
        <p:nvSpPr>
          <p:cNvPr id="7" name="card-2"/>
          <p:cNvSpPr/>
          <p:nvPr/>
        </p:nvSpPr>
        <p:spPr>
          <a:xfrm>
            <a:off x="338328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6616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99.17%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CNN のテスト認識率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誤り 83 枚（45% に減少）</a:t>
            </a:r>
            <a:endParaRPr lang="en-US" sz="1150" dirty="0"/>
          </a:p>
        </p:txBody>
      </p:sp>
      <p:sp>
        <p:nvSpPr>
          <p:cNvPr id="10" name="card-3"/>
          <p:cNvSpPr/>
          <p:nvPr/>
        </p:nvSpPr>
        <p:spPr>
          <a:xfrm>
            <a:off x="621792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×4.3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1エポックの時間（GPU FP32）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MLP 0.10 秒 → CNN 0.43 秒</a:t>
            </a:r>
            <a:endParaRPr lang="en-US" sz="1150" dirty="0"/>
          </a:p>
        </p:txBody>
      </p:sp>
      <p:sp>
        <p:nvSpPr>
          <p:cNvPr id="13" name="card-4"/>
          <p:cNvSpPr/>
          <p:nvPr/>
        </p:nvSpPr>
        <p:spPr>
          <a:xfrm>
            <a:off x="905256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23544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1/4.2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パラメータ数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1.80M → 0.43M</a:t>
            </a:r>
            <a:endParaRPr lang="en-US" sz="1150" dirty="0"/>
          </a:p>
        </p:txBody>
      </p:sp>
      <p:sp>
        <p:nvSpPr>
          <p:cNvPr id="16" name="tile-5"/>
          <p:cNvSpPr txBox="1"/>
          <p:nvPr/>
        </p:nvSpPr>
        <p:spPr>
          <a:xfrm>
            <a:off x="54864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head-6"/>
          <p:cNvSpPr txBox="1"/>
          <p:nvPr/>
        </p:nvSpPr>
        <p:spPr>
          <a:xfrm>
            <a:off x="1051560" y="36118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基本の用語（チャネル・バッチ・エポック・時計 など）</a:t>
            </a:r>
            <a:endParaRPr lang="en-US" sz="1700" dirty="0"/>
          </a:p>
        </p:txBody>
      </p:sp>
      <p:sp>
        <p:nvSpPr>
          <p:cNvPr id="18" name="tile-7"/>
          <p:cNvSpPr txBox="1"/>
          <p:nvPr/>
        </p:nvSpPr>
        <p:spPr>
          <a:xfrm>
            <a:off x="548640" y="4069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head-8"/>
          <p:cNvSpPr txBox="1"/>
          <p:nvPr/>
        </p:nvSpPr>
        <p:spPr>
          <a:xfrm>
            <a:off x="1051560" y="40690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CNN の働き・LeNet・MLP との違い</a:t>
            </a:r>
            <a:endParaRPr lang="en-US" sz="1700" dirty="0"/>
          </a:p>
        </p:txBody>
      </p:sp>
      <p:sp>
        <p:nvSpPr>
          <p:cNvPr id="20" name="tile-9"/>
          <p:cNvSpPr txBox="1"/>
          <p:nvPr/>
        </p:nvSpPr>
        <p:spPr>
          <a:xfrm>
            <a:off x="548640" y="4526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head-10"/>
          <p:cNvSpPr txBox="1"/>
          <p:nvPr/>
        </p:nvSpPr>
        <p:spPr>
          <a:xfrm>
            <a:off x="1051560" y="45262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学習のしくみ（逆伝播・カーネルの変化）</a:t>
            </a:r>
            <a:endParaRPr lang="en-US" sz="1700" dirty="0"/>
          </a:p>
        </p:txBody>
      </p:sp>
      <p:sp>
        <p:nvSpPr>
          <p:cNvPr id="22" name="tile-11"/>
          <p:cNvSpPr txBox="1"/>
          <p:nvPr/>
        </p:nvSpPr>
        <p:spPr>
          <a:xfrm>
            <a:off x="548640" y="49834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head-12"/>
          <p:cNvSpPr txBox="1"/>
          <p:nvPr/>
        </p:nvSpPr>
        <p:spPr>
          <a:xfrm>
            <a:off x="1051560" y="49834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パラメータを変えるとどう変わるか</a:t>
            </a:r>
            <a:endParaRPr lang="en-US" sz="1700" dirty="0"/>
          </a:p>
        </p:txBody>
      </p:sp>
      <p:sp>
        <p:nvSpPr>
          <p:cNvPr id="24" name="tile-13"/>
          <p:cNvSpPr txBox="1"/>
          <p:nvPr/>
        </p:nvSpPr>
        <p:spPr>
          <a:xfrm>
            <a:off x="6309360" y="3611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head-14"/>
          <p:cNvSpPr txBox="1"/>
          <p:nvPr/>
        </p:nvSpPr>
        <p:spPr>
          <a:xfrm>
            <a:off x="6812280" y="36118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認識率の比較</a:t>
            </a:r>
            <a:endParaRPr lang="en-US" sz="1700" dirty="0"/>
          </a:p>
        </p:txBody>
      </p:sp>
      <p:sp>
        <p:nvSpPr>
          <p:cNvPr id="26" name="tile-15"/>
          <p:cNvSpPr txBox="1"/>
          <p:nvPr/>
        </p:nvSpPr>
        <p:spPr>
          <a:xfrm>
            <a:off x="6309360" y="4069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head-16"/>
          <p:cNvSpPr txBox="1"/>
          <p:nvPr/>
        </p:nvSpPr>
        <p:spPr>
          <a:xfrm>
            <a:off x="6812280" y="40690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計算時間の比較</a:t>
            </a:r>
            <a:endParaRPr lang="en-US" sz="1700" dirty="0"/>
          </a:p>
        </p:txBody>
      </p:sp>
      <p:sp>
        <p:nvSpPr>
          <p:cNvPr id="28" name="tile-17"/>
          <p:cNvSpPr txBox="1"/>
          <p:nvPr/>
        </p:nvSpPr>
        <p:spPr>
          <a:xfrm>
            <a:off x="6309360" y="45262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9" name="head-18"/>
          <p:cNvSpPr txBox="1"/>
          <p:nvPr/>
        </p:nvSpPr>
        <p:spPr>
          <a:xfrm>
            <a:off x="6812280" y="45262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実装と使い方</a:t>
            </a:r>
            <a:endParaRPr lang="en-US" sz="1700" dirty="0"/>
          </a:p>
        </p:txBody>
      </p:sp>
      <p:sp>
        <p:nvSpPr>
          <p:cNvPr id="30" name="text-19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6"/>
                </a:solidFill>
              </a:rPr>
              <a:t>CNN は MLP の約 1.3 倍の計算量で、誤りが半分以下になる。98% に届くまでの時間は CNN の方が短い（CNN 0.9 秒 / MLP 1.3 秒）。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基本の用語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ネットワークの形・学習の進め方・計算機・時間の測り方の言葉</a:t>
            </a:r>
            <a:endParaRPr lang="en-US" sz="1600" dirty="0"/>
          </a:p>
        </p:txBody>
      </p:sp>
      <p:sp>
        <p:nvSpPr>
          <p:cNvPr id="4" name="tile-20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用語（1）ネットワークの形</a:t>
            </a:r>
            <a:endParaRPr lang="en-US" sz="2800" dirty="0"/>
          </a:p>
        </p:txBody>
      </p:sp>
      <p:graphicFrame>
        <p:nvGraphicFramePr>
          <p:cNvPr id="5" name="table-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846320"/>
                <a:gridCol w="41148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用語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意味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なぜあるか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層（レイヤー）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入力に決まった計算をして次へ渡す1段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簡単な変換を重ねて複雑な判断を作る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全結合（FC, MLP）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全入力と全出力を重みでつなぐ層。MLP はこれだけの多層ネット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どんな入出力の関係も表せる汎用の部品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畳み込み（conv）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小さな重みの窓を画像の上でずらしながら掛け合わせる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近くの画素どうしの形（線・角）を見つける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カーネル / フィルタ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畳み込みの重みの窓（5×5 など）。学習で値が決まる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1つのカーネルが1種類の形を見つける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カーネルサイズ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窓の大きさ（3×3, 5×5, 7×7）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一度に見る範囲。大きいほど広い形を見る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チャネル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1つの位置が持つ値の個数。入力は濃淡の1チャネル、畳み込みの出力はカーネルの数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何種類の形を同時に調べるか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特徴マップ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1つのカーネルの出力（どこにその形があるかの地図）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次の層はこの地図の組合せを見る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プーリング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2×2 の範囲の最大値を取り、縦横を半分にする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大きさを減らし、少しの位置ずれを吸収する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ストライド / パディング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窓をずらす幅 / 画像の周りに 0 を足すこと（本実装は 1 / なし）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出力の大きさを調整する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ReLU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負の値を 0 にする関数 max(0, u)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非線形にして層を重ねる意味を持たせる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Softmax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10 個の出力を合計 1 の確率にする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どの数字かを確率として表す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用語（2）学習の進め方</a:t>
            </a:r>
            <a:endParaRPr lang="en-US" sz="2800" dirty="0"/>
          </a:p>
        </p:txBody>
      </p:sp>
      <p:graphicFrame>
        <p:nvGraphicFramePr>
          <p:cNvPr id="6" name="table-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480560"/>
                <a:gridCol w="39319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用語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意味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なぜあるか / 本実装の値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パラメータ（重み・バイアス）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学習で変える数。W（掛ける）と b（足す）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MLP 180 万個、CNN 43 万個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損失（交差エントロピー）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正解の確率 p に対する −log p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小さくするほど正解に自信を持つ。学習の目標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勾配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損失をパラメータで微分した値（どちらに動かせば損失が減るか）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誤差逆伝播法で全パラメータの勾配を一度に求める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学習率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 回の更新で勾配の何倍動かすか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大きいと速いが不安定、小さいと遅い。0.001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バッチ（ミニバッチ）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 回の更新に使う画像の束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 枚ずつより勾配が安定し、行列計算でまとめて速く計算できる。200 枚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イテレーション（更新）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 バッチ分の学習（順伝播→逆伝播→更新）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60,000 / 200 = 300 回で 1 エポック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エポック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学習データ全部を 1 回ずつ使い切る単位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何周学習したかの目安。20 エポック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過学習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学習データだけに合いすぎて新しいデータで間違える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テストデータで確かめる理由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学習データ / テストデータ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学習に使う 60,000 枚 / 性能を測るだけの 10,000 枚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見たことのない字で正しく読めるかを測る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用語（3）計算機まわり</a:t>
            </a:r>
            <a:endParaRPr lang="en-US" sz="2800" dirty="0"/>
          </a:p>
        </p:txBody>
      </p:sp>
      <p:graphicFrame>
        <p:nvGraphicFramePr>
          <p:cNvPr id="7" name="table-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66344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用語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意味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なぜあるか / 本実装では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CPU / GPU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汎用の演算装置 / 同じ計算を数千並列で行う装置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行列計算は GPU が得意。GB10 は 48 SM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スレッド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同時に動く処理の流れ。CPU は 20 コア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多すぎると取り合いで遅くなる（OpenMP 10 + BLAS 10 が最速だった）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FP64 / FP32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倍精度（64bit）/ 単精度（32bit）の浮動小数点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EusLisp の float は FP64。GB10 は FP32 が約 40 倍速い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FLOP / FLOPS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演算の回数 / 1 秒あたりの演算回数（TFLOPS = 10¹² 回/秒）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MLP 1 枚 3.6 MFLOP、CNN 1 枚 4.6 MFLOP（順伝播）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BLAS / gemm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行列計算の標準ライブラリ / 行列積 C = αAB + βC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OpenBLAS（CPU）、cuBLAS（GPU）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GPU カーネル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GPU 上で並列に動く関数（畳み込みのカーネルとは別）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ReLU・pooling・im2col などは自作のカーネル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im2col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畳み込みの窓を行列の行に並べ直す方法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畳み込みを gemm 1 回で計算できる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NHWC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画像の並び（枚, 縦, 横, チャネル）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im2col と全結合が自然につながる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時間の測り方 — 壁時計時間と CPU 時間とその他の時計</a:t>
            </a:r>
            <a:endParaRPr lang="en-US" sz="2800" dirty="0"/>
          </a:p>
        </p:txBody>
      </p:sp>
      <p:graphicFrame>
        <p:nvGraphicFramePr>
          <p:cNvPr id="8" name="table-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200400"/>
                <a:gridCol w="2651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時計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何を測るか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取り方（例）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注意点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</a:rPr>
                        <a:t>壁時計時間 (wall-clock)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開始から終了までの実際の経過時間。人が待つ時間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unix:gettimeofday, clock_gettime(CLOCK_REALTIME), time の real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他のプロセスの負荷でも伸びる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単調時計 (monotonic)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壁時計と同じく経過時間。ただし時刻合わせで戻らない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CLOCK_MONOTONIC, std::chrono::steady_clock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区間の計測に最適（cudacnn.cu の層ごとの計測）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CPU 時間（プロセス）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CPU が実際に働いた時間の合計。全スレッドの合計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unix:runtime（1/100 秒単位）, time の user+sys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20 スレッドなら壁時計の最大 20 倍。nn.l の [sec] はこれ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ユーザー / システム時間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自分のプログラム / OS（メモリ確保・入出力）の CPU 時間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time コマンドの user / sys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待ちスピンもユーザー時間に入る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スレッド CPU 時間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 つのスレッドの CPU 時間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CLOCK_THREAD_CPUTIME_ID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並列処理の偏りを見る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GPU 時間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GPU 上での処理時間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cudaEvent, Nsight Systems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GPU は非同期。同期せずに測ると速く見える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25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</a:rPr>
              <a:t>例（前回）: 1 エポックの壁時計 31.9 秒に対し CPU 時間 576 秒。OpenBLAS の 20 スレッドが待ちの間も CPU を使うため、CPU 時間は「かかった時間」ではない。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CNN は何をするか・なぜ MLP より良いか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畳み込み・プーリングの働き、全体の構成、LeNet、MLP との違いを実験で確かめる</a:t>
            </a:r>
            <a:endParaRPr lang="en-US" sz="1600" dirty="0"/>
          </a:p>
        </p:txBody>
      </p:sp>
      <p:sp>
        <p:nvSpPr>
          <p:cNvPr id="4" name="tile-26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畳み込みは何をするか</a:t>
            </a:r>
            <a:endParaRPr lang="en-US" sz="2800" dirty="0"/>
          </a:p>
        </p:txBody>
      </p:sp>
      <p:pic>
        <p:nvPicPr>
          <p:cNvPr id="4" name="conv-illust" descr="/tmp/claude-1001/-home-mi-mnist/137a571b-9a80-4a1c-8647-53667b8e1fcb/scratchpad/work/figc/conv_ill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949440" cy="2548128"/>
          </a:xfrm>
          <a:prstGeom prst="rect">
            <a:avLst/>
          </a:prstGeom>
        </p:spPr>
      </p:pic>
      <p:sp>
        <p:nvSpPr>
          <p:cNvPr id="5" name="bullets-27"/>
          <p:cNvSpPr txBox="1"/>
          <p:nvPr/>
        </p:nvSpPr>
        <p:spPr>
          <a:xfrm>
            <a:off x="548640" y="397764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5×5 の窓（カーネル）を 1 画素ずつずらし、窓の中の画素とカーネルの重みを掛けて足す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窓の中の形がカーネルの模様に似ているほど大きな値になる → 「どこにその形があるか」の地図（特徴マップ）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同じカーネルを画像のどこでも使う（重み共有）→ 場所が変わっても同じ形を見つけられ、重みも 25 個で済む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カーネルを 20 個使えば 20 種類の形を調べられる（出力 20 チャネル）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2 層目は 1 層目の 20 枚の地図を組み合わせて、より大きな部品（曲線・交差・輪）を見る</a:t>
            </a:r>
            <a:endParaRPr lang="en-US" sz="1250" dirty="0"/>
          </a:p>
        </p:txBody>
      </p:sp>
      <p:sp>
        <p:nvSpPr>
          <p:cNvPr id="6" name="tile-28"/>
          <p:cNvSpPr txBox="1"/>
          <p:nvPr/>
        </p:nvSpPr>
        <p:spPr>
          <a:xfrm>
            <a:off x="7772400" y="1280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≡</a:t>
            </a:r>
            <a:endParaRPr lang="en-US" sz="1300" dirty="0"/>
          </a:p>
        </p:txBody>
      </p:sp>
      <p:sp>
        <p:nvSpPr>
          <p:cNvPr id="7" name="head-29"/>
          <p:cNvSpPr txBox="1"/>
          <p:nvPr/>
        </p:nvSpPr>
        <p:spPr>
          <a:xfrm>
            <a:off x="8275320" y="12801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計算は行列積にできる（im2col）</a:t>
            </a:r>
            <a:endParaRPr lang="en-US" sz="1700" dirty="0"/>
          </a:p>
        </p:txBody>
      </p:sp>
      <p:sp>
        <p:nvSpPr>
          <p:cNvPr id="8" name="bullets-30"/>
          <p:cNvSpPr txBox="1"/>
          <p:nvPr/>
        </p:nvSpPr>
        <p:spPr>
          <a:xfrm>
            <a:off x="7772400" y="17830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窓の中の 25 画素を 1 行に並べた行列（576 行 × 25 列 / 1 枚）を作る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それにカーネル（20 × 25）を掛ければ 20 枚の特徴マップが一度に出る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逆伝播も行列積 2 回（重みの勾配・入力の勾配）</a:t>
            </a:r>
            <a:endParaRPr lang="en-US" sz="1250" dirty="0"/>
          </a:p>
        </p:txBody>
      </p:sp>
      <p:sp>
        <p:nvSpPr>
          <p:cNvPr id="9" name="tile-31"/>
          <p:cNvSpPr txBox="1"/>
          <p:nvPr/>
        </p:nvSpPr>
        <p:spPr>
          <a:xfrm>
            <a:off x="7772400" y="41148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</a:t>
            </a:r>
            <a:endParaRPr lang="en-US" sz="1300" dirty="0"/>
          </a:p>
        </p:txBody>
      </p:sp>
      <p:sp>
        <p:nvSpPr>
          <p:cNvPr id="10" name="head-32"/>
          <p:cNvSpPr txBox="1"/>
          <p:nvPr/>
        </p:nvSpPr>
        <p:spPr>
          <a:xfrm>
            <a:off x="8275320" y="41148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MLP との違い</a:t>
            </a:r>
            <a:endParaRPr lang="en-US" sz="1700" dirty="0"/>
          </a:p>
        </p:txBody>
      </p:sp>
      <p:sp>
        <p:nvSpPr>
          <p:cNvPr id="11" name="text-33"/>
          <p:cNvSpPr txBox="1"/>
          <p:nvPr/>
        </p:nvSpPr>
        <p:spPr>
          <a:xfrm>
            <a:off x="7772400" y="46177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MLP の 1 層目は 784 画素すべてに別々の重みを持つ（1,000 ユニット × 784）。画素の並び（どれが隣か）を使わない。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プーリングは何をするか・CNN の全体構成</a:t>
            </a:r>
            <a:endParaRPr lang="en-US" sz="2800" dirty="0"/>
          </a:p>
        </p:txBody>
      </p:sp>
      <p:pic>
        <p:nvPicPr>
          <p:cNvPr id="4" name="pool-illust" descr="/tmp/claude-1001/-home-mi-mnist/137a571b-9a80-4a1c-8647-53667b8e1fcb/scratchpad/work/figc/pool_ill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023360" cy="2092147"/>
          </a:xfrm>
          <a:prstGeom prst="rect">
            <a:avLst/>
          </a:prstGeom>
        </p:spPr>
      </p:pic>
      <p:sp>
        <p:nvSpPr>
          <p:cNvPr id="5" name="bullets-34"/>
          <p:cNvSpPr txBox="1"/>
          <p:nvPr/>
        </p:nvSpPr>
        <p:spPr>
          <a:xfrm>
            <a:off x="548640" y="35204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2×2 の中の最大値だけを残す → 縦横が半分、データは 1/4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 画素くらいずれても最大値は同じ → 位置ずれに強くなる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後ろの層の計算と重みが減る</a:t>
            </a:r>
            <a:endParaRPr lang="en-US" sz="1250" dirty="0"/>
          </a:p>
        </p:txBody>
      </p:sp>
      <p:sp>
        <p:nvSpPr>
          <p:cNvPr id="6" name="Text 2"/>
          <p:cNvSpPr txBox="1"/>
          <p:nvPr/>
        </p:nvSpPr>
        <p:spPr>
          <a:xfrm>
            <a:off x="5029200" y="1234440"/>
            <a:ext cx="2377440" cy="50292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入力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28×28×1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6080760" y="1746504"/>
            <a:ext cx="274320" cy="164592"/>
          </a:xfrm>
          <a:prstGeom prst="downArrow">
            <a:avLst/>
          </a:prstGeom>
          <a:solidFill>
            <a:schemeClr val="tx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029200" y="1920240"/>
            <a:ext cx="237744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conv 5×5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24×24×20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080760" y="2432304"/>
            <a:ext cx="274320" cy="164592"/>
          </a:xfrm>
          <a:prstGeom prst="downArrow">
            <a:avLst/>
          </a:prstGeom>
          <a:solidFill>
            <a:schemeClr val="tx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029200" y="2606040"/>
            <a:ext cx="237744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pool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12×12×20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80760" y="3118104"/>
            <a:ext cx="274320" cy="164592"/>
          </a:xfrm>
          <a:prstGeom prst="downArrow">
            <a:avLst/>
          </a:prstGeom>
          <a:solidFill>
            <a:schemeClr val="tx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029200" y="3291840"/>
            <a:ext cx="237744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conv 5×5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8×8×50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80760" y="3803904"/>
            <a:ext cx="274320" cy="164592"/>
          </a:xfrm>
          <a:prstGeom prst="downArrow">
            <a:avLst/>
          </a:prstGeom>
          <a:solidFill>
            <a:schemeClr val="tx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0" y="3977640"/>
            <a:ext cx="237744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pool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4×4×50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80760" y="4489704"/>
            <a:ext cx="274320" cy="164592"/>
          </a:xfrm>
          <a:prstGeom prst="downArrow">
            <a:avLst/>
          </a:prstGeom>
          <a:solidFill>
            <a:schemeClr val="tx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029200" y="4663440"/>
            <a:ext cx="237744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全結合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500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80760" y="5175504"/>
            <a:ext cx="274320" cy="164592"/>
          </a:xfrm>
          <a:prstGeom prst="downArrow">
            <a:avLst/>
          </a:prstGeom>
          <a:solidFill>
            <a:schemeClr val="tx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29200" y="5349240"/>
            <a:ext cx="237744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全結合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graphicFrame>
        <p:nvGraphicFramePr>
          <p:cNvPr id="11" name="table-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34440"/>
          <a:ext cx="38862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層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パラメータ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1 枚の積和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conv1 20@5×5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520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288,000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conv2 50@5×5×20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25,050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1,600,000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全結合 800→500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400,500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400,000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全結合 500→10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5,010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</a:rPr>
                        <a:t>合計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</a:rPr>
                        <a:t>431,080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</a:rPr>
                        <a:t>2,293,000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</a:tbl>
          </a:graphicData>
        </a:graphic>
      </p:graphicFrame>
      <p:sp>
        <p:nvSpPr>
          <p:cNvPr id="20" name="text-36"/>
          <p:cNvSpPr txBox="1"/>
          <p:nvPr/>
        </p:nvSpPr>
        <p:spPr>
          <a:xfrm>
            <a:off x="7772400" y="384048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conv2 が計算の 7 割、全結合 800→500 がパラメータの 9 割を占める。MLP（1,794,000 積和）より計算は多いがパラメータは 1/4。</a:t>
            </a:r>
            <a:endParaRPr lang="en-US" sz="1200" dirty="0"/>
          </a:p>
        </p:txBody>
      </p:sp>
      <p:sp>
        <p:nvSpPr>
          <p:cNvPr id="21" name="text-37"/>
          <p:cNvSpPr txBox="1"/>
          <p:nvPr/>
        </p:nvSpPr>
        <p:spPr>
          <a:xfrm>
            <a:off x="5029200" y="6080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ReLU は各畳み込み・全結合の後（図では省略）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LeNet とは — LeCun の CNN と本実装の 2 つの CNN</a:t>
            </a:r>
            <a:endParaRPr lang="en-US" sz="2800" dirty="0"/>
          </a:p>
        </p:txBody>
      </p:sp>
      <p:graphicFrame>
        <p:nvGraphicFramePr>
          <p:cNvPr id="12" name="table-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749040"/>
                <a:gridCol w="2926080"/>
                <a:gridCol w="2926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元の LeNet-5（1998）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本実装「LeNet-5 型」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本実装「CNN（20/50ch）」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入力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32×32（28×28 の周りに 2 画素ずつ余白）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28×28（余白なし）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28×28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畳み込み 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C1: 5×5, 6 枚 → 28×28×6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5×5, 6 枚 → 24×24×6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5×5, 20 枚 → 24×24×20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縮小 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S2: 2×2 の平均（学習する係数つき）→ 14×14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2×2 の最大値 → 12×12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2×2 の最大値 → 12×12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畳み込み 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C3: 5×5, 16 枚（入力 6 枚の一部とだけつなぐ）→ 10×10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5×5, 16 枚（全部とつなぐ）→ 8×8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5×5, 50 枚 → 8×8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縮小 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S4: 平均 → 5×5×16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最大値 → 4×4×16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最大値 → 4×4×50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全結合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C5: 120 → F6: 84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120 → 84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出力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10（RBF: 手本との距離）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10（Softmax）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10（Softmax）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活性化関数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tanh（1.7159·tanh(2u/3)）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ReLU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ReLU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パラメータ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約 6 万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44,426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431,080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テスト誤り率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0.95%（変形データで 0.8%）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1.50%（20 エポック）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0.83%（20 エポック）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9"/>
          <p:cNvSpPr txBox="1"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「CNN（20/50ch）」は深層学習ライブラリ Caffe の MNIST 例題（lenet_train_test.prototxt）と同じ構成で、「LeNet」と呼ばれることが多い。どちらも LeNet-5 の考え方（畳み込み → 縮小 → 畳み込み → 縮小 → 全結合）を今の標準的な部品（ReLU・最大値プーリング・Softmax）で作り直したもの。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学習した CNN の中身 — カーネルと特徴マップ</a:t>
            </a:r>
            <a:endParaRPr lang="en-US" sz="2800" dirty="0"/>
          </a:p>
        </p:txBody>
      </p:sp>
      <p:pic>
        <p:nvPicPr>
          <p:cNvPr id="4" name="fm-input" descr="/tmp/claude-1001/-home-mi-mnist/137a571b-9a80-4a1c-8647-53667b8e1fcb/scratchpad/work/figc/inpu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011680" cy="2011680"/>
          </a:xfrm>
          <a:prstGeom prst="rect">
            <a:avLst/>
          </a:prstGeom>
        </p:spPr>
      </p:pic>
      <p:sp>
        <p:nvSpPr>
          <p:cNvPr id="5" name="text-40"/>
          <p:cNvSpPr txBox="1"/>
          <p:nvPr/>
        </p:nvSpPr>
        <p:spPr>
          <a:xfrm>
            <a:off x="54864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入力（テスト #0, 6）</a:t>
            </a:r>
            <a:endParaRPr lang="en-US" sz="1100" dirty="0"/>
          </a:p>
        </p:txBody>
      </p:sp>
      <p:pic>
        <p:nvPicPr>
          <p:cNvPr id="6" name="fm-41" descr="/tmp/claude-1001/-home-mi-mnist/137a571b-9a80-4a1c-8647-53667b8e1fcb/scratchpad/work/figc/conv1_fil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188720"/>
            <a:ext cx="6035040" cy="1357884"/>
          </a:xfrm>
          <a:prstGeom prst="rect">
            <a:avLst/>
          </a:prstGeom>
        </p:spPr>
      </p:pic>
      <p:sp>
        <p:nvSpPr>
          <p:cNvPr id="7" name="text-42"/>
          <p:cNvSpPr txBox="1"/>
          <p:nvPr/>
        </p:nvSpPr>
        <p:spPr>
          <a:xfrm>
            <a:off x="969264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第 1 層のカーネル 5×5（20 個）</a:t>
            </a:r>
            <a:endParaRPr lang="en-US" sz="1200" dirty="0"/>
          </a:p>
        </p:txBody>
      </p:sp>
      <p:pic>
        <p:nvPicPr>
          <p:cNvPr id="8" name="fm-43" descr="/tmp/claude-1001/-home-mi-mnist/137a571b-9a80-4a1c-8647-53667b8e1fcb/scratchpad/work/figc/fmap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743200"/>
            <a:ext cx="6035040" cy="1357884"/>
          </a:xfrm>
          <a:prstGeom prst="rect">
            <a:avLst/>
          </a:prstGeom>
        </p:spPr>
      </p:pic>
      <p:sp>
        <p:nvSpPr>
          <p:cNvPr id="9" name="text-44"/>
          <p:cNvSpPr txBox="1"/>
          <p:nvPr/>
        </p:nvSpPr>
        <p:spPr>
          <a:xfrm>
            <a:off x="969264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第 1 層の特徴マップ 24×24（20 枚）</a:t>
            </a:r>
            <a:endParaRPr lang="en-US" sz="1200" dirty="0"/>
          </a:p>
        </p:txBody>
      </p:sp>
      <p:pic>
        <p:nvPicPr>
          <p:cNvPr id="10" name="fm-45" descr="/tmp/claude-1001/-home-mi-mnist/137a571b-9a80-4a1c-8647-53667b8e1fcb/scratchpad/work/figc/fmap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4297680"/>
            <a:ext cx="6035040" cy="1357884"/>
          </a:xfrm>
          <a:prstGeom prst="rect">
            <a:avLst/>
          </a:prstGeom>
        </p:spPr>
      </p:pic>
      <p:sp>
        <p:nvSpPr>
          <p:cNvPr id="11" name="text-46"/>
          <p:cNvSpPr txBox="1"/>
          <p:nvPr/>
        </p:nvSpPr>
        <p:spPr>
          <a:xfrm>
            <a:off x="9692640" y="4663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第 2 層の特徴マップ 8×8（50 枚中 20 枚）</a:t>
            </a:r>
            <a:endParaRPr lang="en-US" sz="1200" dirty="0"/>
          </a:p>
        </p:txBody>
      </p:sp>
      <p:sp>
        <p:nvSpPr>
          <p:cNvPr id="12" name="text-4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第 1 層は縦・横・斜めの縁を、第 2 層はそれらを組み合わせた部品（輪の一部・端点など）を見つけている。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なぜ性能が上がるか（1）— 位置ずれに強い</a:t>
            </a:r>
            <a:endParaRPr lang="en-US" sz="2800" dirty="0"/>
          </a:p>
        </p:txBody>
      </p:sp>
      <p:graphicFrame>
        <p:nvGraphicFramePr>
          <p:cNvPr id="4" name="shift-chart" descr=""/>
          <p:cNvGraphicFramePr/>
          <p:nvPr/>
        </p:nvGraphicFramePr>
        <p:xfrm>
          <a:off x="457200" y="118872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rot-chart" descr=""/>
          <p:cNvGraphicFramePr/>
          <p:nvPr/>
        </p:nvGraphicFramePr>
        <p:xfrm>
          <a:off x="6309360" y="118872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6" name="shift-ex" descr="/tmp/claude-1001/-home-mi-mnist/137a571b-9a80-4a1c-8647-53667b8e1fcb/scratchpad/work/figc/shift_examp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20640"/>
            <a:ext cx="4206240" cy="961426"/>
          </a:xfrm>
          <a:prstGeom prst="rect">
            <a:avLst/>
          </a:prstGeom>
        </p:spPr>
      </p:pic>
      <p:sp>
        <p:nvSpPr>
          <p:cNvPr id="7" name="text-48"/>
          <p:cNvSpPr txBox="1"/>
          <p:nvPr/>
        </p:nvSpPr>
        <p:spPr>
          <a:xfrm>
            <a:off x="5029200" y="51663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2 画素ずらすと MLP は 85.7% に落ちるが、CNN は 97.1% を保つ。MLP は「どの画素に字があるか」を覚え、CNN は「どんな形があるか」を見ているため。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なぜ性能が上がるか（2）— 画素の並びを使っている</a:t>
            </a:r>
            <a:endParaRPr lang="en-US" sz="2800" dirty="0"/>
          </a:p>
        </p:txBody>
      </p:sp>
      <p:pic>
        <p:nvPicPr>
          <p:cNvPr id="4" name="perm-img" descr="/tmp/claude-1001/-home-mi-mnist/137a571b-9a80-4a1c-8647-53667b8e1fcb/scratchpad/work/figc/per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206240" cy="2243328"/>
          </a:xfrm>
          <a:prstGeom prst="rect">
            <a:avLst/>
          </a:prstGeom>
        </p:spPr>
      </p:pic>
      <p:graphicFrame>
        <p:nvGraphicFramePr>
          <p:cNvPr id="5" name="perm-chart" descr=""/>
          <p:cNvGraphicFramePr/>
          <p:nvPr/>
        </p:nvGraphicFramePr>
        <p:xfrm>
          <a:off x="5029200" y="1188720"/>
          <a:ext cx="6583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ullets-49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MLP は入れ替えても同じ（98.20% → 98.12%）: 全結合は画素の並びを最初から使っていない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CNN は大きく落ちる（99.21% → 96.76%）: 隣の画素どうしの関係（局所性）を使って性能を上げている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画像には「近い画素ほど関係が深い」「同じ形がどこにでも出る」という性質がある。CNN はそれを構造として持ち込むので、少ない重みで汎化する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なぜ性能が上がるか（3）— まとめ</a:t>
            </a:r>
            <a:endParaRPr lang="en-US" sz="2800" dirty="0"/>
          </a:p>
        </p:txBody>
      </p:sp>
      <p:sp>
        <p:nvSpPr>
          <p:cNvPr id="3" name="card-50"/>
          <p:cNvSpPr/>
          <p:nvPr/>
        </p:nvSpPr>
        <p:spPr>
          <a:xfrm>
            <a:off x="548640" y="1280160"/>
            <a:ext cx="6675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4" name="tile-51"/>
          <p:cNvSpPr txBox="1"/>
          <p:nvPr/>
        </p:nvSpPr>
        <p:spPr>
          <a:xfrm>
            <a:off x="731520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-52"/>
          <p:cNvSpPr txBox="1"/>
          <p:nvPr/>
        </p:nvSpPr>
        <p:spPr>
          <a:xfrm>
            <a:off x="1417320" y="135331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局所性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畳み込みは近くの画素だけを見る。線や角など、字を作る部品は数画素の範囲にある</a:t>
            </a:r>
            <a:endParaRPr lang="en-US" sz="1400" dirty="0"/>
          </a:p>
        </p:txBody>
      </p:sp>
      <p:sp>
        <p:nvSpPr>
          <p:cNvPr id="6" name="card-53"/>
          <p:cNvSpPr/>
          <p:nvPr/>
        </p:nvSpPr>
        <p:spPr>
          <a:xfrm>
            <a:off x="548640" y="2286000"/>
            <a:ext cx="6675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7" name="tile-54"/>
          <p:cNvSpPr txBox="1"/>
          <p:nvPr/>
        </p:nvSpPr>
        <p:spPr>
          <a:xfrm>
            <a:off x="73152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-55"/>
          <p:cNvSpPr txBox="1"/>
          <p:nvPr/>
        </p:nvSpPr>
        <p:spPr>
          <a:xfrm>
            <a:off x="1417320" y="235915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重み共有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同じカーネルを画像全体で使う。どこに書かれても同じ形として扱え、重みが少ないので過学習しにくい（学習データにだけ合いすぎない）</a:t>
            </a:r>
            <a:endParaRPr lang="en-US" sz="1400" dirty="0"/>
          </a:p>
        </p:txBody>
      </p:sp>
      <p:sp>
        <p:nvSpPr>
          <p:cNvPr id="9" name="card-56"/>
          <p:cNvSpPr/>
          <p:nvPr/>
        </p:nvSpPr>
        <p:spPr>
          <a:xfrm>
            <a:off x="548640" y="3291840"/>
            <a:ext cx="6675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0" name="tile-57"/>
          <p:cNvSpPr txBox="1"/>
          <p:nvPr/>
        </p:nvSpPr>
        <p:spPr>
          <a:xfrm>
            <a:off x="731520" y="34747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-58"/>
          <p:cNvSpPr txBox="1"/>
          <p:nvPr/>
        </p:nvSpPr>
        <p:spPr>
          <a:xfrm>
            <a:off x="1417320" y="336499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位置ずれへの強さ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プーリングで少しのずれを吸収。手書き文字の位置・大きさのばらつきに強い</a:t>
            </a:r>
            <a:endParaRPr lang="en-US" sz="1400" dirty="0"/>
          </a:p>
        </p:txBody>
      </p:sp>
      <p:sp>
        <p:nvSpPr>
          <p:cNvPr id="12" name="card-59"/>
          <p:cNvSpPr/>
          <p:nvPr/>
        </p:nvSpPr>
        <p:spPr>
          <a:xfrm>
            <a:off x="548640" y="4297680"/>
            <a:ext cx="6675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3" name="tile-60"/>
          <p:cNvSpPr txBox="1"/>
          <p:nvPr/>
        </p:nvSpPr>
        <p:spPr>
          <a:xfrm>
            <a:off x="731520" y="448056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-61"/>
          <p:cNvSpPr txBox="1"/>
          <p:nvPr/>
        </p:nvSpPr>
        <p:spPr>
          <a:xfrm>
            <a:off x="1417320" y="437083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階層的な特徴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 層目で縁、2 層目で部品、全結合で数字、と段階的に組み立てる</a:t>
            </a:r>
            <a:endParaRPr lang="en-US" sz="1400" dirty="0"/>
          </a:p>
        </p:txBody>
      </p:sp>
      <p:sp>
        <p:nvSpPr>
          <p:cNvPr id="15" name="tile-62"/>
          <p:cNvSpPr txBox="1"/>
          <p:nvPr/>
        </p:nvSpPr>
        <p:spPr>
          <a:xfrm>
            <a:off x="758952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6" name="head-63"/>
          <p:cNvSpPr txBox="1"/>
          <p:nvPr/>
        </p:nvSpPr>
        <p:spPr>
          <a:xfrm>
            <a:off x="8092440" y="13258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MLP の弱点</a:t>
            </a:r>
            <a:endParaRPr lang="en-US" sz="1700" dirty="0"/>
          </a:p>
        </p:txBody>
      </p:sp>
      <p:sp>
        <p:nvSpPr>
          <p:cNvPr id="17" name="bullets-64"/>
          <p:cNvSpPr txBox="1"/>
          <p:nvPr/>
        </p:nvSpPr>
        <p:spPr>
          <a:xfrm>
            <a:off x="7589520" y="18288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784 画素を互いに無関係な 784 個の数として扱う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 画素ずれただけで、別の入力に見える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その分、多くの重み（180 万個）と学習データが必要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学習データには 99.97% 合うのに、テストは 98.2% で止まる（過学習）</a:t>
            </a:r>
            <a:endParaRPr lang="en-US" sz="1250" dirty="0"/>
          </a:p>
        </p:txBody>
      </p:sp>
      <p:sp>
        <p:nvSpPr>
          <p:cNvPr id="18" name="text-65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CNN: 学習データ 99.95% / テスト 99.17%（差 0.78 ポイント）、MLP: 99.97% / 98.17%（差 1.80 ポイント）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学習のしくみ — 誤差逆伝播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全結合（MLP）の学習処理 → CNN の逆伝播とカーネルの各チャネルの更新 → 学習でカーネルはどう変わるか</a:t>
            </a:r>
            <a:endParaRPr lang="en-US" sz="1600" dirty="0"/>
          </a:p>
        </p:txBody>
      </p:sp>
      <p:sp>
        <p:nvSpPr>
          <p:cNvPr id="4" name="tile-66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MLP の学習処理（1）— 順伝播と誤差逆伝播の流れ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入力 x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200×784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697480" y="137160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Shape 3"/>
          <p:cNvSpPr/>
          <p:nvPr/>
        </p:nvSpPr>
        <p:spPr>
          <a:xfrm>
            <a:off x="2697480" y="1874520"/>
            <a:ext cx="685800" cy="274320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429000" y="132588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層 1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200×1000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0" y="137160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Shape 6"/>
          <p:cNvSpPr/>
          <p:nvPr/>
        </p:nvSpPr>
        <p:spPr>
          <a:xfrm>
            <a:off x="5577840" y="1874520"/>
            <a:ext cx="685800" cy="274320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09360" y="132588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層 2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200×1000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58200" y="137160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Shape 9"/>
          <p:cNvSpPr/>
          <p:nvPr/>
        </p:nvSpPr>
        <p:spPr>
          <a:xfrm>
            <a:off x="8458200" y="1874520"/>
            <a:ext cx="685800" cy="274320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89720" y="132588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出力 y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200×10</a:t>
            </a:r>
            <a:endParaRPr lang="en-US" sz="1500" dirty="0"/>
          </a:p>
        </p:txBody>
      </p:sp>
      <p:sp>
        <p:nvSpPr>
          <p:cNvPr id="14" name="text-67"/>
          <p:cNvSpPr txBox="1"/>
          <p:nvPr/>
        </p:nvSpPr>
        <p:spPr>
          <a:xfrm>
            <a:off x="548640" y="2286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→ 順伝播（青）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　　← 誤差 δ の逆伝播（赤）</a:t>
            </a:r>
            <a:endParaRPr lang="en-US" sz="1200" dirty="0"/>
          </a:p>
        </p:txBody>
      </p:sp>
      <p:graphicFrame>
        <p:nvGraphicFramePr>
          <p:cNvPr id="18" name="table-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93776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手順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式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意味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① 順伝播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uₗ = zₗ₋₁ Wₗᵀ + bₗ,   zₗ = ReLU(uₗ)（最後は Softmax）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各層の u と z を覚えておく（逆伝播で使う）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② 損失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L = −Σ log yₙ,正解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正解の確率が小さいほど大きい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③ 出力の誤差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δ₃ = y − t（t は正解だけ 1 の列）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正解の確率は上げ、他は下げる向き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④ 誤差の逆伝播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δₗ = (δₗ₊₁ Wₗ₊₁) ⊙ ReLU′(uₗ)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上の層の誤差を同じ重みで下へ配る。u &lt; 0 のユニットには伝わらない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⑤ 勾配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ΔWₗ = δₗᵀ zₗ₋₁,   Δbₗ = Σₙ δₗ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バッチ 200 枚分の和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⑥ 更新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Wₗ ← Wₗ − η ΔWₗ,   bₗ ← bₗ − η Δbₗ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η = 0.001。全層の δ を求めてから更新する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MLP の学習処理（2）— 1 本の重みはどう更新されるか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1828800"/>
            <a:ext cx="1005840" cy="10058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j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206240" y="18288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20624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0" y="2331720"/>
            <a:ext cx="2377440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text-69"/>
          <p:cNvSpPr txBox="1"/>
          <p:nvPr/>
        </p:nvSpPr>
        <p:spPr>
          <a:xfrm>
            <a:off x="237744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重み Wᵢⱼ</a:t>
            </a:r>
            <a:endParaRPr lang="en-US" sz="1400" dirty="0"/>
          </a:p>
        </p:txBody>
      </p:sp>
      <p:sp>
        <p:nvSpPr>
          <p:cNvPr id="10" name="text-70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入力側の値 zⱼ</a:t>
            </a:r>
            <a:endParaRPr lang="en-US" sz="1200" dirty="0"/>
          </a:p>
        </p:txBody>
      </p:sp>
      <p:sp>
        <p:nvSpPr>
          <p:cNvPr id="11" name="text-71"/>
          <p:cNvSpPr txBox="1"/>
          <p:nvPr/>
        </p:nvSpPr>
        <p:spPr>
          <a:xfrm>
            <a:off x="374904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出力側の誤差 δᵢ</a:t>
            </a:r>
            <a:endParaRPr lang="en-US" sz="1200" dirty="0"/>
          </a:p>
        </p:txBody>
      </p:sp>
      <p:sp>
        <p:nvSpPr>
          <p:cNvPr id="12" name="card-72"/>
          <p:cNvSpPr/>
          <p:nvPr/>
        </p:nvSpPr>
        <p:spPr>
          <a:xfrm>
            <a:off x="548640" y="352044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BE7DF"/>
          </a:solidFill>
          <a:ln/>
        </p:spPr>
      </p:sp>
      <p:sp>
        <p:nvSpPr>
          <p:cNvPr id="13" name="text-73"/>
          <p:cNvSpPr txBox="1"/>
          <p:nvPr/>
        </p:nvSpPr>
        <p:spPr>
          <a:xfrm>
            <a:off x="731520" y="3611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ΔWᵢⱼ = Σₙ δᵢ⁽ⁿ⁾ · zⱼ⁽ⁿ⁾</a:t>
            </a:r>
            <a:endParaRPr lang="en-US" sz="14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（n はバッチの 200 枚）　Wᵢⱼ ← Wᵢⱼ − η ΔWᵢⱼ</a:t>
            </a:r>
            <a:endParaRPr lang="en-US" sz="1400" dirty="0"/>
          </a:p>
        </p:txBody>
      </p:sp>
      <p:sp>
        <p:nvSpPr>
          <p:cNvPr id="14" name="bullets-74"/>
          <p:cNvSpPr txBox="1"/>
          <p:nvPr/>
        </p:nvSpPr>
        <p:spPr>
          <a:xfrm>
            <a:off x="548640" y="48006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「入力側がどれだけ働いたか（zⱼ）」×「出力側がどれだけ間違えたか（δᵢ）」で決まる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zⱼ = 0（ReLU で止まっている・画素が黒）なら、その重みは変わらない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δᵢ &gt; 0（出力が大きすぎた）なら重みを減らし、δᵢ &lt; 0 なら増やす</a:t>
            </a:r>
            <a:endParaRPr lang="en-US" sz="1250" dirty="0"/>
          </a:p>
        </p:txBody>
      </p:sp>
      <p:sp>
        <p:nvSpPr>
          <p:cNvPr id="15" name="tile-75"/>
          <p:cNvSpPr txBox="1"/>
          <p:nvPr/>
        </p:nvSpPr>
        <p:spPr>
          <a:xfrm>
            <a:off x="603504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δ</a:t>
            </a:r>
            <a:endParaRPr lang="en-US" sz="1300" dirty="0"/>
          </a:p>
        </p:txBody>
      </p:sp>
      <p:sp>
        <p:nvSpPr>
          <p:cNvPr id="16" name="head-76"/>
          <p:cNvSpPr txBox="1"/>
          <p:nvPr/>
        </p:nvSpPr>
        <p:spPr>
          <a:xfrm>
            <a:off x="6537960" y="132588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誤差 δ の求め方（連鎖律）</a:t>
            </a:r>
            <a:endParaRPr lang="en-US" sz="1700" dirty="0"/>
          </a:p>
        </p:txBody>
      </p:sp>
      <p:sp>
        <p:nvSpPr>
          <p:cNvPr id="17" name="card-77"/>
          <p:cNvSpPr/>
          <p:nvPr/>
        </p:nvSpPr>
        <p:spPr>
          <a:xfrm>
            <a:off x="6035040" y="1828800"/>
            <a:ext cx="55778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8" name="text-78"/>
          <p:cNvSpPr txBox="1"/>
          <p:nvPr/>
        </p:nvSpPr>
        <p:spPr>
          <a:xfrm>
            <a:off x="6217920" y="1920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δⱼ = ( Σᵢ Wᵢⱼ δᵢ ) × ReLU′(uⱼ)</a:t>
            </a:r>
            <a:endParaRPr lang="en-US" sz="1400" dirty="0"/>
          </a:p>
        </p:txBody>
      </p:sp>
      <p:sp>
        <p:nvSpPr>
          <p:cNvPr id="19" name="bullets-79"/>
          <p:cNvSpPr txBox="1"/>
          <p:nvPr/>
        </p:nvSpPr>
        <p:spPr>
          <a:xfrm>
            <a:off x="6035040" y="288036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下の層のユニット j の誤差は、つながっている上の層の誤差 δᵢ を重み Wᵢⱼ で集めたもの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ReLU′(u) は u ≥ 0 で 1、u &lt; 0 で 0（nn.l の定義）。止まっていたユニットには誤差が戻らない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出力層は δ = y − t。Softmax と交差エントロピーを組み合わせると、この簡単な形になる</a:t>
            </a:r>
            <a:endParaRPr lang="en-US" sz="1250" dirty="0"/>
          </a:p>
        </p:txBody>
      </p:sp>
      <p:sp>
        <p:nvSpPr>
          <p:cNvPr id="20" name="tile-80"/>
          <p:cNvSpPr txBox="1"/>
          <p:nvPr/>
        </p:nvSpPr>
        <p:spPr>
          <a:xfrm>
            <a:off x="6035040" y="48920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#</a:t>
            </a:r>
            <a:endParaRPr lang="en-US" sz="1300" dirty="0"/>
          </a:p>
        </p:txBody>
      </p:sp>
      <p:sp>
        <p:nvSpPr>
          <p:cNvPr id="21" name="head-81"/>
          <p:cNvSpPr txBox="1"/>
          <p:nvPr/>
        </p:nvSpPr>
        <p:spPr>
          <a:xfrm>
            <a:off x="6537960" y="48920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 回の更新で計算する量</a:t>
            </a:r>
            <a:endParaRPr lang="en-US" sz="1700" dirty="0"/>
          </a:p>
        </p:txBody>
      </p:sp>
      <p:sp>
        <p:nvSpPr>
          <p:cNvPr id="22" name="text-82"/>
          <p:cNvSpPr txBox="1"/>
          <p:nvPr/>
        </p:nvSpPr>
        <p:spPr>
          <a:xfrm>
            <a:off x="6035040" y="53492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層 1 の重み 784,000 個それぞれに 200 枚分の積の和。3 層で 179 万個の重みを一度に更新する（行列積 3 回 + 逆伝播の行列積 2 回）。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CNN の学習処理（1）— 層ごとの逆伝播</a:t>
            </a:r>
            <a:endParaRPr lang="en-US" sz="2800" dirty="0"/>
          </a:p>
        </p:txBody>
      </p:sp>
      <p:graphicFrame>
        <p:nvGraphicFramePr>
          <p:cNvPr id="20" name="table-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56616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層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順伝播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誤差の戻し方（δ_in）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重みの勾配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全結合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u = z Wᵀ + b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δ_in = (δ W) ⊙ ReLU′ … MLP と同じ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ΔW = δᵀ z,  Δb = Σ δ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ReLU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z = max(0, u)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u ≥ 0 の所だけそのまま通し、他は 0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なし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最大値プーリング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2×2 の最大値を取る（位置を覚える）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最大だった 1 か所にだけ戻す。他の 3 か所は 0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なし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畳み込み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5×5 の窓で掛けて足す（im2col + 行列積）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カーネルを 180° 回した全畳み込み（col2im で集める）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入力と δ の相関（次のスライド）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入力</a:t>
            </a:r>
            <a:endParaRPr lang="en-US" sz="1150" dirty="0"/>
          </a:p>
        </p:txBody>
      </p:sp>
      <p:sp>
        <p:nvSpPr>
          <p:cNvPr id="6" name="Text 2"/>
          <p:cNvSpPr txBox="1"/>
          <p:nvPr/>
        </p:nvSpPr>
        <p:spPr>
          <a:xfrm>
            <a:off x="1559052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conv1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2569464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A9B4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ReLU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3579876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pool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590288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conv2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600700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A9B4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ReLU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611112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pool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621524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fc500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631936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A9B4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ReLU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9642348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fc10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0652760" y="4343400"/>
            <a:ext cx="868680" cy="50292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Softmax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10972800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Shape 13"/>
          <p:cNvSpPr/>
          <p:nvPr/>
        </p:nvSpPr>
        <p:spPr>
          <a:xfrm>
            <a:off x="548640" y="4956048"/>
            <a:ext cx="10972800" cy="256032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18" name="text-84"/>
          <p:cNvSpPr txBox="1"/>
          <p:nvPr/>
        </p:nvSpPr>
        <p:spPr>
          <a:xfrm>
            <a:off x="548640" y="5303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順伝播 →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　← 逆伝播（δ = y − t から始めて下へ）</a:t>
            </a:r>
            <a:endParaRPr lang="en-US" sz="1200" dirty="0"/>
          </a:p>
        </p:txBody>
      </p:sp>
      <p:sp>
        <p:nvSpPr>
          <p:cNvPr id="19" name="text-85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重みを持つのは conv1, conv2, fc500, fc10 の 4 層だけ。ReLU とプーリングは誤差の通り道を決めるだけで、学習するものはない。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CNN の学習処理（2）— カーネルの各チャネルはどう更新されるか</a:t>
            </a:r>
            <a:endParaRPr lang="en-US" sz="2800" dirty="0"/>
          </a:p>
        </p:txBody>
      </p:sp>
      <p:sp>
        <p:nvSpPr>
          <p:cNvPr id="4" name="card-86"/>
          <p:cNvSpPr/>
          <p:nvPr/>
        </p:nvSpPr>
        <p:spPr>
          <a:xfrm>
            <a:off x="548640" y="1234440"/>
            <a:ext cx="6675120" cy="2514600"/>
          </a:xfrm>
          <a:prstGeom prst="roundRect">
            <a:avLst>
              <a:gd name="adj" fmla="val 2909"/>
            </a:avLst>
          </a:prstGeom>
          <a:solidFill>
            <a:srgbClr val="EEF1F6"/>
          </a:solidFill>
          <a:ln/>
        </p:spPr>
      </p:sp>
      <p:sp>
        <p:nvSpPr>
          <p:cNvPr id="5" name="text-87"/>
          <p:cNvSpPr txBox="1"/>
          <p:nvPr/>
        </p:nvSpPr>
        <p:spPr>
          <a:xfrm>
            <a:off x="731520" y="132588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カーネルの勾配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ΔW[co, c, ky, kx] = Σₙ Σ_oy Σ_ox δ[n, oy, ox, co] · x[n, oy+ky, ox+kx, c]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バイアス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Δb[co] = Σₙ Σ_oy Σ_ox δ[n, oy, ox, co]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下の層へ戻す誤差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δx[n, y, x, c] = Σ_co Σ_ky Σ_kx δ[n, y−ky, x−kx, co] · W[co, c, ky, kx]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更新は全結合と同じ:  W ← W − η ΔW,  b ← b − η Δb</a:t>
            </a:r>
            <a:endParaRPr lang="en-US" sz="1250" dirty="0"/>
          </a:p>
        </p:txBody>
      </p:sp>
      <p:sp>
        <p:nvSpPr>
          <p:cNvPr id="6" name="bullets-88"/>
          <p:cNvSpPr txBox="1"/>
          <p:nvPr/>
        </p:nvSpPr>
        <p:spPr>
          <a:xfrm>
            <a:off x="548640" y="393192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出力チャネル co のカーネルは、自分の出力に戻ってきた誤差の地図 δ_co だけで更新される（他のカーネルの誤差は使わない）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その中の入力チャネル c の 5×5 は「入力の地図 c」と「δ_co」の相関。δ が大きい位置の入力の 5×5 の窓を、δ の重みで足し合わせたもの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重み共有なので、勾配は全位置・全画像の和になる。1 つの重みの勾配は conv1 で 200 枚 × 576 位置 = 115,200 個、conv2 で 200 × 64 = 12,800 個の積の和</a:t>
            </a:r>
            <a:endParaRPr lang="en-US" sz="1200" dirty="0"/>
          </a:p>
        </p:txBody>
      </p:sp>
      <p:sp>
        <p:nvSpPr>
          <p:cNvPr id="7" name="tile-89"/>
          <p:cNvSpPr txBox="1"/>
          <p:nvPr/>
        </p:nvSpPr>
        <p:spPr>
          <a:xfrm>
            <a:off x="7589520" y="1280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▦</a:t>
            </a:r>
            <a:endParaRPr lang="en-US" sz="1300" dirty="0"/>
          </a:p>
        </p:txBody>
      </p:sp>
      <p:sp>
        <p:nvSpPr>
          <p:cNvPr id="8" name="head-90"/>
          <p:cNvSpPr txBox="1"/>
          <p:nvPr/>
        </p:nvSpPr>
        <p:spPr>
          <a:xfrm>
            <a:off x="8092440" y="12801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conv2 のカーネルの形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680960" y="1828800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65008" y="1828800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49056" y="1828800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33104" y="1828800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217152" y="1828800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1200" y="1828800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0" y="2212848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65008" y="2212848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49056" y="2212848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33104" y="2212848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17152" y="2212848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0" y="2212848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80960" y="2596896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65008" y="2596896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49056" y="2596896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33104" y="2596896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17152" y="2596896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01200" y="2596896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80960" y="2980944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65008" y="2980944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49056" y="2980944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33104" y="2980944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217152" y="2980944"/>
            <a:ext cx="329184" cy="329184"/>
          </a:xfrm>
          <a:prstGeom prst="rect">
            <a:avLst/>
          </a:prstGeom>
          <a:solidFill>
            <a:srgbClr val="BFD3EA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601200" y="2980944"/>
            <a:ext cx="329184" cy="329184"/>
          </a:xfrm>
          <a:prstGeom prst="rect">
            <a:avLst/>
          </a:prstGeom>
          <a:solidFill>
            <a:srgbClr val="E3ECF7"/>
          </a:solidFill>
          <a:ln w="6350">
            <a:solidFill>
              <a:srgbClr val="8FA9C8"/>
            </a:solidFill>
            <a:prstDash val="solid"/>
          </a:ln>
        </p:spPr>
      </p:sp>
      <p:sp>
        <p:nvSpPr>
          <p:cNvPr id="33" name="text-91"/>
          <p:cNvSpPr txBox="1"/>
          <p:nvPr/>
        </p:nvSpPr>
        <p:spPr>
          <a:xfrm>
            <a:off x="100126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…</a:t>
            </a:r>
            <a:endParaRPr lang="en-US" sz="1600" dirty="0"/>
          </a:p>
        </p:txBody>
      </p:sp>
      <p:sp>
        <p:nvSpPr>
          <p:cNvPr id="34" name="text-92"/>
          <p:cNvSpPr txBox="1"/>
          <p:nvPr/>
        </p:nvSpPr>
        <p:spPr>
          <a:xfrm>
            <a:off x="10378440" y="182880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横: 入力 c（20）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縦: 出力 co（50）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1 マス = 5×5</a:t>
            </a:r>
            <a:endParaRPr lang="en-US" sz="1050" dirty="0"/>
          </a:p>
        </p:txBody>
      </p:sp>
      <p:sp>
        <p:nvSpPr>
          <p:cNvPr id="35" name="bullets-93"/>
          <p:cNvSpPr txBox="1"/>
          <p:nvPr/>
        </p:nvSpPr>
        <p:spPr>
          <a:xfrm>
            <a:off x="7589520" y="3520440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 は 50 × (20 × 5 × 5) = 25,000 個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 行（co）が 1 つのカーネル。20 枚の入力の地図をそれぞれ 5×5 で見て、全部足して 1 枚の出力の地図を作る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conv1 は入力が 1 チャネルなので 20 × (1 × 5 × 5)</a:t>
            </a:r>
            <a:endParaRPr lang="en-US" sz="1150" dirty="0"/>
          </a:p>
        </p:txBody>
      </p:sp>
      <p:sp>
        <p:nvSpPr>
          <p:cNvPr id="36" name="tile-94"/>
          <p:cNvSpPr txBox="1"/>
          <p:nvPr/>
        </p:nvSpPr>
        <p:spPr>
          <a:xfrm>
            <a:off x="7589520" y="54406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≡</a:t>
            </a:r>
            <a:endParaRPr lang="en-US" sz="1300" dirty="0"/>
          </a:p>
        </p:txBody>
      </p:sp>
      <p:sp>
        <p:nvSpPr>
          <p:cNvPr id="37" name="head-95"/>
          <p:cNvSpPr txBox="1"/>
          <p:nvPr/>
        </p:nvSpPr>
        <p:spPr>
          <a:xfrm>
            <a:off x="8092440" y="54406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実装（cudacnn.cu）</a:t>
            </a:r>
            <a:endParaRPr lang="en-US" sz="1700" dirty="0"/>
          </a:p>
        </p:txBody>
      </p:sp>
      <p:sp>
        <p:nvSpPr>
          <p:cNvPr id="38" name="text-96"/>
          <p:cNvSpPr txBox="1"/>
          <p:nvPr/>
        </p:nvSpPr>
        <p:spPr>
          <a:xfrm>
            <a:off x="7589520" y="58521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ΔW = δᵀ · col（行列積 1 回）、δx は δ · W（行列積）→ col2im で 5×5 の重なりを足し戻す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CNN の学習処理（3）— 1 枚の画像で見るカーネルの勾配</a:t>
            </a:r>
            <a:endParaRPr lang="en-US" sz="2800" dirty="0"/>
          </a:p>
        </p:txBody>
      </p:sp>
      <p:pic>
        <p:nvPicPr>
          <p:cNvPr id="4" name="conv-grad" descr="/tmp/claude-1001/-home-mi-mnist/137a571b-9a80-4a1c-8647-53667b8e1fcb/scratchpad/work/figc/conv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2723912"/>
          </a:xfrm>
          <a:prstGeom prst="rect">
            <a:avLst/>
          </a:prstGeom>
        </p:spPr>
      </p:pic>
      <p:sp>
        <p:nvSpPr>
          <p:cNvPr id="5" name="bullets-97"/>
          <p:cNvSpPr txBox="1"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誤差 δ が戻ってきたのは 576 位置のうち 26 か所だけ。最大値プーリングで選ばれた位置（4 か所に 1 か所）で、しかも上の層で使われた所に限られる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勾配 ΔW = Σ δ(oy, ox) × [入力の (oy, ox) から始まる 5×5 の窓]。δ が大きい位置の筆跡の形が勾配に写る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更新は W ← W − η ΔW。勾配の逆向きに少し動かすので、この画像の損失が減る方向にカーネルの形が変わる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実際の更新は 200 枚分の勾配の和で行う。1 枚ごとのばらつきは平均され、多くの字に共通する形がカーネルに残る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学習でカーネルはどう変わるか</a:t>
            </a:r>
            <a:endParaRPr lang="en-US" sz="2800" dirty="0"/>
          </a:p>
        </p:txBody>
      </p:sp>
      <p:pic>
        <p:nvPicPr>
          <p:cNvPr id="4" name="kern-epochs" descr="/tmp/claude-1001/-home-mi-mnist/137a571b-9a80-4a1c-8647-53667b8e1fcb/scratchpad/work/figc/kernels_epoc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2718054"/>
          </a:xfrm>
          <a:prstGeom prst="rect">
            <a:avLst/>
          </a:prstGeom>
        </p:spPr>
      </p:pic>
      <p:sp>
        <p:nvSpPr>
          <p:cNvPr id="5" name="stat-98"/>
          <p:cNvSpPr txBox="1"/>
          <p:nvPr/>
        </p:nvSpPr>
        <p:spPr>
          <a:xfrm>
            <a:off x="54864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0.91</a:t>
            </a:r>
            <a:endParaRPr lang="en-US" sz="4000" dirty="0"/>
          </a:p>
        </p:txBody>
      </p:sp>
      <p:sp>
        <p:nvSpPr>
          <p:cNvPr id="6" name="statlbl-99"/>
          <p:cNvSpPr txBox="1"/>
          <p:nvPr/>
        </p:nvSpPr>
        <p:spPr>
          <a:xfrm>
            <a:off x="54864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重みの絶対値の最大（20 エポック後）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初期値は 0.08</a:t>
            </a:r>
            <a:endParaRPr lang="en-US" sz="1200" dirty="0"/>
          </a:p>
        </p:txBody>
      </p:sp>
      <p:sp>
        <p:nvSpPr>
          <p:cNvPr id="7" name="stat-100"/>
          <p:cNvSpPr txBox="1"/>
          <p:nvPr/>
        </p:nvSpPr>
        <p:spPr>
          <a:xfrm>
            <a:off x="356616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×4.6</a:t>
            </a:r>
            <a:endParaRPr lang="en-US" sz="4000" dirty="0"/>
          </a:p>
        </p:txBody>
      </p:sp>
      <p:sp>
        <p:nvSpPr>
          <p:cNvPr id="8" name="statlbl-101"/>
          <p:cNvSpPr txBox="1"/>
          <p:nvPr/>
        </p:nvSpPr>
        <p:spPr>
          <a:xfrm>
            <a:off x="356616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重み全体の大きさ（ノルム）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 エポック後で既に ×2.6</a:t>
            </a:r>
            <a:endParaRPr lang="en-US" sz="1200" dirty="0"/>
          </a:p>
        </p:txBody>
      </p:sp>
      <p:sp>
        <p:nvSpPr>
          <p:cNvPr id="9" name="stat-102"/>
          <p:cNvSpPr txBox="1"/>
          <p:nvPr/>
        </p:nvSpPr>
        <p:spPr>
          <a:xfrm>
            <a:off x="6583680" y="4069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0.59</a:t>
            </a:r>
            <a:endParaRPr lang="en-US" sz="4000" dirty="0"/>
          </a:p>
        </p:txBody>
      </p:sp>
      <p:sp>
        <p:nvSpPr>
          <p:cNvPr id="10" name="statlbl-103"/>
          <p:cNvSpPr txBox="1"/>
          <p:nvPr/>
        </p:nvSpPr>
        <p:spPr>
          <a:xfrm>
            <a:off x="658368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初期値との形の相関（平均）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カーネルごとに 0.37〜0.81</a:t>
            </a:r>
            <a:endParaRPr lang="en-US" sz="1200" dirty="0"/>
          </a:p>
        </p:txBody>
      </p:sp>
      <p:pic>
        <p:nvPicPr>
          <p:cNvPr id="11" name="kern-hist" descr="/tmp/claude-1001/-home-mi-mnist/137a571b-9a80-4a1c-8647-53667b8e1fcb/scratchpad/work/figc/kernel_h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931920"/>
            <a:ext cx="2651760" cy="1649984"/>
          </a:xfrm>
          <a:prstGeom prst="rect">
            <a:avLst/>
          </a:prstGeom>
        </p:spPr>
      </p:pic>
      <p:sp>
        <p:nvSpPr>
          <p:cNvPr id="12" name="text-104"/>
          <p:cNvSpPr txBox="1"/>
          <p:nvPr/>
        </p:nvSpPr>
        <p:spPr>
          <a:xfrm>
            <a:off x="548640" y="57607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カーネルの 25 個の数値は固定ではなく、毎回の更新で変わる。最初の 1 エポックで大きく動いて形ができ、その後はゆっくり強まる。初期の乱数の模様も少し残る。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似たカーネルはできるか — 20 個どうしの類似度</a:t>
            </a:r>
            <a:endParaRPr lang="en-US" sz="2800" dirty="0"/>
          </a:p>
        </p:txBody>
      </p:sp>
      <p:pic>
        <p:nvPicPr>
          <p:cNvPr id="4" name="kern-sim" descr="/tmp/claude-1001/-home-mi-mnist/137a571b-9a80-4a1c-8647-53667b8e1fcb/scratchpad/work/figc/kernel_simil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0" cy="2779909"/>
          </a:xfrm>
          <a:prstGeom prst="rect">
            <a:avLst/>
          </a:prstGeom>
        </p:spPr>
      </p:pic>
      <p:sp>
        <p:nvSpPr>
          <p:cNvPr id="5" name="bullets-105"/>
          <p:cNvSpPr txBox="1"/>
          <p:nvPr/>
        </p:nvSpPr>
        <p:spPr>
          <a:xfrm>
            <a:off x="548640" y="41148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学習後もほとんどは別の形。類似度 0.8 を超える組は 1 組（カーネル 12 と 19: 0.84）、反転に近い組が 1 組（11 と 14: -0.82）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類似度の絶対値の平均は 0.16（乱数）→ 0.30。少しは似てくる（縦・横の縁など共通の部品）</a:t>
            </a:r>
            <a:endParaRPr lang="en-US" sz="1200" dirty="0"/>
          </a:p>
        </p:txBody>
      </p:sp>
      <p:sp>
        <p:nvSpPr>
          <p:cNvPr id="6" name="tile-106"/>
          <p:cNvSpPr txBox="1"/>
          <p:nvPr/>
        </p:nvSpPr>
        <p:spPr>
          <a:xfrm>
            <a:off x="7132320" y="1280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?</a:t>
            </a:r>
            <a:endParaRPr lang="en-US" sz="1300" dirty="0"/>
          </a:p>
        </p:txBody>
      </p:sp>
      <p:sp>
        <p:nvSpPr>
          <p:cNvPr id="7" name="head-107"/>
          <p:cNvSpPr txBox="1"/>
          <p:nvPr/>
        </p:nvSpPr>
        <p:spPr>
          <a:xfrm>
            <a:off x="7635240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なぜ別々の形になるのか</a:t>
            </a:r>
            <a:endParaRPr lang="en-US" sz="1700" dirty="0"/>
          </a:p>
        </p:txBody>
      </p:sp>
      <p:sp>
        <p:nvSpPr>
          <p:cNvPr id="8" name="bullets-108"/>
          <p:cNvSpPr txBox="1"/>
          <p:nvPr/>
        </p:nvSpPr>
        <p:spPr>
          <a:xfrm>
            <a:off x="7132320" y="1783080"/>
            <a:ext cx="4480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初期値が乱数で、カーネルごとに出力が違う → 戻ってくる誤差 δ_co も違う → 違う向きに更新される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実験 1: 20 個を最初から同じ値にしても、次の層（conv2）の重みがチャネルごとに違うので、誤差が違って分かれていく（20 エポック後の類似度の最小 -0.40、テスト 99.12%）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実験 2: conv2 もチャネルについて同じ値にする（完全に対称）と、20 個は何エポックたっても同じまま（差 0）。学習も進まない（テスト 11.35%）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→ 乱数の初期値が「対称性を壊す」役目をしている。似たカーネルが残るのは無駄だが、チャネルを減らしても精度はあまり落ちない（10/25ch で 99.06%）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カーネルを学習しないとどうなるか</a:t>
            </a:r>
            <a:endParaRPr lang="en-US" sz="2800" dirty="0"/>
          </a:p>
        </p:txBody>
      </p:sp>
      <p:graphicFrame>
        <p:nvGraphicFramePr>
          <p:cNvPr id="4" name="freeze-chart" descr=""/>
          <p:cNvGraphicFramePr/>
          <p:nvPr/>
        </p:nvGraphicFramePr>
        <p:xfrm>
          <a:off x="457200" y="1188720"/>
          <a:ext cx="65836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ullets-109"/>
          <p:cNvSpPr txBox="1"/>
          <p:nvPr/>
        </p:nvSpPr>
        <p:spPr>
          <a:xfrm>
            <a:off x="7315200" y="1371600"/>
            <a:ext cx="4343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conv1 だけ固定: 99.03%。乱数の 5×5 でも何かしらの濃淡の変化は拾えるので、後ろの層がある程度補う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conv1・conv2 とも固定: 97.21%。MLP（98.17%）より悪くなる。形を見つける部品を学習しないと CNN の利点が出ない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カーネルの学習が CNN の性能の大部分を担っている。学習の初期で大きく形が作られるのもそのため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パラメータを変えるとどう変わるか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チャネル数・カーネルサイズ・層の数・プーリング・全結合の大きさ・学習率・バッチサイズを 1 つずつ変えて 20 エポック学習</a:t>
            </a:r>
            <a:endParaRPr lang="en-US" sz="1600" dirty="0"/>
          </a:p>
        </p:txBody>
      </p:sp>
      <p:sp>
        <p:nvSpPr>
          <p:cNvPr id="4" name="tile-110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構造を変えたときの認識率・パラメータ数・時間</a:t>
            </a:r>
            <a:endParaRPr lang="en-US" sz="2800" dirty="0"/>
          </a:p>
        </p:txBody>
      </p:sp>
      <p:graphicFrame>
        <p:nvGraphicFramePr>
          <p:cNvPr id="27" name="table-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31920"/>
                <a:gridCol w="1280160"/>
                <a:gridCol w="1097280"/>
                <a:gridCol w="1234440"/>
                <a:gridCol w="100584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条件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構成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パラメータ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MFLOP/枚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20 エポック後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最高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秒/エポック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ch 6/16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conv5×5·6 pool conv5×5·16 pool fc500 fc10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136,082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0.75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98.93%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99.05%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0.261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ch 10/25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conv5×5·10 pool conv5×5·25 pool fc500 fc10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212,045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1.50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99.06%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99.07%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0.324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ch 20/50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conv5×5·20 pool conv5×5·50 pool fc500 fc10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431,080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4.59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99.17%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99.22%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572E"/>
                          </a:solidFill>
                        </a:rPr>
                        <a:t>0.433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ch 32/64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conv5×5·32 pool conv5×5·64 pool fc500 fc10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569,606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8.51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99.14%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99.14%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0.697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k 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conv3×3·20 pool conv3×3·50 pool fc500 fc10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639,760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3.68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97.95%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98.88%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0.397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k 7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conv7×7·20 pool conv7×7·50 pool fc500 fc10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155,560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3.61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99.16%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99.16%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0.376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conv 1 layer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conv5×5·20 pool fc500 fc10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1,446,030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3.47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98.77%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98.79%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0.255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pool 1 time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conv5×5·20 pool conv5×5·50 fc500 fc10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1,631,080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6.99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11.35%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98.94%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0.473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fc 100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conv5×5·20 pool conv5×5·50 pool fc100 fc10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106,680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3.94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99.05%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99.05%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0.414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fc none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conv5×5·20 pool conv5×5·50 pool fc10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33,580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3.79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98.94%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98.97%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0.402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構造のパラメータの効果（まとめ）</a:t>
            </a:r>
            <a:endParaRPr lang="en-US" sz="2800" dirty="0"/>
          </a:p>
        </p:txBody>
      </p:sp>
      <p:sp>
        <p:nvSpPr>
          <p:cNvPr id="4" name="card-112"/>
          <p:cNvSpPr/>
          <p:nvPr/>
        </p:nvSpPr>
        <p:spPr>
          <a:xfrm>
            <a:off x="548640" y="123444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5" name="text-113"/>
          <p:cNvSpPr txBox="1"/>
          <p:nvPr/>
        </p:nvSpPr>
        <p:spPr>
          <a:xfrm>
            <a:off x="731520" y="130759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チャネル数（カーネルの数）　</a:t>
            </a:r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6/16: 98.93% → 20/50: 99.17% → 32/64: 99.14%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多いほど多くの種類の形を調べられ精度が上がるが、計算は比例して増える。ある程度で頭打ち</a:t>
            </a:r>
            <a:endParaRPr lang="en-US" sz="1400" dirty="0"/>
          </a:p>
        </p:txBody>
      </p:sp>
      <p:sp>
        <p:nvSpPr>
          <p:cNvPr id="6" name="card-114"/>
          <p:cNvSpPr/>
          <p:nvPr/>
        </p:nvSpPr>
        <p:spPr>
          <a:xfrm>
            <a:off x="548640" y="2221992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7" name="text-115"/>
          <p:cNvSpPr txBox="1"/>
          <p:nvPr/>
        </p:nvSpPr>
        <p:spPr>
          <a:xfrm>
            <a:off x="731520" y="2295144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カーネルサイズ　</a:t>
            </a:r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3×3: 97.95%（最高 98.88%）, 5×5: 99.17%, 7×7: 99.16%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大きいほど一度に広い範囲を見る。3×3 は 2 層でも見る範囲が狭く、後ろの全結合（1,250 入力）が大きくなり、終盤に学習が不安定になった</a:t>
            </a:r>
            <a:endParaRPr lang="en-US" sz="1400" dirty="0"/>
          </a:p>
        </p:txBody>
      </p:sp>
      <p:sp>
        <p:nvSpPr>
          <p:cNvPr id="8" name="card-116"/>
          <p:cNvSpPr/>
          <p:nvPr/>
        </p:nvSpPr>
        <p:spPr>
          <a:xfrm>
            <a:off x="548640" y="3209544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9" name="text-117"/>
          <p:cNvSpPr txBox="1"/>
          <p:nvPr/>
        </p:nvSpPr>
        <p:spPr>
          <a:xfrm>
            <a:off x="731520" y="3282696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畳み込みの層数　</a:t>
            </a:r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1 層: 98.77%, 2 層: 99.17%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層を重ねると部品の組合せ（曲線・輪）を表せる</a:t>
            </a:r>
            <a:endParaRPr lang="en-US" sz="1400" dirty="0"/>
          </a:p>
        </p:txBody>
      </p:sp>
      <p:sp>
        <p:nvSpPr>
          <p:cNvPr id="10" name="card-118"/>
          <p:cNvSpPr/>
          <p:nvPr/>
        </p:nvSpPr>
        <p:spPr>
          <a:xfrm>
            <a:off x="548640" y="4197096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1" name="text-119"/>
          <p:cNvSpPr txBox="1"/>
          <p:nvPr/>
        </p:nvSpPr>
        <p:spPr>
          <a:xfrm>
            <a:off x="731520" y="427024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プーリング　</a:t>
            </a:r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2 回: 99.17%, 1 回: 発散（途中の最高 98.94%）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 回にすると全結合の入力が 800 → 3,200 に増え（重み 1.6M）、勾配の合計が大きくなって同じ学習率では途中で発散した</a:t>
            </a:r>
            <a:endParaRPr lang="en-US" sz="1400" dirty="0"/>
          </a:p>
        </p:txBody>
      </p:sp>
      <p:sp>
        <p:nvSpPr>
          <p:cNvPr id="12" name="card-120"/>
          <p:cNvSpPr/>
          <p:nvPr/>
        </p:nvSpPr>
        <p:spPr>
          <a:xfrm>
            <a:off x="548640" y="5184648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3" name="text-121"/>
          <p:cNvSpPr txBox="1"/>
          <p:nvPr/>
        </p:nvSpPr>
        <p:spPr>
          <a:xfrm>
            <a:off x="731520" y="5257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全結合の大きさ　</a:t>
            </a:r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500: 99.17%, 100: 99.05%, なし: 98.94%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畳み込みの特徴を数字に結びつける部分。小さくしても精度は大きくは落ちない → CNN の主役は畳み込み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学習のパラメータの効果 — 学習率・バッチサイズ・エポック</a:t>
            </a:r>
            <a:endParaRPr lang="en-US" sz="2800" dirty="0"/>
          </a:p>
        </p:txBody>
      </p:sp>
      <p:graphicFrame>
        <p:nvGraphicFramePr>
          <p:cNvPr id="4" name="lrbs-chart" descr=""/>
          <p:cNvGraphicFramePr/>
          <p:nvPr/>
        </p:nvGraphicFramePr>
        <p:xfrm>
          <a:off x="457200" y="1188720"/>
          <a:ext cx="69494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ullets-122"/>
          <p:cNvSpPr txBox="1"/>
          <p:nvPr/>
        </p:nvSpPr>
        <p:spPr>
          <a:xfrm>
            <a:off x="7680960" y="1280160"/>
            <a:ext cx="3977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学習率: 0.0005 → 99.03%, 0.001 → 99.17%, 0.002 → 99.08%, 0.004 → 発散（全部を「1」と答える 11.35%）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バッチ: 50 → 99.12%。500 と 1000 は学習率 0.001 のままだと発散。勾配をバッチの合計で使うので、バッチを大きくすると 1 回の更新が大きくなりすぎる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バッチ 500 でも学習率を 0.0004 に下げる（バッチ × 学習率 = 0.2 を保つ）と 99.20%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エポック: 数エポックで頭打ち。増やしても学習データに合っていくだけ（過学習）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認識率の比較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MLP（CNN なし）・LeNet-5 型・CNN（20/50ch）を同じ条件で 20 エポック学習</a:t>
            </a:r>
            <a:endParaRPr lang="en-US" sz="1600" dirty="0"/>
          </a:p>
        </p:txBody>
      </p:sp>
      <p:sp>
        <p:nvSpPr>
          <p:cNvPr id="4" name="tile-123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テスト認識率の推移（GPU FP32, 20 エポック）</a:t>
            </a:r>
            <a:endParaRPr lang="en-US" sz="2800" dirty="0"/>
          </a:p>
        </p:txBody>
      </p:sp>
      <p:graphicFrame>
        <p:nvGraphicFramePr>
          <p:cNvPr id="4" name="acc-chart" descr=""/>
          <p:cNvGraphicFramePr/>
          <p:nvPr/>
        </p:nvGraphicFramePr>
        <p:xfrm>
          <a:off x="457200" y="1188720"/>
          <a:ext cx="69494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1" name="table-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280160"/>
          <a:ext cx="3977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1440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MLP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LeNet-5 型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CNN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テスト（20 エポック）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98.17%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98.50%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4572E"/>
                          </a:solidFill>
                        </a:rPr>
                        <a:t>99.17%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テストの誤り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183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150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4572E"/>
                          </a:solidFill>
                        </a:rPr>
                        <a:t>83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学習データ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99.97%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99.30%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99.95%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98% に届くエポック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99% に届くエポック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パラメータ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1,796,010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44,426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13D"/>
                          </a:solidFill>
                        </a:rPr>
                        <a:t>431,080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125"/>
          <p:cNvSpPr txBox="1"/>
          <p:nvPr/>
        </p:nvSpPr>
        <p:spPr>
          <a:xfrm>
            <a:off x="7680960" y="434340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LeNet-5 型は重みが MLP の 1/40 でも MLP より正確。CNN は 1 エポック目で既に MLP の 4 エポック目を超える。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数字ごとの認識率と、誤りの重なり</a:t>
            </a:r>
            <a:endParaRPr lang="en-US" sz="2800" dirty="0"/>
          </a:p>
        </p:txBody>
      </p:sp>
      <p:graphicFrame>
        <p:nvGraphicFramePr>
          <p:cNvPr id="4" name="perclass" descr=""/>
          <p:cNvGraphicFramePr/>
          <p:nvPr/>
        </p:nvGraphicFramePr>
        <p:xfrm>
          <a:off x="457200" y="1188720"/>
          <a:ext cx="67665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26"/>
          <p:cNvSpPr txBox="1"/>
          <p:nvPr/>
        </p:nvSpPr>
        <p:spPr>
          <a:xfrm>
            <a:off x="7589520" y="1280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129</a:t>
            </a:r>
            <a:endParaRPr lang="en-US" sz="4000" dirty="0"/>
          </a:p>
        </p:txBody>
      </p:sp>
      <p:sp>
        <p:nvSpPr>
          <p:cNvPr id="6" name="statlbl-127"/>
          <p:cNvSpPr txBox="1"/>
          <p:nvPr/>
        </p:nvSpPr>
        <p:spPr>
          <a:xfrm>
            <a:off x="7589520" y="2148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MLP だけが間違え、CNN は正解した画像</a:t>
            </a:r>
            <a:endParaRPr lang="en-US" sz="1200" dirty="0"/>
          </a:p>
        </p:txBody>
      </p:sp>
      <p:sp>
        <p:nvSpPr>
          <p:cNvPr id="7" name="stat-128"/>
          <p:cNvSpPr txBox="1"/>
          <p:nvPr/>
        </p:nvSpPr>
        <p:spPr>
          <a:xfrm>
            <a:off x="7589520" y="2697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29</a:t>
            </a:r>
            <a:endParaRPr lang="en-US" sz="4000" dirty="0"/>
          </a:p>
        </p:txBody>
      </p:sp>
      <p:sp>
        <p:nvSpPr>
          <p:cNvPr id="8" name="statlbl-129"/>
          <p:cNvSpPr txBox="1"/>
          <p:nvPr/>
        </p:nvSpPr>
        <p:spPr>
          <a:xfrm>
            <a:off x="7589520" y="3566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CNN だけが間違えた画像</a:t>
            </a:r>
            <a:endParaRPr lang="en-US" sz="1200" dirty="0"/>
          </a:p>
        </p:txBody>
      </p:sp>
      <p:sp>
        <p:nvSpPr>
          <p:cNvPr id="9" name="stat-130"/>
          <p:cNvSpPr txBox="1"/>
          <p:nvPr/>
        </p:nvSpPr>
        <p:spPr>
          <a:xfrm>
            <a:off x="7589520" y="4114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54</a:t>
            </a:r>
            <a:endParaRPr lang="en-US" sz="4000" dirty="0"/>
          </a:p>
        </p:txBody>
      </p:sp>
      <p:sp>
        <p:nvSpPr>
          <p:cNvPr id="10" name="statlbl-131"/>
          <p:cNvSpPr txBox="1"/>
          <p:nvPr/>
        </p:nvSpPr>
        <p:spPr>
          <a:xfrm>
            <a:off x="7589520" y="4983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両方とも間違えた画像（人にも読みにくいものが多い）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MLP だけが誤った例と、CNN の全誤り 83 枚</a:t>
            </a:r>
            <a:endParaRPr lang="en-US" sz="2800" dirty="0"/>
          </a:p>
        </p:txBody>
      </p:sp>
      <p:pic>
        <p:nvPicPr>
          <p:cNvPr id="4" name="mlpwrong" descr="/tmp/claude-1001/-home-mi-mnist/137a571b-9a80-4a1c-8647-53667b8e1fcb/scratchpad/work/figc/mlp_wrong_cnn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315200" cy="1866900"/>
          </a:xfrm>
          <a:prstGeom prst="rect">
            <a:avLst/>
          </a:prstGeom>
        </p:spPr>
      </p:pic>
      <p:sp>
        <p:nvSpPr>
          <p:cNvPr id="5" name="text-132"/>
          <p:cNvSpPr txBox="1"/>
          <p:nvPr/>
        </p:nvSpPr>
        <p:spPr>
          <a:xfrm>
            <a:off x="8138160" y="12801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MLP は字が端に寄っている・傾いている・線が細い字で間違えやすい。CNN は形で見るので読める。</a:t>
            </a:r>
            <a:endParaRPr lang="en-US" sz="1250" dirty="0"/>
          </a:p>
        </p:txBody>
      </p:sp>
      <p:pic>
        <p:nvPicPr>
          <p:cNvPr id="6" name="cnnwrong" descr="/tmp/claude-1001/-home-mi-mnist/137a571b-9a80-4a1c-8647-53667b8e1fcb/scratchpad/work/figc/wrong_c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10058400" cy="2426789"/>
          </a:xfrm>
          <a:prstGeom prst="rect">
            <a:avLst/>
          </a:prstGeom>
        </p:spPr>
      </p:pic>
      <p:sp>
        <p:nvSpPr>
          <p:cNvPr id="7" name="text-133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CNN の誤りの多くは、ラベル自体が紛らわしい字（4 と 9、7 と 1 など）。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計算時間の比較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 エポックの学習時間（GPU / CPU, FP32 / FP64）、層ごとの内訳、バッチサイズ、推論</a:t>
            </a:r>
            <a:endParaRPr lang="en-US" sz="1600" dirty="0"/>
          </a:p>
        </p:txBody>
      </p:sp>
      <p:sp>
        <p:nvSpPr>
          <p:cNvPr id="4" name="tile-134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6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 エポックの学習時間（バッチ 200）</a:t>
            </a:r>
            <a:endParaRPr lang="en-US" sz="2800" dirty="0"/>
          </a:p>
        </p:txBody>
      </p:sp>
      <p:graphicFrame>
        <p:nvGraphicFramePr>
          <p:cNvPr id="35" name="table-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737360"/>
                <a:gridCol w="173736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GPU FP32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GPU FP64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CPU FP32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CPU FP64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PyTorch FP32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MLP（CNN なし）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0.099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1.43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4.25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7.55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0.433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LeNet-5 型 CNN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0.260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0.885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12.19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14.76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CNN（20/50ch）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0.426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3.61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28.97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35.80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0.611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CNN / MLP の比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×4.3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×2.5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×6.8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×4.7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×1.4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poch-chart" descr=""/>
          <p:cNvGraphicFramePr/>
          <p:nvPr/>
        </p:nvGraphicFramePr>
        <p:xfrm>
          <a:off x="457200" y="3794760"/>
          <a:ext cx="69494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bullets-136"/>
          <p:cNvSpPr txBox="1"/>
          <p:nvPr/>
        </p:nvSpPr>
        <p:spPr>
          <a:xfrm>
            <a:off x="7680960" y="388620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CNN は MLP の約 4.3 倍（GPU FP32）、約 6.8 倍（CPU FP32）の時間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元の nn.l（Lisp + OpenBLAS, MLP）は 26.1 秒。GPU の CNN はその 1/61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LeNet-5 型は計算が少なく、GPU FP64 では MLP より速い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なぜ CNN は計算量の割に時間がかかるか — 層ごとの時間</a:t>
            </a:r>
            <a:endParaRPr lang="en-US" sz="2800" dirty="0"/>
          </a:p>
        </p:txBody>
      </p:sp>
      <p:graphicFrame>
        <p:nvGraphicFramePr>
          <p:cNvPr id="4" name="lp-gpu" descr=""/>
          <p:cNvGraphicFramePr/>
          <p:nvPr/>
        </p:nvGraphicFramePr>
        <p:xfrm>
          <a:off x="457200" y="1188720"/>
          <a:ext cx="566928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lp-cpu" descr=""/>
          <p:cNvGraphicFramePr/>
          <p:nvPr/>
        </p:nvGraphicFramePr>
        <p:xfrm>
          <a:off x="6309360" y="118872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ullets-137"/>
          <p:cNvSpPr txBox="1"/>
          <p:nvPr/>
        </p:nvSpPr>
        <p:spPr>
          <a:xfrm>
            <a:off x="6309360" y="4617720"/>
            <a:ext cx="5349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時間の大半は 2 つの畳み込み層。im2col（窓の並べ直し）と col2im（勾配を集める）はメモリを大量に読み書きする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畳み込みの行列は細長い（例 115,200×25 と 25×20）ので、gemm が性能を出しにくい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cuDNN のような専用の畳み込みを使えばさらに速くできる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バッチサイズと 1 エポックの時間・推論の時間</a:t>
            </a:r>
            <a:endParaRPr lang="en-US" sz="2800" dirty="0"/>
          </a:p>
        </p:txBody>
      </p:sp>
      <p:graphicFrame>
        <p:nvGraphicFramePr>
          <p:cNvPr id="4" name="sweep" descr=""/>
          <p:cNvGraphicFramePr/>
          <p:nvPr/>
        </p:nvGraphicFramePr>
        <p:xfrm>
          <a:off x="457200" y="118872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138"/>
          <p:cNvSpPr txBox="1"/>
          <p:nvPr/>
        </p:nvSpPr>
        <p:spPr>
          <a:xfrm>
            <a:off x="548640" y="53492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MLP はバッチが大きいほど速い（大きな行列積になる）。CNN は 200 付近で最小。畳み込みのメモリ処理が支配的で、バッチを大きくしても速くならない。</a:t>
            </a:r>
            <a:endParaRPr lang="en-US" sz="1200" dirty="0"/>
          </a:p>
        </p:txBody>
      </p:sp>
      <p:graphicFrame>
        <p:nvGraphicFramePr>
          <p:cNvPr id="37" name="table-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257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051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推論 10,000 枚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GPU FP32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CPU FP32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正解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MLP（CNN なし）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4.2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0.27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98.17%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LeNet-5 型 CNN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15.7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1.30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98.50%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CNN（20/50ch）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41.3 ms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2.68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99.17%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bullets-140"/>
          <p:cNvSpPr txBox="1"/>
          <p:nvPr/>
        </p:nvSpPr>
        <p:spPr>
          <a:xfrm>
            <a:off x="6400800" y="342900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GPU なら CNN でも 1 枚 0.0041 ms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CPU では CNN は MLP の 10.0 倍の時間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認識率と時間の兼ね合い — 目標の認識率に届くまでの時間</a:t>
            </a:r>
            <a:endParaRPr lang="en-US" sz="2800" dirty="0"/>
          </a:p>
        </p:txBody>
      </p:sp>
      <p:graphicFrame>
        <p:nvGraphicFramePr>
          <p:cNvPr id="38" name="table-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301752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目標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MLP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LeNet-5 型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CNN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テスト 97.0%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0.75 秒（4 エポック）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0.53 秒（2 エポック）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0.44 秒（1 エポック）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テスト 98.0%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1.34 秒（10 エポック）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1.31 秒（5 エポック）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0.87 秒（2 エポック）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テスト 98.5%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届かない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4.98 秒（19 エポック）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1.30 秒（3 エポック）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テスト 99.0%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届かない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届かない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3.03 秒（7 エポック）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ullets-142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CNN は 1 エポックあたりは遅いが、少ないエポックで高い認識率に届くので、同じ認識率に必要な時間はむしろ短い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MLP は 98.5% 以上には 20 エポックでも届かない。時間をかけても構造の差は埋まらない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LeNet-5 型は時間と重みの少なさのバランスが良い（組込み向け）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実装 — CUDA/src/cudacnn.cu と cudacnn.l</a:t>
            </a:r>
            <a:endParaRPr lang="en-US" sz="2800" dirty="0"/>
          </a:p>
        </p:txBody>
      </p:sp>
      <p:sp>
        <p:nvSpPr>
          <p:cNvPr id="4" name="code-143"/>
          <p:cNvSpPr txBox="1"/>
          <p:nvPr/>
        </p:nvSpPr>
        <p:spPr>
          <a:xfrm>
            <a:off x="548640" y="1234440"/>
            <a:ext cx="6583680" cy="3291840"/>
          </a:xfrm>
          <a:prstGeom prst="roundRect">
            <a:avLst>
              <a:gd name="adj" fmla="val 1667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;; cudacnn.l : ネットワークは層のリストで書く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(defparameter *cnn-net*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'((:conv 5 20) (:relu) (:pool) (:conv 5 50) (:relu) (:pool)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(:fc 500) (:relu) (:fc 10)))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(defparameter *mlp-net* '((:fc 1000) (:relu) (:fc 1000) (:relu) (:fc 10)))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(cnn-create *cnn-net* :precision 32 :device :gpu)  ; :cpu も可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(cnn-upload-dataset 0 *train-images* *train-labels*)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(cnn_train_epoch 200 *lr*)                          ; 1 エポック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(cnn-eval 1)                                       ; =&gt; (正解数 損失)</a:t>
            </a:r>
            <a:endParaRPr lang="en-US" sz="1250" dirty="0"/>
          </a:p>
        </p:txBody>
      </p:sp>
      <p:sp>
        <p:nvSpPr>
          <p:cNvPr id="5" name="bullets-144"/>
          <p:cNvSpPr txBox="1"/>
          <p:nvPr/>
        </p:nvSpPr>
        <p:spPr>
          <a:xfrm>
            <a:off x="7406640" y="1280160"/>
            <a:ext cx="4251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活性は NHWC。畳み込みは im2col + gemm、逆伝播は gemm 2 回 + col2im（atomic を使わず集める）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pooling は最大値の位置を覚えておき、逆伝播でそこにだけ勾配を返す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同じソースを GPU（CUDA カーネル + cuBLAS）と CPU（OpenMP + OpenBLAS）で動かす（__host__ __device__ ラムダ）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FP64 / FP32 をテンプレートで切り替え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nn.l と同じ学習則: SGD、勾配はバッチ和、ReLU の微分は u ≥ 0 で 1、逆伝播は更新前の重みを使う</a:t>
            </a:r>
            <a:endParaRPr lang="en-US" sz="1200" dirty="0"/>
          </a:p>
        </p:txBody>
      </p:sp>
      <p:sp>
        <p:nvSpPr>
          <p:cNvPr id="6" name="tile-145"/>
          <p:cNvSpPr txBox="1"/>
          <p:nvPr/>
        </p:nvSpPr>
        <p:spPr>
          <a:xfrm>
            <a:off x="548640" y="4709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head-146"/>
          <p:cNvSpPr txBox="1"/>
          <p:nvPr/>
        </p:nvSpPr>
        <p:spPr>
          <a:xfrm>
            <a:off x="1051560" y="4709160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正しさの確認</a:t>
            </a:r>
            <a:endParaRPr lang="en-US" sz="1700" dirty="0"/>
          </a:p>
        </p:txBody>
      </p:sp>
      <p:sp>
        <p:nvSpPr>
          <p:cNvPr id="8" name="text-147"/>
          <p:cNvSpPr txBox="1"/>
          <p:nvPr/>
        </p:nvSpPr>
        <p:spPr>
          <a:xfrm>
            <a:off x="548640" y="52120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PyTorch の自動微分と比べ、10 バッチ学習後の重みの差は 1×10⁻¹⁵ 程度（FP64, GPU・CPU とも）。ただし ReLU の微分を u = 0 で 0 とする PyTorch の定義に合わせないと一致しない（MNIST の背景は 0 なので u = 0 が多い）。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追加したファイルと使い方</a:t>
            </a:r>
            <a:endParaRPr lang="en-US" sz="2800" dirty="0"/>
          </a:p>
        </p:txBody>
      </p:sp>
      <p:sp>
        <p:nvSpPr>
          <p:cNvPr id="4" name="code-148"/>
          <p:cNvSpPr txBox="1"/>
          <p:nvPr/>
        </p:nvSpPr>
        <p:spPr>
          <a:xfrm>
            <a:off x="548640" y="12344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CUDA/src/cudacnn.cu   CNN エンジン (conv / pool / relu / fc, GPU と CPU, FP64/FP32)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CUDA/Makefile         → CUDA/LinuxARM/libcudacnn.so も作る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cudacnn.l             defforeign とネットワークの記述・初期化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nn-cnn.l              学習・比較の関数 (nn-cuda.l を読み込む)</a:t>
            </a:r>
            <a:endParaRPr lang="en-US" sz="1300" dirty="0"/>
          </a:p>
        </p:txBody>
      </p:sp>
      <p:sp>
        <p:nvSpPr>
          <p:cNvPr id="5" name="code-149"/>
          <p:cNvSpPr txBox="1"/>
          <p:nvPr/>
        </p:nvSpPr>
        <p:spPr>
          <a:xfrm>
            <a:off x="548640" y="2788920"/>
            <a:ext cx="11064240" cy="3474720"/>
          </a:xfrm>
          <a:prstGeom prst="roundRect">
            <a:avLst>
              <a:gd name="adj" fmla="val 1579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(cd CUDA; make)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roseus nn-cnn.l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(test-mnist-cnn *cnn-net*)                         ;; CNN を GPU FP32 で 20 エポック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(test-mnist-cnn *lenet5-net*)                      ;; LeNet-5 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(test-mnist-cnn *mlp-net* :params :nnl)            ;; CNN なし (nn.l と同じ初期値)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(test-mnist-cnn *cnn-net* :device :cpu :epoch 1)   ;; CPU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(test-mnist-cnn '((:conv 3 32) (:relu) (:pool) (:fc 10)))  ;; 好きな構成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(bench-mnist-cnn)                                  ;; 本スライドの比較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# CPU のスレッド数 (取り合いを避ける)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$ OMP_NUM_THREADS=10 OPENBLAS_NUM_THREADS=10 roseus nn-cnn.l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まとめ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CNN を入れるとテストの誤りが 183 枚 → 83 枚（98.17% → 99.17%）。重みは 1/4 で、学習データとの差（過学習）も小さい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理由は画像の性質（近くの画素の関係・同じ形がどこにでも出る）を構造として持つこと。ずらした画像や画素を入れ替えた実験で確認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1 エポックは GPU で 0.10 → 0.43 秒（×4.3）、CPU で ×6.8。ただし同じ認識率に届く時間は CNN の方が短い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</a:rPr>
              <a:t>チャネル数・層の数は精度と時間の兼ね合い。畳み込み部分が性能の主役で、全結合は小さくてよい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NIST Ink">
  <a:themeElements>
    <a:clrScheme name="MNIST Ink">
      <a:dk1>
        <a:srgbClr val="14213D"/>
      </a:dk1>
      <a:lt1>
        <a:srgbClr val="FFFFFF"/>
      </a:lt1>
      <a:dk2>
        <a:srgbClr val="2B3A55"/>
      </a:dk2>
      <a:lt2>
        <a:srgbClr val="EEF1F6"/>
      </a:lt2>
      <a:accent1>
        <a:srgbClr val="E4572E"/>
      </a:accent1>
      <a:accent2>
        <a:srgbClr val="3A6EA5"/>
      </a:accent2>
      <a:accent3>
        <a:srgbClr val="F2A541"/>
      </a:accent3>
      <a:accent4>
        <a:srgbClr val="5B8C5A"/>
      </a:accent4>
      <a:accent5>
        <a:srgbClr val="8E7DBE"/>
      </a:accent5>
      <a:accent6>
        <a:srgbClr val="5B6577"/>
      </a:accent6>
      <a:hlink>
        <a:srgbClr val="3A6EA5"/>
      </a:hlink>
      <a:folHlink>
        <a:srgbClr val="8E7DBE"/>
      </a:folHlink>
    </a:clrScheme>
    <a:fontScheme name="MNIST Ink">
      <a:majorFont>
        <a:latin typeface="BIZ UDPGothic"/>
        <a:ea typeface="BIZ UDP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× EusLisp に CNN を入れる — 認識率と計算時間</dc:title>
  <dc:subject>MNIST dataset, MLP implementation in EusLisp, profiling and results</dc:subject>
  <dc:creator>Masayuki Inaba</dc:creator>
  <cp:lastModifiedBy>Masayuki Inaba</cp:lastModifiedBy>
  <cp:revision>1</cp:revision>
  <dcterms:created xsi:type="dcterms:W3CDTF">2026-10-02T23:46:33Z</dcterms:created>
  <dcterms:modified xsi:type="dcterms:W3CDTF">2026-10-02T23:46:33Z</dcterms:modified>
</cp:coreProperties>
</file>