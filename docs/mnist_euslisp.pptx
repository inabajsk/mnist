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2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7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</p:sldIdLst>
  <p:notesMasterIdLst>
    <p:notesMasterId r:id="rId5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タイトル" id="{2c3059bf-88f5-4c09-5261-352390c79333}">
          <p14:sldIdLst>
            <p14:sldId id="256"/>
            <p14:sldId id="257"/>
          </p14:sldIdLst>
        </p14:section>
        <p14:section name="1. MNISTとは" id="{c4694e61-a799-6431-7336-c3aa231c325d}">
          <p14:sldIdLst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2. 本リポジトリの実装" id="{70b41589-a395-e303-7455-f37579e51006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3. 処理時間プロファイル" id="{24133697-0f7a-3f3f-d6e3-3765ae3a0f27}">
          <p14:sldIdLst>
            <p14:sldId id="272"/>
            <p14:sldId id="273"/>
            <p14:sldId id="274"/>
            <p14:sldId id="275"/>
          </p14:sldIdLst>
        </p14:section>
        <p14:section name="4. 学習経過" id="{b9e81af1-35b1-ffaf-7041-f1648e462ab6}">
          <p14:sldIdLst>
            <p14:sldId id="276"/>
            <p14:sldId id="277"/>
            <p14:sldId id="278"/>
          </p14:sldIdLst>
        </p14:section>
        <p14:section name="5. 認識テストの結果" id="{8445b2ba-9879-2fbd-3d00-dfe1986d7ad8}">
          <p14:sldIdLst>
            <p14:sldId id="279"/>
            <p14:sldId id="280"/>
            <p14:sldId id="281"/>
            <p14:sldId id="282"/>
            <p14:sldId id="283"/>
            <p14:sldId id="284"/>
            <p14:sldId id="285"/>
          </p14:sldIdLst>
        </p14:section>
        <p14:section name="6. 使用した手書き画像（全70,000枚）" id="{db311e19-9394-2ef6-a3f5-af1d2170ba22}">
          <p14:sldIdLst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</p14:sldIdLst>
        </p14:section>
        <p14:section name="まとめ" id="{16f78bdd-d9f4-bf9e-49a4-5ccc11c6f9eb}">
          <p14:sldIdLst>
            <p14:sldId id="302"/>
            <p14:sldId id="30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notesMaster" Target="notesMasters/notesMaster1.xml"/><Relationship Id="rId51" Type="http://schemas.openxmlformats.org/officeDocument/2006/relationships/presProps" Target="presProps.xml"/><Relationship Id="rId52" Type="http://schemas.openxmlformats.org/officeDocument/2006/relationships/viewProps" Target="viewProps.xml"/><Relationship Id="rId53" Type="http://schemas.openxmlformats.org/officeDocument/2006/relationships/theme" Target="theme/theme1.xml"/><Relationship Id="rId5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  <a:ea typeface="BIZ UDPGothic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+mn-lt"/>
                <a:ea typeface="BIZ UDPGothic"/>
              </a:rPr>
              <a:t>テスト誤り率 [%]（小さいほど良い）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誤り率 %</c:v>
                </c:pt>
              </c:strCache>
            </c:strRef>
          </c:tx>
          <c:spPr>
            <a:solidFill>
              <a:srgbClr val="5B6577"/>
            </a:solidFill>
            <a:effectLst/>
          </c:spPr>
          <c:invertIfNegative val="0"/>
          <c:dLbls>
            <c:numFmt formatCode="0.0#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線形</c:v>
                  </c:pt>
                  <c:pt idx="1">
                    <c:v>k-NN</c:v>
                  </c:pt>
                  <c:pt idx="2">
                    <c:v>2層NN</c:v>
                  </c:pt>
                  <c:pt idx="3">
                    <c:v>3層NN
300+100</c:v>
                  </c:pt>
                  <c:pt idx="4">
                    <c:v>3層NN
500+150</c:v>
                  </c:pt>
                  <c:pt idx="5">
                    <c:v>LeNet-1</c:v>
                  </c:pt>
                  <c:pt idx="6">
                    <c:v>SVM</c:v>
                  </c:pt>
                  <c:pt idx="7">
                    <c:v>LeNet-5</c:v>
                  </c:pt>
                  <c:pt idx="8">
                    <c:v>本実装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5</c:v>
                </c:pt>
                <c:pt idx="2">
                  <c:v>4.7</c:v>
                </c:pt>
                <c:pt idx="3">
                  <c:v>3.05</c:v>
                </c:pt>
                <c:pt idx="4">
                  <c:v>2.95</c:v>
                </c:pt>
                <c:pt idx="5">
                  <c:v>1.7</c:v>
                </c:pt>
                <c:pt idx="6">
                  <c:v>1.1</c:v>
                </c:pt>
                <c:pt idx="7">
                  <c:v>0.95</c:v>
                </c:pt>
                <c:pt idx="8">
                  <c:v>1.76</c:v>
                </c:pt>
              </c:numCache>
            </c:numRef>
          </c:val>
        </c:ser>
        <c:dLbls>
          <c:numFmt formatCode="0.0#" sourceLinked="0"/>
          <c:txPr>
            <a:bodyPr/>
            <a:lstStyle/>
            <a:p>
              <a:pPr>
                <a:defRPr b="0" i="0" strike="noStrike" sz="1000" u="none">
                  <a:solidFill>
                    <a:srgbClr val="14213D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時間 [s]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バッチ作成（画像コピー）</c:v>
                  </c:pt>
                  <c:pt idx="1">
                    <c:v>順伝播 dgemm</c:v>
                  </c:pt>
                  <c:pt idx="2">
                    <c:v>dW 配列の確保</c:v>
                  </c:pt>
                  <c:pt idx="3">
                    <c:v>勾配 dW の dgemm</c:v>
                  </c:pt>
                  <c:pt idx="4">
                    <c:v>逆伝播 dgemm</c:v>
                  </c:pt>
                  <c:pt idx="5">
                    <c:v>ReLU微分と要素積</c:v>
                  </c:pt>
                  <c:pt idx="6">
                    <c:v>Wt の転置作成</c:v>
                  </c:pt>
                  <c:pt idx="7">
                    <c:v>ReLU（順伝播）</c:v>
                  </c:pt>
                  <c:pt idx="8">
                    <c:v>バイアス行列の複製</c:v>
                  </c:pt>
                  <c:pt idx="9">
                    <c:v>重み更新 daxpy</c:v>
                  </c:pt>
                  <c:pt idx="10">
                    <c:v>δ の転置</c:v>
                  </c:pt>
                  <c:pt idx="11">
                    <c:v>δ 配列の確保</c:v>
                  </c:pt>
                  <c:pt idx="12">
                    <c:v>損失計算</c:v>
                  </c:pt>
                  <c:pt idx="13">
                    <c:v>勾配 db の dgemm</c:v>
                  </c:pt>
                  <c:pt idx="14">
                    <c:v>その他（softmax・b更新ほか）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13.56</c:v>
                </c:pt>
                <c:pt idx="1">
                  <c:v>3.52</c:v>
                </c:pt>
                <c:pt idx="2">
                  <c:v>3.51</c:v>
                </c:pt>
                <c:pt idx="3">
                  <c:v>2.9</c:v>
                </c:pt>
                <c:pt idx="4">
                  <c:v>1.95</c:v>
                </c:pt>
                <c:pt idx="5">
                  <c:v>1.59</c:v>
                </c:pt>
                <c:pt idx="6">
                  <c:v>1.43</c:v>
                </c:pt>
                <c:pt idx="7">
                  <c:v>1.36</c:v>
                </c:pt>
                <c:pt idx="8">
                  <c:v>0.78</c:v>
                </c:pt>
                <c:pt idx="9">
                  <c:v>0.41</c:v>
                </c:pt>
                <c:pt idx="10">
                  <c:v>0.3</c:v>
                </c:pt>
                <c:pt idx="11">
                  <c:v>0.23</c:v>
                </c:pt>
                <c:pt idx="12">
                  <c:v>0.12</c:v>
                </c:pt>
                <c:pt idx="13">
                  <c:v>0.11</c:v>
                </c:pt>
                <c:pt idx="14">
                  <c:v>0.15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000" u="none">
                  <a:solidFill>
                    <a:srgbClr val="14213D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  <a:ea typeface="BIZ UDPGothic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+mn-lt"/>
                <a:ea typeface="BIZ UDPGothic"/>
              </a:rPr>
              <a:t>1エポック換算の壁時計時間 [s] vs バッチサイズ</a:t>
            </a:r>
          </a:p>
        </c:rich>
      </c:tx>
      <c:layout/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計算（バッチ作成以外）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10</c:v>
                  </c:pt>
                  <c:pt idx="1">
                    <c:v>50</c:v>
                  </c:pt>
                  <c:pt idx="2">
                    <c:v>100</c:v>
                  </c:pt>
                  <c:pt idx="3">
                    <c:v>200</c:v>
                  </c:pt>
                  <c:pt idx="4">
                    <c:v>500</c:v>
                  </c:pt>
                  <c:pt idx="5">
                    <c:v>1000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178.1</c:v>
                </c:pt>
                <c:pt idx="1">
                  <c:v>50</c:v>
                </c:pt>
                <c:pt idx="2">
                  <c:v>24.9</c:v>
                </c:pt>
                <c:pt idx="3">
                  <c:v>19.7</c:v>
                </c:pt>
                <c:pt idx="4">
                  <c:v>16</c:v>
                </c:pt>
                <c:pt idx="5">
                  <c:v>17.6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バッチ作成</c:v>
                </c:pt>
              </c:strCache>
            </c:strRef>
          </c:tx>
          <c:spPr>
            <a:solidFill>
              <a:srgbClr val="F2A54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10</c:v>
                  </c:pt>
                  <c:pt idx="1">
                    <c:v>50</c:v>
                  </c:pt>
                  <c:pt idx="2">
                    <c:v>100</c:v>
                  </c:pt>
                  <c:pt idx="3">
                    <c:v>200</c:v>
                  </c:pt>
                  <c:pt idx="4">
                    <c:v>500</c:v>
                  </c:pt>
                  <c:pt idx="5">
                    <c:v>1000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1.7</c:v>
                </c:pt>
                <c:pt idx="1">
                  <c:v>1.5</c:v>
                </c:pt>
                <c:pt idx="2">
                  <c:v>1.5</c:v>
                </c:pt>
                <c:pt idx="3">
                  <c:v>1.6</c:v>
                </c:pt>
                <c:pt idx="4">
                  <c:v>1.5</c:v>
                </c:pt>
                <c:pt idx="5">
                  <c:v>1.9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defRPr>
                </a:pPr>
                <a:r>
                  <a: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rPr>
                  <a:t>バッチサイズ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latin typeface="+mn-lt"/>
              <a:ea typeface="BIZ UDPGothic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  <a:ea typeface="BIZ UDPGothic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+mn-lt"/>
                <a:ea typeface="BIZ UDPGothic"/>
              </a:rPr>
              <a:t>OPENBLAS_NUM_THREADS 別（バッチ200, 1エポック換算 [s]）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壁時計 [s]</c:v>
                </c:pt>
              </c:strCache>
            </c:strRef>
          </c:tx>
          <c:spPr>
            <a:solidFill>
              <a:srgbClr val="5B8C5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1 スレッド</c:v>
                  </c:pt>
                  <c:pt idx="1">
                    <c:v>4 スレッド</c:v>
                  </c:pt>
                  <c:pt idx="2">
                    <c:v>20 スレッド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36</c:v>
                </c:pt>
                <c:pt idx="1">
                  <c:v>19.7</c:v>
                </c:pt>
                <c:pt idx="2">
                  <c:v>30.2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学習 60,000枚</c:v>
                </c:pt>
              </c:strCache>
            </c:strRef>
          </c:tx>
          <c:spPr>
            <a:solidFill>
              <a:srgbClr val="3A6EA5"/>
            </a:solidFill>
            <a:ln w="31750" cap="flat">
              <a:solidFill>
                <a:srgbClr val="3A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A6EA5"/>
              </a:solidFill>
              <a:ln w="9525" cap="flat">
                <a:solidFill>
                  <a:srgbClr val="3A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0.1728</c:v>
                </c:pt>
                <c:pt idx="1">
                  <c:v>0.1153</c:v>
                </c:pt>
                <c:pt idx="2">
                  <c:v>0.086</c:v>
                </c:pt>
                <c:pt idx="3">
                  <c:v>0.0673</c:v>
                </c:pt>
                <c:pt idx="4">
                  <c:v>0.054</c:v>
                </c:pt>
                <c:pt idx="5">
                  <c:v>0.0439</c:v>
                </c:pt>
                <c:pt idx="6">
                  <c:v>0.0367</c:v>
                </c:pt>
                <c:pt idx="7">
                  <c:v>0.0309</c:v>
                </c:pt>
                <c:pt idx="8">
                  <c:v>0.026</c:v>
                </c:pt>
                <c:pt idx="9">
                  <c:v>0.0218</c:v>
                </c:pt>
                <c:pt idx="10">
                  <c:v>0.0184</c:v>
                </c:pt>
                <c:pt idx="11">
                  <c:v>0.0154</c:v>
                </c:pt>
                <c:pt idx="12">
                  <c:v>0.0129</c:v>
                </c:pt>
                <c:pt idx="13">
                  <c:v>0.0109</c:v>
                </c:pt>
                <c:pt idx="14">
                  <c:v>0.0092</c:v>
                </c:pt>
                <c:pt idx="15">
                  <c:v>0.0079</c:v>
                </c:pt>
                <c:pt idx="16">
                  <c:v>0.0069</c:v>
                </c:pt>
                <c:pt idx="17">
                  <c:v>0.006</c:v>
                </c:pt>
                <c:pt idx="18">
                  <c:v>0.0053</c:v>
                </c:pt>
                <c:pt idx="19">
                  <c:v>0.0047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テスト 10,000枚</c:v>
                </c:pt>
              </c:strCache>
            </c:strRef>
          </c:tx>
          <c:spPr>
            <a:solidFill>
              <a:srgbClr val="E4572E"/>
            </a:solidFill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0.1739</c:v>
                </c:pt>
                <c:pt idx="1">
                  <c:v>0.1238</c:v>
                </c:pt>
                <c:pt idx="2">
                  <c:v>0.1003</c:v>
                </c:pt>
                <c:pt idx="3">
                  <c:v>0.0869</c:v>
                </c:pt>
                <c:pt idx="4">
                  <c:v>0.0785</c:v>
                </c:pt>
                <c:pt idx="5">
                  <c:v>0.0729</c:v>
                </c:pt>
                <c:pt idx="6">
                  <c:v>0.0697</c:v>
                </c:pt>
                <c:pt idx="7">
                  <c:v>0.0674</c:v>
                </c:pt>
                <c:pt idx="8">
                  <c:v>0.0658</c:v>
                </c:pt>
                <c:pt idx="9">
                  <c:v>0.0644</c:v>
                </c:pt>
                <c:pt idx="10">
                  <c:v>0.0634</c:v>
                </c:pt>
                <c:pt idx="11">
                  <c:v>0.0622</c:v>
                </c:pt>
                <c:pt idx="12">
                  <c:v>0.0613</c:v>
                </c:pt>
                <c:pt idx="13">
                  <c:v>0.0605</c:v>
                </c:pt>
                <c:pt idx="14">
                  <c:v>0.0599</c:v>
                </c:pt>
                <c:pt idx="15">
                  <c:v>0.0594</c:v>
                </c:pt>
                <c:pt idx="16">
                  <c:v>0.0592</c:v>
                </c:pt>
                <c:pt idx="17">
                  <c:v>0.059</c:v>
                </c:pt>
                <c:pt idx="18">
                  <c:v>0.059</c:v>
                </c:pt>
                <c:pt idx="19">
                  <c:v>0.0589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defRPr>
                </a:pPr>
                <a:r>
                  <a: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rPr>
                  <a:t>エポック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defRPr>
                </a:pPr>
                <a:r>
                  <a: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rPr>
                  <a:t>平均交差エントロピー</a:t>
                </a:r>
              </a:p>
            </c:rich>
          </c:tx>
          <c:layout/>
          <c:overlay val="0"/>
        </c:title>
        <c:numFmt formatCode="0.0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ea typeface="BIZ UDPGothic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学習</c:v>
                </c:pt>
              </c:strCache>
            </c:strRef>
          </c:tx>
          <c:spPr>
            <a:solidFill>
              <a:srgbClr val="3A6EA5"/>
            </a:solidFill>
            <a:ln w="31750" cap="flat">
              <a:solidFill>
                <a:srgbClr val="3A6EA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3A6EA5"/>
              </a:solidFill>
              <a:ln w="9525" cap="flat">
                <a:solidFill>
                  <a:srgbClr val="3A6EA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94.86</c:v>
                </c:pt>
                <c:pt idx="1">
                  <c:v>96.62</c:v>
                </c:pt>
                <c:pt idx="2">
                  <c:v>97.53</c:v>
                </c:pt>
                <c:pt idx="3">
                  <c:v>98.04</c:v>
                </c:pt>
                <c:pt idx="4">
                  <c:v>98.47</c:v>
                </c:pt>
                <c:pt idx="5">
                  <c:v>98.77</c:v>
                </c:pt>
                <c:pt idx="6">
                  <c:v>99.01</c:v>
                </c:pt>
                <c:pt idx="7">
                  <c:v>99.18</c:v>
                </c:pt>
                <c:pt idx="8">
                  <c:v>99.34</c:v>
                </c:pt>
                <c:pt idx="9">
                  <c:v>99.49</c:v>
                </c:pt>
                <c:pt idx="10">
                  <c:v>99.59</c:v>
                </c:pt>
                <c:pt idx="11">
                  <c:v>99.68</c:v>
                </c:pt>
                <c:pt idx="12">
                  <c:v>99.74</c:v>
                </c:pt>
                <c:pt idx="13">
                  <c:v>99.81</c:v>
                </c:pt>
                <c:pt idx="14">
                  <c:v>99.87</c:v>
                </c:pt>
                <c:pt idx="15">
                  <c:v>99.9</c:v>
                </c:pt>
                <c:pt idx="16">
                  <c:v>99.92</c:v>
                </c:pt>
                <c:pt idx="17">
                  <c:v>99.94</c:v>
                </c:pt>
                <c:pt idx="18">
                  <c:v>99.96</c:v>
                </c:pt>
                <c:pt idx="19">
                  <c:v>99.97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テスト</c:v>
                </c:pt>
              </c:strCache>
            </c:strRef>
          </c:tx>
          <c:spPr>
            <a:solidFill>
              <a:srgbClr val="E4572E"/>
            </a:solidFill>
            <a:ln w="31750" cap="flat">
              <a:solidFill>
                <a:srgbClr val="E457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E4572E"/>
              </a:solidFill>
              <a:ln w="9525" cap="flat">
                <a:solidFill>
                  <a:srgbClr val="E457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Sheet1!$A$2:$A$21</c:f>
              <c:multiLvlStrCache>
                <c:ptCount val="20"/>
                <c:lvl>
                  <c:pt idx="0">
                    <c:v>1</c:v>
                  </c:pt>
                  <c:pt idx="1">
                    <c:v>2</c:v>
                  </c:pt>
                  <c:pt idx="2">
                    <c:v>3</c:v>
                  </c:pt>
                  <c:pt idx="3">
                    <c:v>4</c:v>
                  </c:pt>
                  <c:pt idx="4">
                    <c:v>5</c:v>
                  </c:pt>
                  <c:pt idx="5">
                    <c:v>6</c:v>
                  </c:pt>
                  <c:pt idx="6">
                    <c:v>7</c:v>
                  </c:pt>
                  <c:pt idx="7">
                    <c:v>8</c:v>
                  </c:pt>
                  <c:pt idx="8">
                    <c:v>9</c:v>
                  </c:pt>
                  <c:pt idx="9">
                    <c:v>10</c:v>
                  </c:pt>
                  <c:pt idx="10">
                    <c:v>11</c:v>
                  </c:pt>
                  <c:pt idx="11">
                    <c:v>12</c:v>
                  </c:pt>
                  <c:pt idx="12">
                    <c:v>13</c:v>
                  </c:pt>
                  <c:pt idx="13">
                    <c:v>14</c:v>
                  </c:pt>
                  <c:pt idx="14">
                    <c:v>15</c:v>
                  </c:pt>
                  <c:pt idx="15">
                    <c:v>16</c:v>
                  </c:pt>
                  <c:pt idx="16">
                    <c:v>17</c:v>
                  </c:pt>
                  <c:pt idx="17">
                    <c:v>18</c:v>
                  </c:pt>
                  <c:pt idx="18">
                    <c:v>19</c:v>
                  </c:pt>
                  <c:pt idx="19">
                    <c:v>20</c:v>
                  </c:pt>
                </c:lvl>
              </c:multiLvlStrCache>
            </c:multiLvlStrRef>
          </c:cat>
          <c:val>
            <c:numRef>
              <c:f>Sheet1!$C$2:$C$21</c:f>
              <c:numCache>
                <c:formatCode>General</c:formatCode>
                <c:ptCount val="20"/>
                <c:pt idx="0">
                  <c:v>94.71</c:v>
                </c:pt>
                <c:pt idx="1">
                  <c:v>96.18</c:v>
                </c:pt>
                <c:pt idx="2">
                  <c:v>96.81</c:v>
                </c:pt>
                <c:pt idx="3">
                  <c:v>97.2</c:v>
                </c:pt>
                <c:pt idx="4">
                  <c:v>97.58</c:v>
                </c:pt>
                <c:pt idx="5">
                  <c:v>97.68</c:v>
                </c:pt>
                <c:pt idx="6">
                  <c:v>97.76</c:v>
                </c:pt>
                <c:pt idx="7">
                  <c:v>97.85</c:v>
                </c:pt>
                <c:pt idx="8">
                  <c:v>97.89</c:v>
                </c:pt>
                <c:pt idx="9">
                  <c:v>97.92</c:v>
                </c:pt>
                <c:pt idx="10">
                  <c:v>97.97</c:v>
                </c:pt>
                <c:pt idx="11">
                  <c:v>98.03</c:v>
                </c:pt>
                <c:pt idx="12">
                  <c:v>98.09</c:v>
                </c:pt>
                <c:pt idx="13">
                  <c:v>98.11</c:v>
                </c:pt>
                <c:pt idx="14">
                  <c:v>98.12</c:v>
                </c:pt>
                <c:pt idx="15">
                  <c:v>98.12</c:v>
                </c:pt>
                <c:pt idx="16">
                  <c:v>98.16</c:v>
                </c:pt>
                <c:pt idx="17">
                  <c:v>98.2</c:v>
                </c:pt>
                <c:pt idx="18">
                  <c:v>98.21</c:v>
                </c:pt>
                <c:pt idx="19">
                  <c:v>98.24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defRPr>
                </a:pPr>
                <a:r>
                  <a: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rPr>
                  <a:t>エポック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4"/>
        </c:scaling>
        <c:delete val="0"/>
        <c:axPos val="l"/>
        <c:majorGridlines>
          <c:spPr>
            <a:ln w="6350" cap="flat">
              <a:solidFill>
                <a:srgbClr val="E2E6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defRPr>
                </a:pPr>
                <a:r>
                  <a: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rPr>
                  <a:t>認識率 [%]</a:t>
                </a:r>
              </a:p>
            </c:rich>
          </c:tx>
          <c:layout/>
          <c:overlay val="0"/>
        </c:title>
        <c:numFmt formatCode="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latin typeface="+mn-lt"/>
              <a:ea typeface="BIZ UDPGothic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4213D"/>
                </a:solidFill>
                <a:latin typeface="+mn-lt"/>
                <a:ea typeface="BIZ UDPGothic"/>
              </a:defRPr>
            </a:pPr>
            <a:r>
              <a:rPr sz="1300" b="0" i="0" u="none" strike="noStrike">
                <a:solidFill>
                  <a:srgbClr val="14213D"/>
                </a:solidFill>
                <a:latin typeface="+mn-lt"/>
                <a:ea typeface="BIZ UDPGothic"/>
              </a:rPr>
              <a:t>数字ごとのテスト認識率 [%]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認識率 %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98.78</c:v>
                </c:pt>
                <c:pt idx="1">
                  <c:v>99.03</c:v>
                </c:pt>
                <c:pt idx="2">
                  <c:v>98.26</c:v>
                </c:pt>
                <c:pt idx="3">
                  <c:v>97.43</c:v>
                </c:pt>
                <c:pt idx="4">
                  <c:v>98.17</c:v>
                </c:pt>
                <c:pt idx="5">
                  <c:v>97.76</c:v>
                </c:pt>
                <c:pt idx="6">
                  <c:v>98.33</c:v>
                </c:pt>
                <c:pt idx="7">
                  <c:v>98.15</c:v>
                </c:pt>
                <c:pt idx="8">
                  <c:v>97.84</c:v>
                </c:pt>
                <c:pt idx="9">
                  <c:v>98.51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100" u="none">
                  <a:solidFill>
                    <a:srgbClr val="14213D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defRPr>
                </a:pPr>
                <a:r>
                  <a:rPr sz="1100" b="0" i="0" u="none" strike="noStrike">
                    <a:solidFill>
                      <a:srgbClr val="5B6577"/>
                    </a:solidFill>
                    <a:latin typeface="BIZ UDPGothic"/>
                    <a:ea typeface="BIZ UDPGothic"/>
                  </a:rPr>
                  <a:t>正解の数字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96"/>
        </c:scaling>
        <c:delete val="0"/>
        <c:axPos val="l"/>
        <c:majorGridlines>
          <c:spPr>
            <a:ln w="6350" cap="flat">
              <a:solidFill>
                <a:srgbClr val="E2E6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確率</c:v>
                </c:pt>
              </c:strCache>
            </c:strRef>
          </c:tx>
          <c:spPr>
            <a:solidFill>
              <a:srgbClr val="5B8C5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4213D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確率</c:v>
                </c:pt>
              </c:strCache>
            </c:strRef>
          </c:tx>
          <c:spPr>
            <a:solidFill>
              <a:srgbClr val="E4572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4213D"/>
                    </a:solidFill>
                    <a:latin typeface="+mn-lt"/>
                    <a:ea typeface="BIZ UDPGothi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0</c:v>
                </c:pt>
                <c:pt idx="1">
                  <c:v>0.468</c:v>
                </c:pt>
                <c:pt idx="2">
                  <c:v>0.062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0.463</c:v>
                </c:pt>
                <c:pt idx="8">
                  <c:v>0.007</c:v>
                </c:pt>
                <c:pt idx="9">
                  <c:v>0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14213D"/>
                  </a:solidFill>
                  <a:latin typeface="+mn-lt"/>
                  <a:ea typeface="BIZ UDPGothi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1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B6577"/>
                </a:solidFill>
                <a:latin typeface="+mn-lt"/>
                <a:ea typeface="BIZ UDPGothic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このスライドは全体のまとめ。詳細は後続スライド。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MNISTの初出はLeCunら1998年のProc. IEEE論文。データセット自体はLeCun, Cortes, Burgesが公開。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SD-3は国勢調査局職員、SD-1は高校生が書いたもの。両者を半々に混ぜて学習・テストを作った点がMNISTの要点。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本スライドのサイズとMD5は、2026-10-02 に Google Cloud のミラーから実際にダウンロードして確認した値。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原論文 Fig.9 および公式ページの表から主要な手法を抜粋。本実装は前処理・データ拡張なしの3層全結合NN。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MNISTは易しすぎるとの指摘から多くの派生データセットが作られている。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大きなデータファイルは Git LFS 管理（.gitattributes で *.l と *.tgz を LFS 指定）。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上から下へ呼び出し。Lispの配列(float-vector)の実体ポインタをそのままCに渡しているのでコピーは発生しない。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本スライドの一致確認は、ミラーから取得した IDX ファイルと mlp/mnist-datasets.l を Python で比較して行った。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パラメータ数: 784×1000+1000 + 1000×1000+1000 + 1000×10+10 = 1,796,010。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Perceptron が1層分、MultiLayerPerceptron が層のリストを持つ。:call は (バッチ×入力) 行列を受けて (バッチ×出力) を返す。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Softmax＋交差エントロピーの組合せなので出力層の誤差は y − t になる。勾配はバッチ内で平均せず合計している点に注意。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保存されたモデルの u スロットの形が 200×1000 であることから、保存済みの学習はバッチ200で行われたと確認できる。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nn.l の :train-batch と同じ処理を、区間ごとに gettimeofday で計測するラッパーで実行した。別プロセスの負荷があったため数値は目安。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先頭6,000枚で計測し60,000枚に換算。バッチ500以上は元の libmatprod.so ではクラッシュするため、free() を修正したコピーで計測した。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推論は保存済みモデル mnist-mlp-19.l を使用。1枚ずつ :test を呼ぶ方法と、10,000枚を1つの行列にまとめる方法を比較した。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各エポック終了時点のモデルで全データの平均交差エントロピーを計算。nn.l の表示値はエポック内の移動平均なのでこれより大きめに出る。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ファイルの更新時刻からエポック5〜20は 07:24〜07:40、エポック1〜4は 08:18〜08:21 に書かれている（後で再実行され上書き）。既定シードの乱数のため同じ結果になり、曲線は連続している。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クラスごとの認識率 = 混同行列の対角 / 行の合計。3, 5, 8 が相対的に難しい。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行が正解、列が予測。対角以外の色が濃いほど間違いが多い。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インデックスは nn.l の *test-images* の番号（元 MNIST の番号 = 9999 − i）。白黒反転して表示。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学習データでも誤るものは、ラベル自体があいまいな画像が多い。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test-mnist-test は誤認識した画像だけを irtviewer に表示し、1位と2位の候補と確率を描く。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W₁ の各行（784次元）を 28×28 に並べ直したもの。初期値（±0.08 の一様乱数）からの変化が大きい100個を表示。赤=正、青=負。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枚数は本データで数えた値。クラスの偏りは小さい（最少 5 の 5,421 枚、最多 1 の 6,742 枚）。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の小さい順、行ごとに右へ。拡大表示すると個々の数字を確認できる。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1行100枚×50行。左上が i の小さい順、行ごとに右へ。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いずれもリポジトリのコードは変更していない。matprod.c の free() 修正はプロファイル用の一時コピーにのみ適用した。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CADCFC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CADCFC"/>
                </a:solidFill>
              </a:defRPr>
            </a:lvl1pPr>
          </a:lstStyle>
          <a:p>
            <a:pPr algn="l"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548640" y="641908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MNIST 手書き数字認識 — EusLisp + OpenBLAS 実装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HEET">
    <p:bg>
      <p:bgPr>
        <a:solidFill>
          <a:srgbClr val="0B0F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4" Type="http://schemas.openxmlformats.org/officeDocument/2006/relationships/chart" Target="/ppt/charts/chart9.xml"/><Relationship Id="rId1" Type="http://schemas.openxmlformats.org/officeDocument/2006/relationships/image" Target="../media/image-29-1.png"/><Relationship Id="rId3" Type="http://schemas.openxmlformats.org/officeDocument/2006/relationships/image" Target="../media/image-29-2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30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6-1.pn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MNIST 手書き数字認識</a:t>
            </a:r>
            <a:endParaRPr lang="en-US" sz="3400" dirty="0"/>
          </a:p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EusLisp + OpenBLAS による多層パーセプトロン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原論文・データセットの出典から、本リポジトリの実装・NN構成・処理時間プロファイル・学習経過・認識テスト結果、使用した全70,000枚の画像まで</a:t>
            </a:r>
            <a:endParaRPr lang="en-US" sz="1800" dirty="0"/>
          </a:p>
          <a:p>
            <a:pPr algn="l" indent="0" marL="0">
              <a:buNone/>
            </a:pPr>
            <a:r>
              <a:rPr lang="en-US" sz="1300" dirty="0">
                <a:solidFill>
                  <a:srgbClr val="8FA3C8"/>
                </a:solidFill>
              </a:rPr>
              <a:t>対象: ~/mnist（nn.l / mnist.l / mnist-draw.l / cblaslib.l / MATPROD）　計測環境: DGX Spark (aarch64, 20コア), OpenBLAS 0.3.26 (64bit-int, pthread)</a:t>
            </a:r>
            <a:endParaRPr lang="en-US" sz="1800" dirty="0"/>
          </a:p>
        </p:txBody>
      </p:sp>
      <p:pic>
        <p:nvPicPr>
          <p:cNvPr id="4" name="title-digits" descr="/tmp/claude-1001/-home-mi-mnist/137a571b-9a80-4a1c-8647-53667b8e1fcb/scratchpad/work/fig/class_samples.png">    </p:cNvPr>
          <p:cNvPicPr>
            <a:picLocks noChangeAspect="1"/>
          </p:cNvPicPr>
          <p:nvPr/>
        </p:nvPicPr>
        <p:blipFill>
          <a:blip r:embed="rId1"/>
          <a:srcRect l="0" r="0" t="0" b="59360"/>
          <a:stretch/>
        </p:blipFill>
        <p:spPr>
          <a:xfrm>
            <a:off x="731520" y="548640"/>
            <a:ext cx="4754880" cy="9601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31520" y="6035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3C8"/>
                </a:solidFill>
              </a:rPr>
              <a:t>2026-10-02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概要 — 4つの数字で見る本実装</a:t>
            </a:r>
            <a:endParaRPr lang="en-US" sz="2800" dirty="0"/>
          </a:p>
        </p:txBody>
      </p:sp>
      <p:sp>
        <p:nvSpPr>
          <p:cNvPr id="4" name="card-1"/>
          <p:cNvSpPr/>
          <p:nvPr/>
        </p:nvSpPr>
        <p:spPr>
          <a:xfrm>
            <a:off x="548640" y="1325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463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chemeClr val="tx1"/>
                </a:solidFill>
              </a:rPr>
              <a:t>70,000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使用画像数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学習 60,000 ＋ テスト 10,000（MNIST全数）</a:t>
            </a:r>
            <a:endParaRPr lang="en-US" sz="1150" dirty="0"/>
          </a:p>
        </p:txBody>
      </p:sp>
      <p:sp>
        <p:nvSpPr>
          <p:cNvPr id="7" name="card-2"/>
          <p:cNvSpPr/>
          <p:nvPr/>
        </p:nvSpPr>
        <p:spPr>
          <a:xfrm>
            <a:off x="3383280" y="1325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3566160" y="1463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2"/>
                </a:solidFill>
              </a:rPr>
              <a:t>784-1000-1000-10</a:t>
            </a:r>
            <a:endParaRPr lang="en-US" sz="2000" dirty="0"/>
          </a:p>
        </p:txBody>
      </p:sp>
      <p:sp>
        <p:nvSpPr>
          <p:cNvPr id="9" name="Text 6"/>
          <p:cNvSpPr txBox="1"/>
          <p:nvPr/>
        </p:nvSpPr>
        <p:spPr>
          <a:xfrm>
            <a:off x="35661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全結合NN（ReLU×2, Softmax）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パラメータ 1,796,010 個</a:t>
            </a:r>
            <a:endParaRPr lang="en-US" sz="1150" dirty="0"/>
          </a:p>
        </p:txBody>
      </p:sp>
      <p:sp>
        <p:nvSpPr>
          <p:cNvPr id="10" name="card-3"/>
          <p:cNvSpPr/>
          <p:nvPr/>
        </p:nvSpPr>
        <p:spPr>
          <a:xfrm>
            <a:off x="6217920" y="1325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400800" y="1463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1"/>
                </a:solidFill>
              </a:rPr>
              <a:t>98.24%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640080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テスト認識率（20エポック後）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誤り 176 / 10,000 枚</a:t>
            </a:r>
            <a:endParaRPr lang="en-US" sz="1150" dirty="0"/>
          </a:p>
        </p:txBody>
      </p:sp>
      <p:sp>
        <p:nvSpPr>
          <p:cNvPr id="13" name="card-4"/>
          <p:cNvSpPr/>
          <p:nvPr/>
        </p:nvSpPr>
        <p:spPr>
          <a:xfrm>
            <a:off x="9052560" y="1325880"/>
            <a:ext cx="26060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9235440" y="1463040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chemeClr val="accent4"/>
                </a:solidFill>
              </a:rPr>
              <a:t>32 秒</a:t>
            </a:r>
            <a:endParaRPr lang="en-US" sz="3400" dirty="0"/>
          </a:p>
        </p:txBody>
      </p:sp>
      <p:sp>
        <p:nvSpPr>
          <p:cNvPr id="15" name="Text 12"/>
          <p:cNvSpPr txBox="1"/>
          <p:nvPr/>
        </p:nvSpPr>
        <p:spPr>
          <a:xfrm>
            <a:off x="923544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1エポック学習の実測壁時計時間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(バッチ200, 300回更新)</a:t>
            </a:r>
            <a:endParaRPr lang="en-US" sz="1150" dirty="0"/>
          </a:p>
        </p:txBody>
      </p:sp>
      <p:sp>
        <p:nvSpPr>
          <p:cNvPr id="16" name="tile-5"/>
          <p:cNvSpPr txBox="1"/>
          <p:nvPr/>
        </p:nvSpPr>
        <p:spPr>
          <a:xfrm>
            <a:off x="548640" y="370332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7" name="head-6"/>
          <p:cNvSpPr txBox="1"/>
          <p:nvPr/>
        </p:nvSpPr>
        <p:spPr>
          <a:xfrm>
            <a:off x="1051560" y="370332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MNISTとは（出典・内容・ダウンロード）</a:t>
            </a:r>
            <a:endParaRPr lang="en-US" sz="1700" dirty="0"/>
          </a:p>
        </p:txBody>
      </p:sp>
      <p:sp>
        <p:nvSpPr>
          <p:cNvPr id="18" name="tile-7"/>
          <p:cNvSpPr txBox="1"/>
          <p:nvPr/>
        </p:nvSpPr>
        <p:spPr>
          <a:xfrm>
            <a:off x="54864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9" name="head-8"/>
          <p:cNvSpPr txBox="1"/>
          <p:nvPr/>
        </p:nvSpPr>
        <p:spPr>
          <a:xfrm>
            <a:off x="1051560" y="420624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本リポジトリの実装とNN構成</a:t>
            </a:r>
            <a:endParaRPr lang="en-US" sz="1700" dirty="0"/>
          </a:p>
        </p:txBody>
      </p:sp>
      <p:sp>
        <p:nvSpPr>
          <p:cNvPr id="20" name="tile-9"/>
          <p:cNvSpPr txBox="1"/>
          <p:nvPr/>
        </p:nvSpPr>
        <p:spPr>
          <a:xfrm>
            <a:off x="548640" y="470916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1" name="head-10"/>
          <p:cNvSpPr txBox="1"/>
          <p:nvPr/>
        </p:nvSpPr>
        <p:spPr>
          <a:xfrm>
            <a:off x="1051560" y="470916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処理時間プロファイル</a:t>
            </a:r>
            <a:endParaRPr lang="en-US" sz="1700" dirty="0"/>
          </a:p>
        </p:txBody>
      </p:sp>
      <p:sp>
        <p:nvSpPr>
          <p:cNvPr id="22" name="tile-11"/>
          <p:cNvSpPr txBox="1"/>
          <p:nvPr/>
        </p:nvSpPr>
        <p:spPr>
          <a:xfrm>
            <a:off x="6309360" y="370332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head-12"/>
          <p:cNvSpPr txBox="1"/>
          <p:nvPr/>
        </p:nvSpPr>
        <p:spPr>
          <a:xfrm>
            <a:off x="6812280" y="370332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学習方法と学習経過（20エポック）</a:t>
            </a:r>
            <a:endParaRPr lang="en-US" sz="1700" dirty="0"/>
          </a:p>
        </p:txBody>
      </p:sp>
      <p:sp>
        <p:nvSpPr>
          <p:cNvPr id="24" name="tile-13"/>
          <p:cNvSpPr txBox="1"/>
          <p:nvPr/>
        </p:nvSpPr>
        <p:spPr>
          <a:xfrm>
            <a:off x="6309360" y="420624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5" name="head-14"/>
          <p:cNvSpPr txBox="1"/>
          <p:nvPr/>
        </p:nvSpPr>
        <p:spPr>
          <a:xfrm>
            <a:off x="6812280" y="420624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認識テスト結果・誤認識の全画像</a:t>
            </a:r>
            <a:endParaRPr lang="en-US" sz="1700" dirty="0"/>
          </a:p>
        </p:txBody>
      </p:sp>
      <p:sp>
        <p:nvSpPr>
          <p:cNvPr id="26" name="tile-15"/>
          <p:cNvSpPr txBox="1"/>
          <p:nvPr/>
        </p:nvSpPr>
        <p:spPr>
          <a:xfrm>
            <a:off x="6309360" y="470916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7" name="head-16"/>
          <p:cNvSpPr txBox="1"/>
          <p:nvPr/>
        </p:nvSpPr>
        <p:spPr>
          <a:xfrm>
            <a:off x="6812280" y="470916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使用した手書き画像 全70,000枚（付録）</a:t>
            </a:r>
            <a:endParaRPr lang="en-US" sz="1700" dirty="0"/>
          </a:p>
        </p:txBody>
      </p:sp>
      <p:sp>
        <p:nvSpPr>
          <p:cNvPr id="28" name="text-17"/>
          <p:cNvSpPr txBox="1"/>
          <p:nvPr/>
        </p:nvSpPr>
        <p:spPr>
          <a:xfrm>
            <a:off x="54864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6"/>
                </a:solidFill>
              </a:rPr>
              <a:t>数値はすべて本リポジトリのコードとデータを実際に実行・解析して得た値（2026-10-02 計測）。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MNISTとは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原論文・出典・データの作り方・ファイル形式・ダウンロード先・ベンチマーク</a:t>
            </a:r>
            <a:endParaRPr lang="en-US" sz="1600" dirty="0"/>
          </a:p>
        </p:txBody>
      </p:sp>
      <p:sp>
        <p:nvSpPr>
          <p:cNvPr id="4" name="tile-18"/>
          <p:cNvSpPr txBox="1"/>
          <p:nvPr/>
        </p:nvSpPr>
        <p:spPr>
          <a:xfrm>
            <a:off x="822960" y="2514600"/>
            <a:ext cx="1097280" cy="109728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1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原論文と出典</a:t>
            </a:r>
            <a:endParaRPr lang="en-US" sz="2800" dirty="0"/>
          </a:p>
        </p:txBody>
      </p:sp>
      <p:sp>
        <p:nvSpPr>
          <p:cNvPr id="4" name="card-19"/>
          <p:cNvSpPr/>
          <p:nvPr/>
        </p:nvSpPr>
        <p:spPr>
          <a:xfrm>
            <a:off x="548640" y="1280160"/>
            <a:ext cx="5760720" cy="2331720"/>
          </a:xfrm>
          <a:prstGeom prst="roundRect">
            <a:avLst>
              <a:gd name="adj" fmla="val 3137"/>
            </a:avLst>
          </a:prstGeom>
          <a:solidFill>
            <a:schemeClr val="bg2"/>
          </a:solidFill>
          <a:ln/>
        </p:spPr>
      </p:sp>
      <p:sp>
        <p:nvSpPr>
          <p:cNvPr id="5" name="tile-20"/>
          <p:cNvSpPr txBox="1"/>
          <p:nvPr/>
        </p:nvSpPr>
        <p:spPr>
          <a:xfrm>
            <a:off x="777240" y="146304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論</a:t>
            </a:r>
            <a:endParaRPr lang="en-US" sz="1300" dirty="0"/>
          </a:p>
        </p:txBody>
      </p:sp>
      <p:sp>
        <p:nvSpPr>
          <p:cNvPr id="6" name="head-21"/>
          <p:cNvSpPr txBox="1"/>
          <p:nvPr/>
        </p:nvSpPr>
        <p:spPr>
          <a:xfrm>
            <a:off x="1280160" y="146304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原論文（MNIST の初出）</a:t>
            </a:r>
            <a:endParaRPr lang="en-US" sz="1700" dirty="0"/>
          </a:p>
        </p:txBody>
      </p:sp>
      <p:sp>
        <p:nvSpPr>
          <p:cNvPr id="7" name="text-22"/>
          <p:cNvSpPr txBox="1"/>
          <p:nvPr/>
        </p:nvSpPr>
        <p:spPr>
          <a:xfrm>
            <a:off x="777240" y="1965960"/>
            <a:ext cx="5394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Y. LeCun, L. Bottou, Y. Bengio, P. Haffner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“Gradient-Based Learning Applied to Document Recognition”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Proceedings of the IEEE, vol. 86, no. 11, pp. 2278–2324, Nov. 1998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DOI: 10.1109/5.726791</a:t>
            </a:r>
            <a:endParaRPr lang="en-US" sz="1350" dirty="0"/>
          </a:p>
        </p:txBody>
      </p:sp>
      <p:sp>
        <p:nvSpPr>
          <p:cNvPr id="8" name="card-23"/>
          <p:cNvSpPr/>
          <p:nvPr/>
        </p:nvSpPr>
        <p:spPr>
          <a:xfrm>
            <a:off x="548640" y="3794760"/>
            <a:ext cx="5760720" cy="2377440"/>
          </a:xfrm>
          <a:prstGeom prst="roundRect">
            <a:avLst>
              <a:gd name="adj" fmla="val 3077"/>
            </a:avLst>
          </a:prstGeom>
          <a:solidFill>
            <a:schemeClr val="bg2"/>
          </a:solidFill>
          <a:ln/>
        </p:spPr>
      </p:sp>
      <p:sp>
        <p:nvSpPr>
          <p:cNvPr id="9" name="tile-24"/>
          <p:cNvSpPr txBox="1"/>
          <p:nvPr/>
        </p:nvSpPr>
        <p:spPr>
          <a:xfrm>
            <a:off x="777240" y="397764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10" name="head-25"/>
          <p:cNvSpPr txBox="1"/>
          <p:nvPr/>
        </p:nvSpPr>
        <p:spPr>
          <a:xfrm>
            <a:off x="1280160" y="397764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データセットの公開元</a:t>
            </a:r>
            <a:endParaRPr lang="en-US" sz="1700" dirty="0"/>
          </a:p>
        </p:txBody>
      </p:sp>
      <p:sp>
        <p:nvSpPr>
          <p:cNvPr id="11" name="text-26"/>
          <p:cNvSpPr txBox="1"/>
          <p:nvPr/>
        </p:nvSpPr>
        <p:spPr>
          <a:xfrm>
            <a:off x="777240" y="4480560"/>
            <a:ext cx="5394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chemeClr val="tx1"/>
                </a:solidFill>
              </a:rPr>
              <a:t>Y. LeCun, C. Cortes, C. J. C. Burges</a:t>
            </a:r>
            <a:endParaRPr lang="en-US" sz="1350" dirty="0"/>
          </a:p>
          <a:p>
            <a:pPr indent="0" marL="0">
              <a:buNone/>
            </a:pPr>
            <a:r>
              <a:rPr lang="en-US" sz="1350" i="1" dirty="0">
                <a:solidFill>
                  <a:schemeClr val="tx1"/>
                </a:solidFill>
              </a:rPr>
              <a:t>“The MNIST database of handwritten digits”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chemeClr val="accent2"/>
                </a:solidFill>
              </a:rPr>
              <a:t>http://yann.lecun.com/exdb/mnist/</a:t>
            </a:r>
            <a:endParaRPr lang="en-US" sz="135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MNIST = Modified NIST。米国標準技術研究所（NIST）の手書き文字データベースを再構成したもの</a:t>
            </a:r>
            <a:endParaRPr lang="en-US" sz="1350" dirty="0"/>
          </a:p>
        </p:txBody>
      </p:sp>
      <p:sp>
        <p:nvSpPr>
          <p:cNvPr id="12" name="tile-27"/>
          <p:cNvSpPr txBox="1"/>
          <p:nvPr/>
        </p:nvSpPr>
        <p:spPr>
          <a:xfrm>
            <a:off x="667512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内</a:t>
            </a:r>
            <a:endParaRPr lang="en-US" sz="1300" dirty="0"/>
          </a:p>
        </p:txBody>
      </p:sp>
      <p:sp>
        <p:nvSpPr>
          <p:cNvPr id="13" name="head-28"/>
          <p:cNvSpPr txBox="1"/>
          <p:nvPr/>
        </p:nvSpPr>
        <p:spPr>
          <a:xfrm>
            <a:off x="7178040" y="1325880"/>
            <a:ext cx="4434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原論文の主な内容</a:t>
            </a:r>
            <a:endParaRPr lang="en-US" sz="1700" dirty="0"/>
          </a:p>
        </p:txBody>
      </p:sp>
      <p:sp>
        <p:nvSpPr>
          <p:cNvPr id="14" name="bullets-29"/>
          <p:cNvSpPr txBox="1"/>
          <p:nvPr/>
        </p:nvSpPr>
        <p:spPr>
          <a:xfrm>
            <a:off x="6675120" y="1828800"/>
            <a:ext cx="49377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勾配法で学習する畳み込みニューラルネット（CNN）を提案 — LeNet-5</a:t>
            </a:r>
            <a:endParaRPr lang="en-US" sz="1300" dirty="0"/>
          </a:p>
          <a:p>
            <a:pPr lvl="1" marL="457200" indent="-2286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入力32×32 → C1(6@28×28) → S2 → C3(16@10×10) → S4 → C5(120) → F6(84) → 出力10（RBF）</a:t>
            </a:r>
            <a:endParaRPr lang="en-US" sz="1300" dirty="0"/>
          </a:p>
          <a:p>
            <a:pPr lvl="1" marL="457200" indent="-2286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局所受容野・重み共有・サブサンプリングにより、位置ずれや変形に頑健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MNIST を構築し、線形分類器・k-NN・SVM・多層NN・LeNet 系を同一条件で比較</a:t>
            </a:r>
            <a:endParaRPr lang="en-US" sz="1300" dirty="0"/>
          </a:p>
          <a:p>
            <a:pPr lvl="1" marL="457200" indent="-2286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accent6"/>
                </a:solidFill>
              </a:rPr>
              <a:t>LeNet-5 誤り率 0.95%、変形データ拡張で 0.8%、Boosted LeNet-4 で 0.7%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複数モジュールを大域的に学習する Graph Transformer Networks（GTN）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小切手読み取りシステムへの実用化（NCR社、1日数百万枚規模）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データセットの作り方 — NIST SD-3 / SD-1 から 28×28 へ</a:t>
            </a:r>
            <a:endParaRPr lang="en-US" sz="2800" dirty="0"/>
          </a:p>
        </p:txBody>
      </p:sp>
      <p:sp>
        <p:nvSpPr>
          <p:cNvPr id="4" name="card-30"/>
          <p:cNvSpPr/>
          <p:nvPr/>
        </p:nvSpPr>
        <p:spPr>
          <a:xfrm>
            <a:off x="548640" y="132588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E3ECF7"/>
          </a:solidFill>
          <a:ln/>
        </p:spPr>
      </p:sp>
      <p:sp>
        <p:nvSpPr>
          <p:cNvPr id="5" name="text-31"/>
          <p:cNvSpPr txBox="1"/>
          <p:nvPr/>
        </p:nvSpPr>
        <p:spPr>
          <a:xfrm>
            <a:off x="685800" y="138988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NIST SD-3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米国国勢調査局の職員が記入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（きれいで読みやすい）</a:t>
            </a:r>
            <a:endParaRPr lang="en-US" sz="1400" dirty="0"/>
          </a:p>
        </p:txBody>
      </p:sp>
      <p:sp>
        <p:nvSpPr>
          <p:cNvPr id="6" name="card-32"/>
          <p:cNvSpPr/>
          <p:nvPr/>
        </p:nvSpPr>
        <p:spPr>
          <a:xfrm>
            <a:off x="548640" y="2514600"/>
            <a:ext cx="2377440" cy="1051560"/>
          </a:xfrm>
          <a:prstGeom prst="roundRect">
            <a:avLst>
              <a:gd name="adj" fmla="val 6957"/>
            </a:avLst>
          </a:prstGeom>
          <a:solidFill>
            <a:srgbClr val="FBE7DF"/>
          </a:solidFill>
          <a:ln/>
        </p:spPr>
      </p:sp>
      <p:sp>
        <p:nvSpPr>
          <p:cNvPr id="7" name="text-33"/>
          <p:cNvSpPr txBox="1"/>
          <p:nvPr/>
        </p:nvSpPr>
        <p:spPr>
          <a:xfrm>
            <a:off x="685800" y="2578608"/>
            <a:ext cx="21488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NIST SD-1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高校生が記入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（くせが強く難しい）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3044952" y="2240280"/>
            <a:ext cx="320040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9" name="card-34"/>
          <p:cNvSpPr/>
          <p:nvPr/>
        </p:nvSpPr>
        <p:spPr>
          <a:xfrm>
            <a:off x="3429000" y="1325880"/>
            <a:ext cx="25146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0" name="text-35"/>
          <p:cNvSpPr txBox="1"/>
          <p:nvPr/>
        </p:nvSpPr>
        <p:spPr>
          <a:xfrm>
            <a:off x="3566160" y="146304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① 2値画像を切り出し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1文字ずつの白黒画像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833872" y="2240280"/>
            <a:ext cx="320040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2" name="card-36"/>
          <p:cNvSpPr/>
          <p:nvPr/>
        </p:nvSpPr>
        <p:spPr>
          <a:xfrm>
            <a:off x="6217920" y="1325880"/>
            <a:ext cx="25146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3" name="text-37"/>
          <p:cNvSpPr txBox="1"/>
          <p:nvPr/>
        </p:nvSpPr>
        <p:spPr>
          <a:xfrm>
            <a:off x="6355080" y="146304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② 20×20 に正規化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縦横比を保って拡縮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アンチエイリアスで256階調化</a:t>
            </a:r>
            <a:endParaRPr lang="en-US" sz="1400" dirty="0"/>
          </a:p>
        </p:txBody>
      </p:sp>
      <p:sp>
        <p:nvSpPr>
          <p:cNvPr id="14" name="Shape 11"/>
          <p:cNvSpPr/>
          <p:nvPr/>
        </p:nvSpPr>
        <p:spPr>
          <a:xfrm>
            <a:off x="8622792" y="2240280"/>
            <a:ext cx="320040" cy="274320"/>
          </a:xfrm>
          <a:prstGeom prst="rightArrow">
            <a:avLst/>
          </a:prstGeom>
          <a:solidFill>
            <a:schemeClr val="accent6"/>
          </a:solidFill>
          <a:ln/>
        </p:spPr>
      </p:sp>
      <p:sp>
        <p:nvSpPr>
          <p:cNvPr id="15" name="card-38"/>
          <p:cNvSpPr/>
          <p:nvPr/>
        </p:nvSpPr>
        <p:spPr>
          <a:xfrm>
            <a:off x="9006840" y="1325880"/>
            <a:ext cx="2514600" cy="2240280"/>
          </a:xfrm>
          <a:prstGeom prst="roundRect">
            <a:avLst>
              <a:gd name="adj" fmla="val 3265"/>
            </a:avLst>
          </a:prstGeom>
          <a:solidFill>
            <a:schemeClr val="bg2"/>
          </a:solidFill>
          <a:ln/>
        </p:spPr>
      </p:sp>
      <p:sp>
        <p:nvSpPr>
          <p:cNvPr id="16" name="text-39"/>
          <p:cNvSpPr txBox="1"/>
          <p:nvPr/>
        </p:nvSpPr>
        <p:spPr>
          <a:xfrm>
            <a:off x="9144000" y="1463040"/>
            <a:ext cx="2286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chemeClr val="tx1"/>
                </a:solidFill>
              </a:rPr>
              <a:t>③ 28×28 に配置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画素の重心が中心に</a:t>
            </a:r>
            <a:endParaRPr lang="en-US" sz="1400" dirty="0"/>
          </a:p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くるよう平行移動</a:t>
            </a:r>
            <a:endParaRPr lang="en-US" sz="1400" dirty="0"/>
          </a:p>
        </p:txBody>
      </p:sp>
      <p:pic>
        <p:nvPicPr>
          <p:cNvPr id="17" name="digit-zoom" descr="/tmp/claude-1001/-home-mi-mnist/137a571b-9a80-4a1c-8647-53667b8e1fcb/scratchpad/work/fig/digit_zoo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0" y="2103120"/>
            <a:ext cx="1417320" cy="1417320"/>
          </a:xfrm>
          <a:prstGeom prst="rect">
            <a:avLst/>
          </a:prstGeom>
        </p:spPr>
      </p:pic>
      <p:sp>
        <p:nvSpPr>
          <p:cNvPr id="18" name="tile-40"/>
          <p:cNvSpPr txBox="1"/>
          <p:nvPr/>
        </p:nvSpPr>
        <p:spPr>
          <a:xfrm>
            <a:off x="548640" y="38862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学</a:t>
            </a:r>
            <a:endParaRPr lang="en-US" sz="1300" dirty="0"/>
          </a:p>
        </p:txBody>
      </p:sp>
      <p:sp>
        <p:nvSpPr>
          <p:cNvPr id="19" name="head-41"/>
          <p:cNvSpPr txBox="1"/>
          <p:nvPr/>
        </p:nvSpPr>
        <p:spPr>
          <a:xfrm>
            <a:off x="1051560" y="388620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学習セット 60,000 枚</a:t>
            </a:r>
            <a:endParaRPr lang="en-US" sz="1700" dirty="0"/>
          </a:p>
        </p:txBody>
      </p:sp>
      <p:sp>
        <p:nvSpPr>
          <p:cNvPr id="20" name="bullets-42"/>
          <p:cNvSpPr txBox="1"/>
          <p:nvPr/>
        </p:nvSpPr>
        <p:spPr>
          <a:xfrm>
            <a:off x="1051560" y="4343400"/>
            <a:ext cx="5120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SD-3 から 30,000 枚 ＋ SD-1 から 30,000 枚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書き手は約 250 人（テストの書き手とは重複なし）</a:t>
            </a:r>
            <a:endParaRPr lang="en-US" sz="1350" dirty="0"/>
          </a:p>
        </p:txBody>
      </p:sp>
      <p:sp>
        <p:nvSpPr>
          <p:cNvPr id="21" name="tile-43"/>
          <p:cNvSpPr txBox="1"/>
          <p:nvPr/>
        </p:nvSpPr>
        <p:spPr>
          <a:xfrm>
            <a:off x="6309360" y="38862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試</a:t>
            </a:r>
            <a:endParaRPr lang="en-US" sz="1300" dirty="0"/>
          </a:p>
        </p:txBody>
      </p:sp>
      <p:sp>
        <p:nvSpPr>
          <p:cNvPr id="22" name="head-44"/>
          <p:cNvSpPr txBox="1"/>
          <p:nvPr/>
        </p:nvSpPr>
        <p:spPr>
          <a:xfrm>
            <a:off x="6812280" y="388620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テストセット 10,000 枚</a:t>
            </a:r>
            <a:endParaRPr lang="en-US" sz="1700" dirty="0"/>
          </a:p>
        </p:txBody>
      </p:sp>
      <p:sp>
        <p:nvSpPr>
          <p:cNvPr id="23" name="bullets-45"/>
          <p:cNvSpPr txBox="1"/>
          <p:nvPr/>
        </p:nvSpPr>
        <p:spPr>
          <a:xfrm>
            <a:off x="6812280" y="43434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SD-3 から 5,000 枚 ＋ SD-1 から 5,000 枚</a:t>
            </a:r>
            <a:endParaRPr lang="en-US" sz="13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</a:rPr>
              <a:t>元は 60,000 枚あったが公開は 10,000 枚のみ（残りは後に QMNIST が復元）</a:t>
            </a:r>
            <a:endParaRPr lang="en-US" sz="1350" dirty="0"/>
          </a:p>
        </p:txBody>
      </p:sp>
      <p:sp>
        <p:nvSpPr>
          <p:cNvPr id="24" name="text-46"/>
          <p:cNvSpPr txBox="1"/>
          <p:nvPr/>
        </p:nvSpPr>
        <p:spPr>
          <a:xfrm>
            <a:off x="548640" y="56235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画素値: 0 = 背景、255 = 筆跡（インク）。クラスは 0〜9 の10種。右上図は本データのテスト画像 #0（ラベル6）を 28×28 画素で拡大表示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ファイル形式（IDX）とダウンロード先</a:t>
            </a:r>
            <a:endParaRPr lang="en-US" sz="2800" dirty="0"/>
          </a:p>
        </p:txBody>
      </p:sp>
      <p:graphicFrame>
        <p:nvGraphicFramePr>
          <p:cNvPr id="7" name="table-4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468880"/>
                <a:gridCol w="1737360"/>
                <a:gridCol w="3931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ファイル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内容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gzipサイズ (byte)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MD5 (gz)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train-images-idx3-ubyte.gz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学習画像 60,000×28×28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9,912,422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f68b3c2dcbeaaa9fbdd348bbdeb94873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train-labels-idx1-ubyte.gz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学習ラベル 60,000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28,881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d53e105ee54ea40749a09fcbcd1e9432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t10k-images-idx3-ubyte.gz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テスト画像 10,000×28×28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1,648,877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9fb629c4189551a2d022fa330f9573f3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t10k-labels-idx1-ubyte.gz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テストラベル 10,000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4,542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ec29112dd5afa0611ce80d1b7f02629c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ile-48"/>
          <p:cNvSpPr txBox="1"/>
          <p:nvPr/>
        </p:nvSpPr>
        <p:spPr>
          <a:xfrm>
            <a:off x="54864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形</a:t>
            </a:r>
            <a:endParaRPr lang="en-US" sz="1300" dirty="0"/>
          </a:p>
        </p:txBody>
      </p:sp>
      <p:sp>
        <p:nvSpPr>
          <p:cNvPr id="6" name="head-49"/>
          <p:cNvSpPr txBox="1"/>
          <p:nvPr/>
        </p:nvSpPr>
        <p:spPr>
          <a:xfrm>
            <a:off x="1051560" y="338328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IDX 形式（ビッグエンディアン）</a:t>
            </a:r>
            <a:endParaRPr lang="en-US" sz="1700" dirty="0"/>
          </a:p>
        </p:txBody>
      </p:sp>
      <p:sp>
        <p:nvSpPr>
          <p:cNvPr id="7" name="code-50"/>
          <p:cNvSpPr txBox="1"/>
          <p:nvPr/>
        </p:nvSpPr>
        <p:spPr>
          <a:xfrm>
            <a:off x="548640" y="3886200"/>
            <a:ext cx="5303520" cy="1600200"/>
          </a:xfrm>
          <a:prstGeom prst="roundRect">
            <a:avLst>
              <a:gd name="adj" fmla="val 3429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画像: [magic 0x00000803][枚数][行=28][列=28]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  続いて uint8 画素を行優先で 784 個×枚数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ラベル: [magic 0x00000801][枚数]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  続いて uint8 ラベル (0〜9) ×枚数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ヘッダはすべて 32bit 整数</a:t>
            </a:r>
            <a:endParaRPr lang="en-US" sz="1150" dirty="0"/>
          </a:p>
        </p:txBody>
      </p:sp>
      <p:sp>
        <p:nvSpPr>
          <p:cNvPr id="8" name="tile-51"/>
          <p:cNvSpPr txBox="1"/>
          <p:nvPr/>
        </p:nvSpPr>
        <p:spPr>
          <a:xfrm>
            <a:off x="6309360" y="33832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↓</a:t>
            </a:r>
            <a:endParaRPr lang="en-US" sz="1300" dirty="0"/>
          </a:p>
        </p:txBody>
      </p:sp>
      <p:sp>
        <p:nvSpPr>
          <p:cNvPr id="9" name="head-52"/>
          <p:cNvSpPr txBox="1"/>
          <p:nvPr/>
        </p:nvSpPr>
        <p:spPr>
          <a:xfrm>
            <a:off x="6812280" y="3383280"/>
            <a:ext cx="4800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ダウンロード先</a:t>
            </a:r>
            <a:endParaRPr lang="en-US" sz="1700" dirty="0"/>
          </a:p>
        </p:txBody>
      </p:sp>
      <p:sp>
        <p:nvSpPr>
          <p:cNvPr id="10" name="bullets-53"/>
          <p:cNvSpPr txBox="1"/>
          <p:nvPr/>
        </p:nvSpPr>
        <p:spPr>
          <a:xfrm>
            <a:off x="6309360" y="3886200"/>
            <a:ext cx="5349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公式: http://yann.lecun.com/exdb/mnist/（近年はアクセス制限で取得できないことがある）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ミラー: https://storage.googleapis.com/cvdf-datasets/mnist/（本検証で使用）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ミラー: https://ossci-datasets.s3.amazonaws.com/mnist/（torchvision が使用）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npz版: https://storage.googleapis.com/tensorflow/tf-keras-datasets/mnist.npz（Keras）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ライブラリ: torchvision.datasets.MNIST, tf.keras.datasets.mnist, sklearn fetch_openml('mnist_784')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ベンチマーク — 原論文の比較結果と本実装の位置</a:t>
            </a:r>
            <a:endParaRPr lang="en-US" sz="2800" dirty="0"/>
          </a:p>
        </p:txBody>
      </p:sp>
      <p:graphicFrame>
        <p:nvGraphicFramePr>
          <p:cNvPr id="8" name="table-5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6035040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手法（前処理・拡張なし中心）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テスト誤り率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線形分類器（1層NN）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12.0%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k-NN（ユークリッド距離）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5.0%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2層NN 300隠れユニット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4.7%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3層NN 300+100 隠れユニット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3.05%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3層NN 500+150 隠れユニット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2.95%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LeNet-1（CNN）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1.7%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SVM 多項式4次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1.1%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LeNet-5（CNN）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0.95%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LeNet-5 ＋ 変形データ拡張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0.8%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Boosted LeNet-4 ＋ 変形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0.7%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4572E"/>
                          </a:solidFill>
                        </a:rPr>
                        <a:t>本実装: 784-1000-1000-10 ReLU/Softmax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E4572E"/>
                          </a:solidFill>
                        </a:rPr>
                        <a:t>1.76%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bench-chart" descr=""/>
          <p:cNvGraphicFramePr/>
          <p:nvPr/>
        </p:nvGraphicFramePr>
        <p:xfrm>
          <a:off x="6858000" y="1234440"/>
          <a:ext cx="484632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text-55"/>
          <p:cNvSpPr txBox="1"/>
          <p:nvPr/>
        </p:nvSpPr>
        <p:spPr>
          <a:xfrm>
            <a:off x="6858000" y="5532120"/>
            <a:ext cx="4846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後年の記録: 784-2500-…-10 の深い全結合NN＋弾性変形 0.35%（Cireşan 2010）、CNN 35個の委員会 0.23%（Cireşan 2012）。本実装の 1.76% は、拡張なしの全結合NNとしては妥当な水準。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関連データセットと参照先</a:t>
            </a:r>
            <a:endParaRPr lang="en-US" sz="2800" dirty="0"/>
          </a:p>
        </p:txBody>
      </p:sp>
      <p:sp>
        <p:nvSpPr>
          <p:cNvPr id="4" name="tile-56"/>
          <p:cNvSpPr txBox="1"/>
          <p:nvPr/>
        </p:nvSpPr>
        <p:spPr>
          <a:xfrm>
            <a:off x="548640" y="141732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A</a:t>
            </a:r>
            <a:endParaRPr lang="en-US" sz="1300" dirty="0"/>
          </a:p>
        </p:txBody>
      </p:sp>
      <p:sp>
        <p:nvSpPr>
          <p:cNvPr id="5" name="text-57"/>
          <p:cNvSpPr txBox="1"/>
          <p:nvPr/>
        </p:nvSpPr>
        <p:spPr>
          <a:xfrm>
            <a:off x="1097280" y="132588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QMNIST　</a:t>
            </a:r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Yadav &amp; Bottou, NeurIPS 2019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失われたテスト 50,000 枚を NIST から再構成。書き手IDなどのメタデータも付与</a:t>
            </a:r>
            <a:endParaRPr lang="en-US" sz="1400" dirty="0"/>
          </a:p>
        </p:txBody>
      </p:sp>
      <p:sp>
        <p:nvSpPr>
          <p:cNvPr id="6" name="tile-58"/>
          <p:cNvSpPr txBox="1"/>
          <p:nvPr/>
        </p:nvSpPr>
        <p:spPr>
          <a:xfrm>
            <a:off x="548640" y="22860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B</a:t>
            </a:r>
            <a:endParaRPr lang="en-US" sz="1300" dirty="0"/>
          </a:p>
        </p:txBody>
      </p:sp>
      <p:sp>
        <p:nvSpPr>
          <p:cNvPr id="7" name="text-59"/>
          <p:cNvSpPr txBox="1"/>
          <p:nvPr/>
        </p:nvSpPr>
        <p:spPr>
          <a:xfrm>
            <a:off x="1097280" y="219456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EMNIST　</a:t>
            </a:r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Cohen et al., 2017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NIST SD-19 から英字も含めて MNIST と同じ手順で 28×28 化</a:t>
            </a:r>
            <a:endParaRPr lang="en-US" sz="1400" dirty="0"/>
          </a:p>
        </p:txBody>
      </p:sp>
      <p:sp>
        <p:nvSpPr>
          <p:cNvPr id="8" name="tile-60"/>
          <p:cNvSpPr txBox="1"/>
          <p:nvPr/>
        </p:nvSpPr>
        <p:spPr>
          <a:xfrm>
            <a:off x="548640" y="31546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C</a:t>
            </a:r>
            <a:endParaRPr lang="en-US" sz="1300" dirty="0"/>
          </a:p>
        </p:txBody>
      </p:sp>
      <p:sp>
        <p:nvSpPr>
          <p:cNvPr id="9" name="text-61"/>
          <p:cNvSpPr txBox="1"/>
          <p:nvPr/>
        </p:nvSpPr>
        <p:spPr>
          <a:xfrm>
            <a:off x="1097280" y="306324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Fashion-MNIST　</a:t>
            </a:r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Xiao et al., 2017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衣類10クラス・同形式（28×28, 60k/10k）。MNIST の置き換え用</a:t>
            </a:r>
            <a:endParaRPr lang="en-US" sz="1400" dirty="0"/>
          </a:p>
        </p:txBody>
      </p:sp>
      <p:sp>
        <p:nvSpPr>
          <p:cNvPr id="10" name="tile-62"/>
          <p:cNvSpPr txBox="1"/>
          <p:nvPr/>
        </p:nvSpPr>
        <p:spPr>
          <a:xfrm>
            <a:off x="548640" y="402336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D</a:t>
            </a:r>
            <a:endParaRPr lang="en-US" sz="1300" dirty="0"/>
          </a:p>
        </p:txBody>
      </p:sp>
      <p:sp>
        <p:nvSpPr>
          <p:cNvPr id="11" name="text-63"/>
          <p:cNvSpPr txBox="1"/>
          <p:nvPr/>
        </p:nvSpPr>
        <p:spPr>
          <a:xfrm>
            <a:off x="1097280" y="3931920"/>
            <a:ext cx="5120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Kuzushiji-MNIST　</a:t>
            </a:r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Clanuwat et al., 2018</a:t>
            </a:r>
            <a:endParaRPr lang="en-US" sz="1400" dirty="0"/>
          </a:p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くずし字（ひらがな10クラス）・同形式</a:t>
            </a:r>
            <a:endParaRPr lang="en-US" sz="1400" dirty="0"/>
          </a:p>
        </p:txBody>
      </p:sp>
      <p:sp>
        <p:nvSpPr>
          <p:cNvPr id="12" name="tile-64"/>
          <p:cNvSpPr txBox="1"/>
          <p:nvPr/>
        </p:nvSpPr>
        <p:spPr>
          <a:xfrm>
            <a:off x="658368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参</a:t>
            </a:r>
            <a:endParaRPr lang="en-US" sz="1300" dirty="0"/>
          </a:p>
        </p:txBody>
      </p:sp>
      <p:sp>
        <p:nvSpPr>
          <p:cNvPr id="13" name="head-65"/>
          <p:cNvSpPr txBox="1"/>
          <p:nvPr/>
        </p:nvSpPr>
        <p:spPr>
          <a:xfrm>
            <a:off x="7086600" y="1325880"/>
            <a:ext cx="4526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参照先</a:t>
            </a:r>
            <a:endParaRPr lang="en-US" sz="1700" dirty="0"/>
          </a:p>
        </p:txBody>
      </p:sp>
      <p:sp>
        <p:nvSpPr>
          <p:cNvPr id="14" name="bullets-66"/>
          <p:cNvSpPr txBox="1"/>
          <p:nvPr/>
        </p:nvSpPr>
        <p:spPr>
          <a:xfrm>
            <a:off x="6583680" y="1828800"/>
            <a:ext cx="507492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LeCun et al., Proc. IEEE 86(11):2278–2324, 1998（原論文）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http://yann.lecun.com/exdb/mnist/（公式ページ・手法別誤り率表）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NIST Special Database 19（SD-1/SD-3 の後継統合版）https://www.nist.gov/srd/nist-special-database-19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C. Yadav, L. Bottou, “Cold Case: The Lost MNIST Digits”, NeurIPS 2019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D. Cireşan et al., “Deep, Big, Simple Neural Nets for Handwritten Digit Recognition”, Neural Computation, 2010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Hinton &amp; Salakhutdinov 系の 784-500-300-10 NN（公式表 1.53%）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本リポジトリの実装とNN構成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EusLisp（roseus / irteusgl）＋ OpenBLAS の C 関数呼び出し ＋ 自作 C 拡張 MATPROD</a:t>
            </a:r>
            <a:endParaRPr lang="en-US" sz="1600" dirty="0"/>
          </a:p>
        </p:txBody>
      </p:sp>
      <p:sp>
        <p:nvSpPr>
          <p:cNvPr id="4" name="tile-67"/>
          <p:cNvSpPr txBox="1"/>
          <p:nvPr/>
        </p:nvSpPr>
        <p:spPr>
          <a:xfrm>
            <a:off x="822960" y="2514600"/>
            <a:ext cx="1097280" cy="1097280"/>
          </a:xfrm>
          <a:prstGeom prst="roundRect">
            <a:avLst>
              <a:gd name="adj" fmla="val 5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2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リポジトリ構成</a:t>
            </a:r>
            <a:endParaRPr lang="en-US" sz="2800" dirty="0"/>
          </a:p>
        </p:txBody>
      </p:sp>
      <p:sp>
        <p:nvSpPr>
          <p:cNvPr id="4" name="code-68"/>
          <p:cNvSpPr txBox="1"/>
          <p:nvPr/>
        </p:nvSpPr>
        <p:spPr>
          <a:xfrm>
            <a:off x="548640" y="1280160"/>
            <a:ext cx="6766560" cy="4937760"/>
          </a:xfrm>
          <a:prstGeom prst="roundRect">
            <a:avLst>
              <a:gd name="adj" fmla="val 1111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~/mnist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├── README.md        インストールと実行手順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├── Makefile         OpenBLAS を apt で導入し setup.sh を実行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├── setup.sh         MATPROD をビルドし mlp/*.gz を展開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├── nn.l             ★ NN 本体（Perceptron / MultiLayerPerceptron）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├── cblaslib.l       OpenBLAS の cblas_* を defforeign で呼ぶ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├── mnist.l          テキスト → float-vector 読み込み、モデル保存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├── mnist-draw.l     irtviewer で画像・認識結果を表示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├── MATPROD/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│   ├── src/matprod.c   C拡張: mprod / mrelu / msoftmax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│   └── Makefile.*      Linux / Linux64 / LinuxARM / Darwin / Cygwin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└── mlp/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├── mnist-datasets.l     学習・テスト全データ (270 MB)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├── mnist-{train,test}-{images,labels}.l  分割版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└── mnist-mlp-{0..19}.l  各エポックのモデル 43MB</a:t>
            </a:r>
            <a:endParaRPr lang="en-US" sz="1450" dirty="0"/>
          </a:p>
        </p:txBody>
      </p:sp>
      <p:sp>
        <p:nvSpPr>
          <p:cNvPr id="5" name="tile-69"/>
          <p:cNvSpPr txBox="1"/>
          <p:nvPr/>
        </p:nvSpPr>
        <p:spPr>
          <a:xfrm>
            <a:off x="763524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要</a:t>
            </a:r>
            <a:endParaRPr lang="en-US" sz="1300" dirty="0"/>
          </a:p>
        </p:txBody>
      </p:sp>
      <p:sp>
        <p:nvSpPr>
          <p:cNvPr id="6" name="head-70"/>
          <p:cNvSpPr txBox="1"/>
          <p:nvPr/>
        </p:nvSpPr>
        <p:spPr>
          <a:xfrm>
            <a:off x="8138160" y="1325880"/>
            <a:ext cx="3520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ポイント</a:t>
            </a:r>
            <a:endParaRPr lang="en-US" sz="1700" dirty="0"/>
          </a:p>
        </p:txBody>
      </p:sp>
      <p:sp>
        <p:nvSpPr>
          <p:cNvPr id="7" name="bullets-71"/>
          <p:cNvSpPr txBox="1"/>
          <p:nvPr/>
        </p:nvSpPr>
        <p:spPr>
          <a:xfrm>
            <a:off x="7635240" y="1828800"/>
            <a:ext cx="40233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Lisp だけで NN を書き、重い行列演算だけ OpenBLAS（C）に任せる構成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活性化関数と要素積は MATPROD の C 関数で高速化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データもモデルも EusLisp の S 式テキストとして保存 → load 1回で復元できる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モデルファイルには重みに加え、最後のバッチの中間値 u, z, δ (200行) も含まれるため 43 MB と大きい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aarch64（DGX Spark）用の BLAS パス libblas64.so を 2026-06-18 に追加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ソフトウェア構成 — どの処理をどこで計算するか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280160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nn.l</a:t>
            </a:r>
            <a:endParaRPr lang="en-US" sz="1700" dirty="0"/>
          </a:p>
        </p:txBody>
      </p:sp>
      <p:sp>
        <p:nvSpPr>
          <p:cNvPr id="5" name="card-72"/>
          <p:cNvSpPr/>
          <p:nvPr/>
        </p:nvSpPr>
        <p:spPr>
          <a:xfrm>
            <a:off x="2880360" y="1280160"/>
            <a:ext cx="87325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6" name="text-73"/>
          <p:cNvSpPr txBox="1"/>
          <p:nvPr/>
        </p:nvSpPr>
        <p:spPr>
          <a:xfrm>
            <a:off x="3063240" y="12801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学習ループ・バッチ作成・損失計算・クラス定義（EusLisp）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2148840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cblaslib.l</a:t>
            </a:r>
            <a:endParaRPr lang="en-US" sz="1700" dirty="0"/>
          </a:p>
        </p:txBody>
      </p:sp>
      <p:sp>
        <p:nvSpPr>
          <p:cNvPr id="8" name="card-74"/>
          <p:cNvSpPr/>
          <p:nvPr/>
        </p:nvSpPr>
        <p:spPr>
          <a:xfrm>
            <a:off x="2880360" y="2148840"/>
            <a:ext cx="87325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text-75"/>
          <p:cNvSpPr txBox="1"/>
          <p:nvPr/>
        </p:nvSpPr>
        <p:spPr>
          <a:xfrm>
            <a:off x="3063240" y="214884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cblas_dgemm / cblas_daxpy などを defforeign で外部関数化（行優先 101, 転置なし 111）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017520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MATPROD</a:t>
            </a:r>
            <a:endParaRPr lang="en-US" sz="1700" dirty="0"/>
          </a:p>
        </p:txBody>
      </p:sp>
      <p:sp>
        <p:nvSpPr>
          <p:cNvPr id="11" name="card-76"/>
          <p:cNvSpPr/>
          <p:nvPr/>
        </p:nvSpPr>
        <p:spPr>
          <a:xfrm>
            <a:off x="2880360" y="3017520"/>
            <a:ext cx="87325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2" name="text-77"/>
          <p:cNvSpPr txBox="1"/>
          <p:nvPr/>
        </p:nvSpPr>
        <p:spPr>
          <a:xfrm>
            <a:off x="3063240" y="301752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libmatprod.so: mprod（要素積）, mrelu（ReLUと微分）, msoftmax（行ごとSoftmax）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548640" y="3886200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OpenBLAS</a:t>
            </a:r>
            <a:endParaRPr lang="en-US" sz="1700" dirty="0"/>
          </a:p>
        </p:txBody>
      </p:sp>
      <p:sp>
        <p:nvSpPr>
          <p:cNvPr id="14" name="card-78"/>
          <p:cNvSpPr/>
          <p:nvPr/>
        </p:nvSpPr>
        <p:spPr>
          <a:xfrm>
            <a:off x="2880360" y="3886200"/>
            <a:ext cx="87325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5" name="text-79"/>
          <p:cNvSpPr txBox="1"/>
          <p:nvPr/>
        </p:nvSpPr>
        <p:spPr>
          <a:xfrm>
            <a:off x="3063240" y="388620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libblas64.so（openblas64-pthread, 64bit整数版）— 20スレッドで dgemm を並列実行</a:t>
            </a:r>
            <a:endParaRPr lang="en-US" sz="1350" dirty="0"/>
          </a:p>
        </p:txBody>
      </p:sp>
      <p:sp>
        <p:nvSpPr>
          <p:cNvPr id="16" name="Text 13"/>
          <p:cNvSpPr txBox="1"/>
          <p:nvPr/>
        </p:nvSpPr>
        <p:spPr>
          <a:xfrm>
            <a:off x="548640" y="4754880"/>
            <a:ext cx="2194560" cy="731520"/>
          </a:xfrm>
          <a:prstGeom prst="roundRect">
            <a:avLst>
              <a:gd name="adj" fmla="val 10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irtviewer</a:t>
            </a:r>
            <a:endParaRPr lang="en-US" sz="1700" dirty="0"/>
          </a:p>
        </p:txBody>
      </p:sp>
      <p:sp>
        <p:nvSpPr>
          <p:cNvPr id="17" name="card-80"/>
          <p:cNvSpPr/>
          <p:nvPr/>
        </p:nvSpPr>
        <p:spPr>
          <a:xfrm>
            <a:off x="2880360" y="4754880"/>
            <a:ext cx="873252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8" name="text-81"/>
          <p:cNvSpPr txBox="1"/>
          <p:nvPr/>
        </p:nvSpPr>
        <p:spPr>
          <a:xfrm>
            <a:off x="3063240" y="475488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chemeClr val="tx1"/>
                </a:solidFill>
              </a:rPr>
              <a:t>mnist-draw.l: 28×28 を3回 :double して 224×224 で表示（テスト時のみ）</a:t>
            </a:r>
            <a:endParaRPr lang="en-US" sz="1350" dirty="0"/>
          </a:p>
        </p:txBody>
      </p:sp>
      <p:sp>
        <p:nvSpPr>
          <p:cNvPr id="19" name="text-8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EusLisp の float は 64bit double。行列は (make-array '(行 列) :element-type :float) で、実体 (m . entity) は連続した double 配列 → BLAS にそのまま渡せる。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データの変換と検証 — 元の MNIST と完全一致</a:t>
            </a:r>
            <a:endParaRPr lang="en-US" sz="2800" dirty="0"/>
          </a:p>
        </p:txBody>
      </p:sp>
      <p:sp>
        <p:nvSpPr>
          <p:cNvPr id="4" name="tile-83"/>
          <p:cNvSpPr txBox="1"/>
          <p:nvPr/>
        </p:nvSpPr>
        <p:spPr>
          <a:xfrm>
            <a:off x="54864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変</a:t>
            </a:r>
            <a:endParaRPr lang="en-US" sz="1300" dirty="0"/>
          </a:p>
        </p:txBody>
      </p:sp>
      <p:sp>
        <p:nvSpPr>
          <p:cNvPr id="5" name="head-84"/>
          <p:cNvSpPr txBox="1"/>
          <p:nvPr/>
        </p:nvSpPr>
        <p:spPr>
          <a:xfrm>
            <a:off x="1051560" y="132588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変換方法（mnist.l）</a:t>
            </a:r>
            <a:endParaRPr lang="en-US" sz="1700" dirty="0"/>
          </a:p>
        </p:txBody>
      </p:sp>
      <p:sp>
        <p:nvSpPr>
          <p:cNvPr id="6" name="bullets-85"/>
          <p:cNvSpPr txBox="1"/>
          <p:nvPr/>
        </p:nvSpPr>
        <p:spPr>
          <a:xfrm>
            <a:off x="548640" y="1828800"/>
            <a:ext cx="548640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テキスト（1画像=784個の整数）を read で読み、×1/255 して float-vector に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読み込み時に push で積むため、リストの順序は元ファイルの逆順になる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ラベルは 1要素の float-vector: #f(8.0) など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(setq *train-images* '(#f(…) …)) の形で保存 → (load …) だけで復元</a:t>
            </a:r>
            <a:endParaRPr lang="en-US" sz="1300" dirty="0"/>
          </a:p>
        </p:txBody>
      </p:sp>
      <p:sp>
        <p:nvSpPr>
          <p:cNvPr id="7" name="code-86"/>
          <p:cNvSpPr txBox="1"/>
          <p:nvPr/>
        </p:nvSpPr>
        <p:spPr>
          <a:xfrm>
            <a:off x="548640" y="3977640"/>
            <a:ext cx="5486400" cy="822960"/>
          </a:xfrm>
          <a:prstGeom prst="roundRect">
            <a:avLst>
              <a:gd name="adj" fmla="val 6667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(setq *train-labels* '(#f(8.0) #f(6.0) #f(5.0) #f(3.0) ...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(setq *train-images* '(#f(0.0 0.0 ... 0.003922 0.007843 ...</a:t>
            </a:r>
            <a:endParaRPr lang="en-US" sz="1050" dirty="0"/>
          </a:p>
        </p:txBody>
      </p:sp>
      <p:sp>
        <p:nvSpPr>
          <p:cNvPr id="8" name="tile-87"/>
          <p:cNvSpPr txBox="1"/>
          <p:nvPr/>
        </p:nvSpPr>
        <p:spPr>
          <a:xfrm>
            <a:off x="630936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検</a:t>
            </a:r>
            <a:endParaRPr lang="en-US" sz="1300" dirty="0"/>
          </a:p>
        </p:txBody>
      </p:sp>
      <p:sp>
        <p:nvSpPr>
          <p:cNvPr id="9" name="head-88"/>
          <p:cNvSpPr txBox="1"/>
          <p:nvPr/>
        </p:nvSpPr>
        <p:spPr>
          <a:xfrm>
            <a:off x="6812280" y="132588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検証結果</a:t>
            </a:r>
            <a:endParaRPr lang="en-US" sz="1700" dirty="0"/>
          </a:p>
        </p:txBody>
      </p:sp>
      <p:graphicFrame>
        <p:nvGraphicFramePr>
          <p:cNvPr id="13" name="table-8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09360" y="1828800"/>
          <a:ext cx="530352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55448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学習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テスト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枚数（画像 / ラベル）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60,000 / 60,000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10,000 / 10,000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元IDXを逆順にした列と一致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ラベル完全一致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ラベル完全一致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画素の最大誤差（×255）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1.25×10⁻⁴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1.25×10⁻⁴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画素値の種類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256 階調（0〜1）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256 階調（0〜1）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先頭ラベル（本データ）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8 6 5 3 8 1 5 9 …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6 5 4 3 2 1 0 9 …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元MNIST 末尾から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8 6 5 3 8 1 5 9 …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6 5 4 3 2 1 0 9 …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-90"/>
          <p:cNvSpPr txBox="1"/>
          <p:nvPr/>
        </p:nvSpPr>
        <p:spPr>
          <a:xfrm>
            <a:off x="6309360" y="4526280"/>
            <a:ext cx="5303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chemeClr val="accent6"/>
                </a:solidFill>
              </a:rPr>
              <a:t>誤差は小数6桁丸め（例: 1/255 → 0.003922）によるもので、値は実質同一。</a:t>
            </a:r>
            <a:endParaRPr lang="en-US" sz="1150" dirty="0"/>
          </a:p>
        </p:txBody>
      </p:sp>
      <p:graphicFrame>
        <p:nvGraphicFramePr>
          <p:cNvPr id="25" name="table-9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983480"/>
          <a:ext cx="11064240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5486400"/>
                <a:gridCol w="19202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mlp/ のファイル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中身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サイズ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mnist-datasets.l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学習・テストの画像とラベル4つ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270 MB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mnist-train-images.l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学習画像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231 MB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mnist-test-labels.l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テスト画像＋ラベル（名前に注意）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38.6 MB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mnist-test-images.l / train-labels.l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テスト画像 / 学習ラベル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4213D"/>
                          </a:solidFill>
                        </a:rPr>
                        <a:t>38.5 / 0.48 MB</a:t>
                      </a:r>
                      <a:endParaRPr lang="en-US" sz="11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NN の構成 — 784-1000-1000-10 の全結合ネットワーク</a:t>
            </a:r>
            <a:endParaRPr lang="en-US" sz="28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2148840" cy="1371600"/>
          </a:xfrm>
          <a:prstGeom prst="roundRect">
            <a:avLst>
              <a:gd name="adj" fmla="val 6667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入力</a:t>
            </a:r>
            <a:endParaRPr lang="en-US" sz="13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784</a:t>
            </a:r>
            <a:endParaRPr lang="en-US" sz="1300" dirty="0"/>
          </a:p>
        </p:txBody>
      </p:sp>
      <p:sp>
        <p:nvSpPr>
          <p:cNvPr id="5" name="text-92"/>
          <p:cNvSpPr txBox="1"/>
          <p:nvPr/>
        </p:nvSpPr>
        <p:spPr>
          <a:xfrm>
            <a:off x="548640" y="283464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28×28 画素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0〜1 に正規化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2761488" y="1920240"/>
            <a:ext cx="301752" cy="27432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3063240" y="1371600"/>
            <a:ext cx="2148840" cy="1371600"/>
          </a:xfrm>
          <a:prstGeom prst="roundRect">
            <a:avLst>
              <a:gd name="adj" fmla="val 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隠れ層1</a:t>
            </a:r>
            <a:endParaRPr lang="en-US" sz="13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1000</a:t>
            </a:r>
            <a:endParaRPr lang="en-US" sz="1300" dirty="0"/>
          </a:p>
        </p:txBody>
      </p:sp>
      <p:sp>
        <p:nvSpPr>
          <p:cNvPr id="8" name="text-93"/>
          <p:cNvSpPr txBox="1"/>
          <p:nvPr/>
        </p:nvSpPr>
        <p:spPr>
          <a:xfrm>
            <a:off x="3063240" y="283464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全結合 W₁: 1000×784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 b₁ → ReLU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5276088" y="1920240"/>
            <a:ext cx="301752" cy="27432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5577840" y="1371600"/>
            <a:ext cx="2148840" cy="1371600"/>
          </a:xfrm>
          <a:prstGeom prst="roundRect">
            <a:avLst>
              <a:gd name="adj" fmla="val 6667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隠れ層2</a:t>
            </a:r>
            <a:endParaRPr lang="en-US" sz="13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1000</a:t>
            </a:r>
            <a:endParaRPr lang="en-US" sz="1300" dirty="0"/>
          </a:p>
        </p:txBody>
      </p:sp>
      <p:sp>
        <p:nvSpPr>
          <p:cNvPr id="11" name="text-94"/>
          <p:cNvSpPr txBox="1"/>
          <p:nvPr/>
        </p:nvSpPr>
        <p:spPr>
          <a:xfrm>
            <a:off x="5577840" y="283464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全結合 W₂: 1000×1000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 b₂ → ReLU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7790688" y="1920240"/>
            <a:ext cx="301752" cy="274320"/>
          </a:xfrm>
          <a:prstGeom prst="rightArrow">
            <a:avLst/>
          </a:prstGeom>
          <a:solidFill>
            <a:schemeClr val="tx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8092440" y="1371600"/>
            <a:ext cx="2148840" cy="1371600"/>
          </a:xfrm>
          <a:prstGeom prst="roundRect">
            <a:avLst>
              <a:gd name="adj" fmla="val 6667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出力</a:t>
            </a:r>
            <a:endParaRPr lang="en-US" sz="1300" dirty="0"/>
          </a:p>
          <a:p>
            <a:pPr algn="ctr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10</a:t>
            </a:r>
            <a:endParaRPr lang="en-US" sz="1300" dirty="0"/>
          </a:p>
        </p:txBody>
      </p:sp>
      <p:sp>
        <p:nvSpPr>
          <p:cNvPr id="14" name="text-95"/>
          <p:cNvSpPr txBox="1"/>
          <p:nvPr/>
        </p:nvSpPr>
        <p:spPr>
          <a:xfrm>
            <a:off x="8092440" y="2834640"/>
            <a:ext cx="2148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全結合 W₃: 10×1000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+ b₃ → Softmax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10561320" y="1508760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accent1"/>
                </a:solidFill>
              </a:rPr>
              <a:t>y</a:t>
            </a:r>
            <a:endParaRPr lang="en-US" sz="26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accent1"/>
                </a:solidFill>
              </a:rPr>
              <a:t>10クラスの確率</a:t>
            </a:r>
            <a:endParaRPr lang="en-US" sz="2600" dirty="0"/>
          </a:p>
        </p:txBody>
      </p:sp>
      <p:graphicFrame>
        <p:nvGraphicFramePr>
          <p:cNvPr id="14" name="table-9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703320"/>
          <a:ext cx="6949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188720"/>
                <a:gridCol w="1463040"/>
                <a:gridCol w="15544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層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重み W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バイアス b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パラメータ数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1枚あたり積和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隠れ層1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1000 × 784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785,000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784,000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隠れ層2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1000 × 1000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1,001,000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1,000,000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出力層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10 × 1000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10,010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10,000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合計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1,796,010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1,794,000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</a:tr>
            </a:tbl>
          </a:graphicData>
        </a:graphic>
      </p:graphicFrame>
      <p:sp>
        <p:nvSpPr>
          <p:cNvPr id="17" name="bullets-97"/>
          <p:cNvSpPr txBox="1"/>
          <p:nvPr/>
        </p:nvSpPr>
        <p:spPr>
          <a:xfrm>
            <a:off x="7818120" y="3703320"/>
            <a:ext cx="384048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重みは倍精度 (64bit) で 約 14.4 MB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初期値: 一様乱数 U(−0.08, 0.08)、バイアス 0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1枚の順伝播 ≒ 3.6 MFLOP、学習（順＋逆＋更新）≒ 9.2 MFLOP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畳み込みは使わない → 画像の位置ずれに弱い（誤認識例で確認）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実装の詳細（1）— クラス構成（nn.l）</a:t>
            </a:r>
            <a:endParaRPr lang="en-US" sz="2800" dirty="0"/>
          </a:p>
        </p:txBody>
      </p:sp>
      <p:sp>
        <p:nvSpPr>
          <p:cNvPr id="4" name="code-98"/>
          <p:cNvSpPr txBox="1"/>
          <p:nvPr/>
        </p:nvSpPr>
        <p:spPr>
          <a:xfrm>
            <a:off x="548640" y="1280160"/>
            <a:ext cx="6675120" cy="4937760"/>
          </a:xfrm>
          <a:prstGeom prst="roundRect">
            <a:avLst>
              <a:gd name="adj" fmla="val 1111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(defclass Perceptron :super propertied-object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:slots (W Wt b delta activation p mask pre-dW pre-db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      u z in-dim out-dim dW db))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(:call (x)       ; x: バッチ×in-dim の行列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;; u = x・Wᵀ + 1・bᵀ   (C ← A・B + C を dgemm で)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(setq u (cblas-dgemm x Wt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        (extended-matrix b (array-dimension x 0))))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;; z = f(u)   mReLU / mSoftmax (MATPROD の C 関数)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(setq z (funcall (symbol-function activation) 0 u)))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(setq mlp (instance MultiLayerPerceptron :init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(list (instance Perceptron :init 784 1000 1.0 'mReLU)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    (instance Perceptron :init 1000 1000 1.0 'mReLU)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       (instance Perceptron :init 1000 10 1.0 'mSoftmax))))</a:t>
            </a:r>
            <a:endParaRPr lang="en-US" sz="1350" dirty="0"/>
          </a:p>
        </p:txBody>
      </p:sp>
      <p:sp>
        <p:nvSpPr>
          <p:cNvPr id="5" name="tile-99"/>
          <p:cNvSpPr txBox="1"/>
          <p:nvPr/>
        </p:nvSpPr>
        <p:spPr>
          <a:xfrm>
            <a:off x="754380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</a:t>
            </a:r>
            <a:endParaRPr lang="en-US" sz="1300" dirty="0"/>
          </a:p>
        </p:txBody>
      </p:sp>
      <p:sp>
        <p:nvSpPr>
          <p:cNvPr id="6" name="head-100"/>
          <p:cNvSpPr txBox="1"/>
          <p:nvPr/>
        </p:nvSpPr>
        <p:spPr>
          <a:xfrm>
            <a:off x="8046720" y="132588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Perceptron（1層）</a:t>
            </a:r>
            <a:endParaRPr lang="en-US" sz="1700" dirty="0"/>
          </a:p>
        </p:txBody>
      </p:sp>
      <p:sp>
        <p:nvSpPr>
          <p:cNvPr id="7" name="bullets-101"/>
          <p:cNvSpPr txBox="1"/>
          <p:nvPr/>
        </p:nvSpPr>
        <p:spPr>
          <a:xfrm>
            <a:off x="7543800" y="1828800"/>
            <a:ext cx="4114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W と、その転置 Wt を両方保持（順伝播で Wt を使う）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u（活性化前）と z（出力）を保存し逆伝播で再利用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p, mask, pre-dW は dropout / momentum 用だが未使用</a:t>
            </a:r>
            <a:endParaRPr lang="en-US" sz="1250" dirty="0"/>
          </a:p>
        </p:txBody>
      </p:sp>
      <p:sp>
        <p:nvSpPr>
          <p:cNvPr id="8" name="tile-102"/>
          <p:cNvSpPr txBox="1"/>
          <p:nvPr/>
        </p:nvSpPr>
        <p:spPr>
          <a:xfrm>
            <a:off x="7543800" y="36576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</a:t>
            </a:r>
            <a:endParaRPr lang="en-US" sz="1300" dirty="0"/>
          </a:p>
        </p:txBody>
      </p:sp>
      <p:sp>
        <p:nvSpPr>
          <p:cNvPr id="9" name="head-103"/>
          <p:cNvSpPr txBox="1"/>
          <p:nvPr/>
        </p:nvSpPr>
        <p:spPr>
          <a:xfrm>
            <a:off x="8046720" y="3657600"/>
            <a:ext cx="3611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MultiLayerPerceptron</a:t>
            </a:r>
            <a:endParaRPr lang="en-US" sz="1700" dirty="0"/>
          </a:p>
        </p:txBody>
      </p:sp>
      <p:sp>
        <p:nvSpPr>
          <p:cNvPr id="10" name="bullets-104"/>
          <p:cNvSpPr txBox="1"/>
          <p:nvPr/>
        </p:nvSpPr>
        <p:spPr>
          <a:xfrm>
            <a:off x="7543800" y="4160520"/>
            <a:ext cx="41148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:train-batch — 順伝播・損失・逆伝播・重み更新を1バッチ分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:test — 1枚を 1×784 行列にして順伝播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extended-matrix で b をバッチ行数ぶん複製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実装の詳細（2）— 順伝播・逆伝播と BLAS 呼び出しの対応</a:t>
            </a:r>
            <a:endParaRPr lang="en-US" sz="2800" dirty="0"/>
          </a:p>
        </p:txBody>
      </p:sp>
      <p:graphicFrame>
        <p:nvGraphicFramePr>
          <p:cNvPr id="16" name="table-10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4206240"/>
                <a:gridCol w="502920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処理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数式（B=バッチ200）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</a:rPr>
                        <a:t>nn.l での実装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順伝播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uₗ = zₗ₋₁ Wₗᵀ + 1 bₗᵀ,   zₗ = f(uₗ)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cblas-dgemm x Wt (extended-matrix b B) → mrelu / msoftmax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損失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L = −(1/B) Σᵢ log yᵢ,tᵢ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Lisp ループで正解位置の log を加算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出力層の誤差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δ₃ = y − t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copy-object y → cblas-daxpy t δ :alpha −1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誤差逆伝播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δₗ = (δₗ₊₁ Wₗ₊₁) ⊙ f′(uₗ)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cblas-dgemm δ W → mprod (mrelu 1 u)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重みの勾配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ΔWₗ = δₗᵀ zₗ₋₁（バッチ和）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cblas-dgemm (transpose δ) z dW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バイアスの勾配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Δbₗ = 1ᵀ δₗ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cblas-dgemm (one-matrix 1×B) δ db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更新（SGD）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Wₗ ← Wₗ − η ΔWₗ,  bₗ ← bₗ − η Δbₗ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4213D"/>
                          </a:solidFill>
                        </a:rPr>
                        <a:t>cblas-daxpy dW W :alpha −η, Wt を transpose で作り直す</a:t>
                      </a:r>
                      <a:endParaRPr lang="en-US" sz="14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5" name="text-106"/>
          <p:cNvSpPr txBox="1"/>
          <p:nvPr/>
        </p:nvSpPr>
        <p:spPr>
          <a:xfrm>
            <a:off x="548640" y="5074920"/>
            <a:ext cx="11064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f′: ReLU の微分は u ≥ 0 で 1、それ以外 0（mrelu の flag=1）。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accent6"/>
                </a:solidFill>
              </a:rPr>
              <a:t>η = 0.001 を勾配の「合計」に掛けるため、平均勾配に換算すると学習率 0.2 相当（= 0.001 × 200）。バッチサイズを変えると実効学習率も変わる。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学習方法 — test-mnist-batch のハイパーパラメータ</a:t>
            </a:r>
            <a:endParaRPr lang="en-US" sz="2800" dirty="0"/>
          </a:p>
        </p:txBody>
      </p:sp>
      <p:graphicFrame>
        <p:nvGraphicFramePr>
          <p:cNvPr id="17" name="table-1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740664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10896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項目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設定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備考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最適化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ミニバッチ SGD（モーメンタムなし）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*mr* = 0.5 は定義のみで未使用（TODO）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学習率 η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0.001（*lr*）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勾配はバッチ和 → 平均換算 0.2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バッチサイズ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200（README: (test-mnist-batch 200)）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1エポック = 300 回更新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エポック数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20（:epoch 既定値）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合計 6,000 回更新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損失関数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交差エントロピー（Softmax 出力）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初期化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W ~ U(−0.08, 0.08), b = 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EusLisp の random は既定シードで再現性あり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データ順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毎エポック同じ順（シャッフルなし）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リストの先頭から 200 枚ずつ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正則化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なし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dropout 引数（1.0）は未使用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保存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各エポック後に mlp/mnist-mlp-N.l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dump-loadable-structure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5" name="tile-108"/>
          <p:cNvSpPr txBox="1"/>
          <p:nvPr/>
        </p:nvSpPr>
        <p:spPr>
          <a:xfrm>
            <a:off x="822960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tx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実</a:t>
            </a:r>
            <a:endParaRPr lang="en-US" sz="1300" dirty="0"/>
          </a:p>
        </p:txBody>
      </p:sp>
      <p:sp>
        <p:nvSpPr>
          <p:cNvPr id="6" name="head-109"/>
          <p:cNvSpPr txBox="1"/>
          <p:nvPr/>
        </p:nvSpPr>
        <p:spPr>
          <a:xfrm>
            <a:off x="8732520" y="1325880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実行方法</a:t>
            </a:r>
            <a:endParaRPr lang="en-US" sz="1700" dirty="0"/>
          </a:p>
        </p:txBody>
      </p:sp>
      <p:sp>
        <p:nvSpPr>
          <p:cNvPr id="7" name="code-110"/>
          <p:cNvSpPr txBox="1"/>
          <p:nvPr/>
        </p:nvSpPr>
        <p:spPr>
          <a:xfrm>
            <a:off x="8229600" y="1828800"/>
            <a:ext cx="3429000" cy="2514600"/>
          </a:xfrm>
          <a:prstGeom prst="roundRect">
            <a:avLst>
              <a:gd name="adj" fmla="val 2182"/>
            </a:avLst>
          </a:prstGeom>
          <a:solidFill>
            <a:srgbClr val="1B2433"/>
          </a:solidFill>
          <a:ln/>
        </p:spPr>
        <p:txBody>
          <a:bodyPr wrap="square" lIns="1905" tIns="1905" rIns="1905" bIns="1905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roseus nn.l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;; 学習（20エポック）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(test-mnist-batch 200)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;; テスト画像で認識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(test-mnist-test)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;; 学習画像で認識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8ECF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$ (test-mnist-train)</a:t>
            </a:r>
            <a:endParaRPr lang="en-US" sz="1350" dirty="0"/>
          </a:p>
        </p:txBody>
      </p:sp>
      <p:sp>
        <p:nvSpPr>
          <p:cNvPr id="8" name="text-111"/>
          <p:cNvSpPr txBox="1"/>
          <p:nvPr/>
        </p:nvSpPr>
        <p:spPr>
          <a:xfrm>
            <a:off x="8229600" y="4526280"/>
            <a:ext cx="3429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各エポックの終わりに時刻・平均損失・経過時間を表示し、モデルを保存する。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処理時間プロファイル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1エポック学習の内訳、バッチサイズ・スレッド数による変化、読み込みと推論の時間</a:t>
            </a:r>
            <a:endParaRPr lang="en-US" sz="1600" dirty="0"/>
          </a:p>
        </p:txBody>
      </p:sp>
      <p:sp>
        <p:nvSpPr>
          <p:cNvPr id="4" name="tile-112"/>
          <p:cNvSpPr txBox="1"/>
          <p:nvPr/>
        </p:nvSpPr>
        <p:spPr>
          <a:xfrm>
            <a:off x="822960" y="2514600"/>
            <a:ext cx="1097280" cy="1097280"/>
          </a:xfrm>
          <a:prstGeom prst="roundRect">
            <a:avLst>
              <a:gd name="adj" fmla="val 5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3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1エポック学習の内訳（バッチ200, 壁時計 31.9 秒）</a:t>
            </a:r>
            <a:endParaRPr lang="en-US" sz="2800" dirty="0"/>
          </a:p>
        </p:txBody>
      </p:sp>
      <p:graphicFrame>
        <p:nvGraphicFramePr>
          <p:cNvPr id="4" name="prof-epoch" descr=""/>
          <p:cNvGraphicFramePr/>
          <p:nvPr/>
        </p:nvGraphicFramePr>
        <p:xfrm>
          <a:off x="457200" y="1188720"/>
          <a:ext cx="6949440" cy="5120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-113"/>
          <p:cNvSpPr txBox="1"/>
          <p:nvPr/>
        </p:nvSpPr>
        <p:spPr>
          <a:xfrm>
            <a:off x="7772400" y="123444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42%</a:t>
            </a:r>
            <a:endParaRPr lang="en-US" sz="4000" dirty="0"/>
          </a:p>
        </p:txBody>
      </p:sp>
      <p:sp>
        <p:nvSpPr>
          <p:cNvPr id="6" name="statlbl-114"/>
          <p:cNvSpPr txBox="1"/>
          <p:nvPr/>
        </p:nvSpPr>
        <p:spPr>
          <a:xfrm>
            <a:off x="7772400" y="210312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がバッチ作成（画像のコピー）。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(elt リスト i) が先頭から辿るため O(N) — 最大のボトルネック</a:t>
            </a:r>
            <a:endParaRPr lang="en-US" sz="1200" dirty="0"/>
          </a:p>
        </p:txBody>
      </p:sp>
      <p:sp>
        <p:nvSpPr>
          <p:cNvPr id="7" name="stat-115"/>
          <p:cNvSpPr txBox="1"/>
          <p:nvPr/>
        </p:nvSpPr>
        <p:spPr>
          <a:xfrm>
            <a:off x="7772400" y="274320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8.5 秒</a:t>
            </a:r>
            <a:endParaRPr lang="en-US" sz="4000" dirty="0"/>
          </a:p>
        </p:txBody>
      </p:sp>
      <p:sp>
        <p:nvSpPr>
          <p:cNvPr id="8" name="statlbl-116"/>
          <p:cNvSpPr txBox="1"/>
          <p:nvPr/>
        </p:nvSpPr>
        <p:spPr>
          <a:xfrm>
            <a:off x="7772400" y="361188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dgemm 合計（順・逆・勾配）。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約 65 GFLOPS（倍精度）で計算</a:t>
            </a:r>
            <a:endParaRPr lang="en-US" sz="1200" dirty="0"/>
          </a:p>
        </p:txBody>
      </p:sp>
      <p:sp>
        <p:nvSpPr>
          <p:cNvPr id="9" name="stat-117"/>
          <p:cNvSpPr txBox="1"/>
          <p:nvPr/>
        </p:nvSpPr>
        <p:spPr>
          <a:xfrm>
            <a:off x="7772400" y="425196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576 秒</a:t>
            </a:r>
            <a:endParaRPr lang="en-US" sz="4000" dirty="0"/>
          </a:p>
        </p:txBody>
      </p:sp>
      <p:sp>
        <p:nvSpPr>
          <p:cNvPr id="10" name="statlbl-118"/>
          <p:cNvSpPr txBox="1"/>
          <p:nvPr/>
        </p:nvSpPr>
        <p:spPr>
          <a:xfrm>
            <a:off x="7772400" y="512064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同じ1エポックの CPU 時間（全スレッド合計）。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nn.l の表示 [sec] は unix::runtime = CPU 時間</a:t>
            </a:r>
            <a:endParaRPr lang="en-US" sz="1200" dirty="0"/>
          </a:p>
        </p:txBody>
      </p:sp>
      <p:sp>
        <p:nvSpPr>
          <p:cNvPr id="11" name="text-119"/>
          <p:cNvSpPr txBox="1"/>
          <p:nvPr/>
        </p:nvSpPr>
        <p:spPr>
          <a:xfrm>
            <a:off x="7772400" y="5715000"/>
            <a:ext cx="3931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chemeClr val="accent6"/>
                </a:solidFill>
              </a:rPr>
              <a:t>参考: 保存済みモデルのファイル時刻の間隔は 1エポック約 60 秒（学習＋保存、当時の負荷込み）。今回はモデル保存 1.4 秒を別途計測。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バッチサイズとスレッド数による学習時間の変化</a:t>
            </a:r>
            <a:endParaRPr lang="en-US" sz="2800" dirty="0"/>
          </a:p>
        </p:txBody>
      </p:sp>
      <p:graphicFrame>
        <p:nvGraphicFramePr>
          <p:cNvPr id="4" name="prof-sweep" descr=""/>
          <p:cNvGraphicFramePr/>
          <p:nvPr/>
        </p:nvGraphicFramePr>
        <p:xfrm>
          <a:off x="457200" y="1188720"/>
          <a:ext cx="603504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prof-threads" descr=""/>
          <p:cNvGraphicFramePr/>
          <p:nvPr/>
        </p:nvGraphicFramePr>
        <p:xfrm>
          <a:off x="6766560" y="1188720"/>
          <a:ext cx="493776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bullets-120"/>
          <p:cNvSpPr txBox="1"/>
          <p:nvPr/>
        </p:nvSpPr>
        <p:spPr>
          <a:xfrm>
            <a:off x="6766560" y="4206240"/>
            <a:ext cx="48920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バッチが小さいと dgemm 1回あたりの仕事が少なく、Lisp 側の手間と BLAS 起動コストが支配的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バッチ 500 付近で最短（17.5 秒）。1000 では再び少し遅くなる</a:t>
            </a:r>
            <a:endParaRPr lang="en-US" sz="12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4 スレッドが最速。20 スレッドは 200×1000 程度の行列には多すぎ、同期待ちで逆に遅く、CPU 時間は 467 秒に膨らむ</a:t>
            </a:r>
            <a:endParaRPr lang="en-US" sz="1200" dirty="0"/>
          </a:p>
        </p:txBody>
      </p:sp>
      <p:sp>
        <p:nvSpPr>
          <p:cNvPr id="7" name="text-121"/>
          <p:cNvSpPr txBox="1"/>
          <p:nvPr/>
        </p:nvSpPr>
        <p:spPr>
          <a:xfrm>
            <a:off x="548640" y="56235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accent6"/>
                </a:solidFill>
              </a:rPr>
              <a:t>※ 6,000枚の範囲ではリスト辿りが短いため、バッチ作成の割合は全60,000枚の1エポックより小さく出る。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読み込み・推論・保存の時間</a:t>
            </a:r>
            <a:endParaRPr lang="en-US" sz="2800" dirty="0"/>
          </a:p>
        </p:txBody>
      </p:sp>
      <p:graphicFrame>
        <p:nvGraphicFramePr>
          <p:cNvPr id="21" name="table-12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80160"/>
          <a:ext cx="1106424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4389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処理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時間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</a:rPr>
                        <a:t>メモ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データ読み込み (load "mlp/mnist-datasets.l")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22.6 秒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270 MB の S 式テキストを読む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モデル読み込み (load "mlp/mnist-mlp-19.l")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9.8 秒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43 MB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モデル保存 (dump-loadable-structure)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1.4 秒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各エポック末に実行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テスト推論: 1枚ずつ :test（elt でアクセス）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10.3 秒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1.03 ms/枚（リスト辿り込み）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テスト推論: 1枚ずつ :test（dolist でアクセス）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11.6 秒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1.16 ms/枚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4572E"/>
                          </a:solidFill>
                        </a:rPr>
                        <a:t>テスト推論: 10,000枚を1行列で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4572E"/>
                          </a:solidFill>
                        </a:rPr>
                        <a:t>1.04 秒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E4572E"/>
                          </a:solidFill>
                        </a:rPr>
                        <a:t>0.104 ms/枚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学習データ推論: 60,000枚を1行列で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5.03 秒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4213D"/>
                          </a:solidFill>
                        </a:rPr>
                        <a:t>認識率の再計算に使用</a:t>
                      </a:r>
                      <a:endParaRPr lang="en-US" sz="13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sp>
        <p:nvSpPr>
          <p:cNvPr id="5" name="stat-123"/>
          <p:cNvSpPr txBox="1"/>
          <p:nvPr/>
        </p:nvSpPr>
        <p:spPr>
          <a:xfrm>
            <a:off x="548640" y="43434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×11</a:t>
            </a:r>
            <a:endParaRPr lang="en-US" sz="4000" dirty="0"/>
          </a:p>
        </p:txBody>
      </p:sp>
      <p:sp>
        <p:nvSpPr>
          <p:cNvPr id="6" name="statlbl-124"/>
          <p:cNvSpPr txBox="1"/>
          <p:nvPr/>
        </p:nvSpPr>
        <p:spPr>
          <a:xfrm>
            <a:off x="548640" y="5212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まとめて行列にした推論の速度向上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（1枚ずつ dolist 比）</a:t>
            </a:r>
            <a:endParaRPr lang="en-US" sz="1200" dirty="0"/>
          </a:p>
        </p:txBody>
      </p:sp>
      <p:sp>
        <p:nvSpPr>
          <p:cNvPr id="7" name="stat-125"/>
          <p:cNvSpPr txBox="1"/>
          <p:nvPr/>
        </p:nvSpPr>
        <p:spPr>
          <a:xfrm>
            <a:off x="4206240" y="434340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9824 枚</a:t>
            </a:r>
            <a:endParaRPr lang="en-US" sz="4000" dirty="0"/>
          </a:p>
        </p:txBody>
      </p:sp>
      <p:sp>
        <p:nvSpPr>
          <p:cNvPr id="8" name="statlbl-126"/>
          <p:cNvSpPr txBox="1"/>
          <p:nvPr/>
        </p:nvSpPr>
        <p:spPr>
          <a:xfrm>
            <a:off x="4206240" y="52120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EusLisp 上で再計算したテスト正解数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（Python での検証結果と一致）</a:t>
            </a:r>
            <a:endParaRPr lang="en-US" sz="1200" dirty="0"/>
          </a:p>
        </p:txBody>
      </p:sp>
      <p:sp>
        <p:nvSpPr>
          <p:cNvPr id="9" name="stat-127"/>
          <p:cNvSpPr txBox="1"/>
          <p:nvPr/>
        </p:nvSpPr>
        <p:spPr>
          <a:xfrm>
            <a:off x="7863840" y="4343400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4"/>
                </a:solidFill>
              </a:rPr>
              <a:t>59981 枚</a:t>
            </a:r>
            <a:endParaRPr lang="en-US" sz="4000" dirty="0"/>
          </a:p>
        </p:txBody>
      </p:sp>
      <p:sp>
        <p:nvSpPr>
          <p:cNvPr id="10" name="statlbl-128"/>
          <p:cNvSpPr txBox="1"/>
          <p:nvPr/>
        </p:nvSpPr>
        <p:spPr>
          <a:xfrm>
            <a:off x="7863840" y="5212080"/>
            <a:ext cx="3749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EusLisp 上で再計算した学習データ正解数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（60,000 枚中）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学習経過（20エポック）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保存された mnist-mlp-0.l 〜 mnist-mlp-19.l を全学習データ・全テストデータで評価</a:t>
            </a:r>
            <a:endParaRPr lang="en-US" sz="1600" dirty="0"/>
          </a:p>
        </p:txBody>
      </p:sp>
      <p:sp>
        <p:nvSpPr>
          <p:cNvPr id="4" name="tile-129"/>
          <p:cNvSpPr txBox="1"/>
          <p:nvPr/>
        </p:nvSpPr>
        <p:spPr>
          <a:xfrm>
            <a:off x="822960" y="2514600"/>
            <a:ext cx="1097280" cy="1097280"/>
          </a:xfrm>
          <a:prstGeom prst="roundRect">
            <a:avLst>
              <a:gd name="adj" fmla="val 5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4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損失の推移 — 学習データとテストデータ</a:t>
            </a:r>
            <a:endParaRPr lang="en-US" sz="2800" dirty="0"/>
          </a:p>
        </p:txBody>
      </p:sp>
      <p:graphicFrame>
        <p:nvGraphicFramePr>
          <p:cNvPr id="4" name="loss-chart" descr=""/>
          <p:cNvGraphicFramePr/>
          <p:nvPr/>
        </p:nvGraphicFramePr>
        <p:xfrm>
          <a:off x="457200" y="1188720"/>
          <a:ext cx="749808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tat-130"/>
          <p:cNvSpPr txBox="1"/>
          <p:nvPr/>
        </p:nvSpPr>
        <p:spPr>
          <a:xfrm>
            <a:off x="8321040" y="128016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0.0047</a:t>
            </a:r>
            <a:endParaRPr lang="en-US" sz="4000" dirty="0"/>
          </a:p>
        </p:txBody>
      </p:sp>
      <p:sp>
        <p:nvSpPr>
          <p:cNvPr id="6" name="statlbl-131"/>
          <p:cNvSpPr txBox="1"/>
          <p:nvPr/>
        </p:nvSpPr>
        <p:spPr>
          <a:xfrm>
            <a:off x="8321040" y="214884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学習損失（エポック20）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エポック1: 0.173 → 約 1/37</a:t>
            </a:r>
            <a:endParaRPr lang="en-US" sz="1200" dirty="0"/>
          </a:p>
        </p:txBody>
      </p:sp>
      <p:sp>
        <p:nvSpPr>
          <p:cNvPr id="7" name="stat-132"/>
          <p:cNvSpPr txBox="1"/>
          <p:nvPr/>
        </p:nvSpPr>
        <p:spPr>
          <a:xfrm>
            <a:off x="8321040" y="2834640"/>
            <a:ext cx="3383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0.0589</a:t>
            </a:r>
            <a:endParaRPr lang="en-US" sz="4000" dirty="0"/>
          </a:p>
        </p:txBody>
      </p:sp>
      <p:sp>
        <p:nvSpPr>
          <p:cNvPr id="8" name="statlbl-133"/>
          <p:cNvSpPr txBox="1"/>
          <p:nvPr/>
        </p:nvSpPr>
        <p:spPr>
          <a:xfrm>
            <a:off x="8321040" y="3703320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テスト損失（エポック20）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エポック1: 0.174</a:t>
            </a:r>
            <a:endParaRPr lang="en-US" sz="1200" dirty="0"/>
          </a:p>
        </p:txBody>
      </p:sp>
      <p:sp>
        <p:nvSpPr>
          <p:cNvPr id="9" name="text-134"/>
          <p:cNvSpPr txBox="1"/>
          <p:nvPr/>
        </p:nvSpPr>
        <p:spPr>
          <a:xfrm>
            <a:off x="8321040" y="4434840"/>
            <a:ext cx="3383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学習損失は下がり続ける一方、テスト損失はエポック 12 前後から 0.06 付近でほぼ横ばい → 学習データへの過学習が始まっている。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認識率の推移</a:t>
            </a:r>
            <a:endParaRPr lang="en-US" sz="2800" dirty="0"/>
          </a:p>
        </p:txBody>
      </p:sp>
      <p:graphicFrame>
        <p:nvGraphicFramePr>
          <p:cNvPr id="4" name="acc-chart" descr=""/>
          <p:cNvGraphicFramePr/>
          <p:nvPr/>
        </p:nvGraphicFramePr>
        <p:xfrm>
          <a:off x="457200" y="1188720"/>
          <a:ext cx="630936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4" name="table-13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40880" y="1280160"/>
          <a:ext cx="457200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234440"/>
                <a:gridCol w="1234440"/>
                <a:gridCol w="1097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エポック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学習 認識率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テスト 認識率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テスト誤り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94.86%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94.71%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529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96.62%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96.18%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382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97.53%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96.81%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319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98.47%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97.58%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242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99.49%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97.92%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208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99.87%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98.12%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188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20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99.97%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98.24%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E4572E"/>
                          </a:solidFill>
                        </a:rPr>
                        <a:t>176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</a:tr>
            </a:tbl>
          </a:graphicData>
        </a:graphic>
      </p:graphicFrame>
      <p:sp>
        <p:nvSpPr>
          <p:cNvPr id="6" name="text-136"/>
          <p:cNvSpPr txBox="1"/>
          <p:nvPr/>
        </p:nvSpPr>
        <p:spPr>
          <a:xfrm>
            <a:off x="7040880" y="44348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1エポックで既に 94.7%。20エポックで学習 99.97% / テスト 98.24%。学習データの誤りは 3,081 → 19 枚まで減った。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認識テストの結果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最終モデル mnist-mlp-19.l（20エポック後）によるテスト 10,000 枚・学習 60,000 枚の認識</a:t>
            </a:r>
            <a:endParaRPr lang="en-US" sz="1600" dirty="0"/>
          </a:p>
        </p:txBody>
      </p:sp>
      <p:sp>
        <p:nvSpPr>
          <p:cNvPr id="4" name="tile-137"/>
          <p:cNvSpPr txBox="1"/>
          <p:nvPr/>
        </p:nvSpPr>
        <p:spPr>
          <a:xfrm>
            <a:off x="822960" y="2514600"/>
            <a:ext cx="1097280" cy="1097280"/>
          </a:xfrm>
          <a:prstGeom prst="roundRect">
            <a:avLst>
              <a:gd name="adj" fmla="val 5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5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認識結果のまとめと数字ごとの認識率</a:t>
            </a:r>
            <a:endParaRPr lang="en-US" sz="2800" dirty="0"/>
          </a:p>
        </p:txBody>
      </p:sp>
      <p:sp>
        <p:nvSpPr>
          <p:cNvPr id="4" name="stat-138"/>
          <p:cNvSpPr txBox="1"/>
          <p:nvPr/>
        </p:nvSpPr>
        <p:spPr>
          <a:xfrm>
            <a:off x="548640" y="123444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1"/>
                </a:solidFill>
              </a:rPr>
              <a:t>98.24%</a:t>
            </a:r>
            <a:endParaRPr lang="en-US" sz="4000" dirty="0"/>
          </a:p>
        </p:txBody>
      </p:sp>
      <p:sp>
        <p:nvSpPr>
          <p:cNvPr id="5" name="statlbl-139"/>
          <p:cNvSpPr txBox="1"/>
          <p:nvPr/>
        </p:nvSpPr>
        <p:spPr>
          <a:xfrm>
            <a:off x="548640" y="210312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テスト認識率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誤り 176 / 10,000 枚</a:t>
            </a:r>
            <a:endParaRPr lang="en-US" sz="1200" dirty="0"/>
          </a:p>
        </p:txBody>
      </p:sp>
      <p:sp>
        <p:nvSpPr>
          <p:cNvPr id="6" name="stat-140"/>
          <p:cNvSpPr txBox="1"/>
          <p:nvPr/>
        </p:nvSpPr>
        <p:spPr>
          <a:xfrm>
            <a:off x="548640" y="278892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2"/>
                </a:solidFill>
              </a:rPr>
              <a:t>99.97%</a:t>
            </a:r>
            <a:endParaRPr lang="en-US" sz="4000" dirty="0"/>
          </a:p>
        </p:txBody>
      </p:sp>
      <p:sp>
        <p:nvSpPr>
          <p:cNvPr id="7" name="statlbl-141"/>
          <p:cNvSpPr txBox="1"/>
          <p:nvPr/>
        </p:nvSpPr>
        <p:spPr>
          <a:xfrm>
            <a:off x="548640" y="3657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学習データ認識率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誤り 19 / 60,000 枚</a:t>
            </a:r>
            <a:endParaRPr lang="en-US" sz="1200" dirty="0"/>
          </a:p>
        </p:txBody>
      </p:sp>
      <p:sp>
        <p:nvSpPr>
          <p:cNvPr id="8" name="stat-142"/>
          <p:cNvSpPr txBox="1"/>
          <p:nvPr/>
        </p:nvSpPr>
        <p:spPr>
          <a:xfrm>
            <a:off x="548640" y="43434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000" b="1" dirty="0">
                <a:solidFill>
                  <a:schemeClr val="accent6"/>
                </a:solidFill>
              </a:rPr>
              <a:t>0.78</a:t>
            </a:r>
            <a:endParaRPr lang="en-US" sz="4000" dirty="0"/>
          </a:p>
        </p:txBody>
      </p:sp>
      <p:sp>
        <p:nvSpPr>
          <p:cNvPr id="9" name="statlbl-143"/>
          <p:cNvSpPr txBox="1"/>
          <p:nvPr/>
        </p:nvSpPr>
        <p:spPr>
          <a:xfrm>
            <a:off x="548640" y="52120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誤認識した画像の最大確率の中央値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（正解画像では 0.99999）</a:t>
            </a:r>
            <a:endParaRPr lang="en-US" sz="1200" dirty="0"/>
          </a:p>
        </p:txBody>
      </p:sp>
      <p:graphicFrame>
        <p:nvGraphicFramePr>
          <p:cNvPr id="10" name="perclass-chart" descr=""/>
          <p:cNvGraphicFramePr/>
          <p:nvPr/>
        </p:nvGraphicFramePr>
        <p:xfrm>
          <a:off x="4114800" y="1188720"/>
          <a:ext cx="75895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混同行列 — どの数字をどれと間違えたか</a:t>
            </a:r>
            <a:endParaRPr lang="en-US" sz="2800" dirty="0"/>
          </a:p>
        </p:txBody>
      </p:sp>
      <p:pic>
        <p:nvPicPr>
          <p:cNvPr id="4" name="confusion" descr="/tmp/claude-1001/-home-mi-mnist/137a571b-9a80-4a1c-8647-53667b8e1fcb/scratchpad/work/fig/confus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5577840" cy="5020056"/>
          </a:xfrm>
          <a:prstGeom prst="rect">
            <a:avLst/>
          </a:prstGeom>
        </p:spPr>
      </p:pic>
      <p:sp>
        <p:nvSpPr>
          <p:cNvPr id="5" name="tile-144"/>
          <p:cNvSpPr txBox="1"/>
          <p:nvPr/>
        </p:nvSpPr>
        <p:spPr>
          <a:xfrm>
            <a:off x="6400800" y="13258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誤</a:t>
            </a:r>
            <a:endParaRPr lang="en-US" sz="1300" dirty="0"/>
          </a:p>
        </p:txBody>
      </p:sp>
      <p:sp>
        <p:nvSpPr>
          <p:cNvPr id="6" name="head-145"/>
          <p:cNvSpPr txBox="1"/>
          <p:nvPr/>
        </p:nvSpPr>
        <p:spPr>
          <a:xfrm>
            <a:off x="6903720" y="132588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間違いの多い組合せ（テスト）</a:t>
            </a:r>
            <a:endParaRPr lang="en-US" sz="1700" dirty="0"/>
          </a:p>
        </p:txBody>
      </p:sp>
      <p:graphicFrame>
        <p:nvGraphicFramePr>
          <p:cNvPr id="27" name="table-14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828800"/>
          <a:ext cx="521208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28346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正解 → 予測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枚数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</a:rPr>
                        <a:t>理由の例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4 → 9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10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上部が閉じた 4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7 → 9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横棒・ループ付きの 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3 → 5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上半分が角ばった 3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7 → 2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下に横線を引く 7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3 → 9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太く丸い 3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3 → 8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6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4213D"/>
                          </a:solidFill>
                        </a:rPr>
                        <a:t>左側が閉じかけた 3</a:t>
                      </a:r>
                      <a:endParaRPr lang="en-US" sz="12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-147"/>
          <p:cNvSpPr txBox="1"/>
          <p:nvPr/>
        </p:nvSpPr>
        <p:spPr>
          <a:xfrm>
            <a:off x="6400800" y="4480560"/>
            <a:ext cx="52120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tx1"/>
                </a:solidFill>
              </a:rPr>
              <a:t>形の似た数字の取り違えが中心。全結合NNは画素位置ごとに重みを持つため、筆跡の位置・傾き・太さの変化に弱い。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テストで誤認識した全 176 枚（正解→予測）</a:t>
            </a:r>
            <a:endParaRPr lang="en-US" sz="2800" dirty="0"/>
          </a:p>
        </p:txBody>
      </p:sp>
      <p:pic>
        <p:nvPicPr>
          <p:cNvPr id="4" name="wrong-test" descr="/tmp/claude-1001/-home-mi-mnist/137a571b-9a80-4a1c-8647-53667b8e1fcb/scratchpad/work/fig/wrong_tes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43000"/>
            <a:ext cx="11064240" cy="50962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学習データで誤認識した 19 枚と、自信満々の誤り</a:t>
            </a:r>
            <a:endParaRPr lang="en-US" sz="2800" dirty="0"/>
          </a:p>
        </p:txBody>
      </p:sp>
      <p:pic>
        <p:nvPicPr>
          <p:cNvPr id="4" name="wrong-train" descr="/tmp/claude-1001/-home-mi-mnist/137a571b-9a80-4a1c-8647-53667b8e1fcb/scratchpad/work/fig/wrong_tra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25880"/>
            <a:ext cx="5486400" cy="1389888"/>
          </a:xfrm>
          <a:prstGeom prst="rect">
            <a:avLst/>
          </a:prstGeom>
        </p:spPr>
      </p:pic>
      <p:sp>
        <p:nvSpPr>
          <p:cNvPr id="5" name="text-148"/>
          <p:cNvSpPr txBox="1"/>
          <p:nvPr/>
        </p:nvSpPr>
        <p:spPr>
          <a:xfrm>
            <a:off x="548640" y="288036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chemeClr val="accent6"/>
                </a:solidFill>
              </a:rPr>
              <a:t>学習データ 60,000 枚中の誤り（正解→予測）。4→9、3→5、7→1/9 など、テストと同じ傾向。</a:t>
            </a:r>
            <a:endParaRPr lang="en-US" sz="1250" dirty="0"/>
          </a:p>
        </p:txBody>
      </p:sp>
      <p:sp>
        <p:nvSpPr>
          <p:cNvPr id="6" name="tile-149"/>
          <p:cNvSpPr txBox="1"/>
          <p:nvPr/>
        </p:nvSpPr>
        <p:spPr>
          <a:xfrm>
            <a:off x="548640" y="374904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!</a:t>
            </a:r>
            <a:endParaRPr lang="en-US" sz="1300" dirty="0"/>
          </a:p>
        </p:txBody>
      </p:sp>
      <p:sp>
        <p:nvSpPr>
          <p:cNvPr id="7" name="head-150"/>
          <p:cNvSpPr txBox="1"/>
          <p:nvPr/>
        </p:nvSpPr>
        <p:spPr>
          <a:xfrm>
            <a:off x="1051560" y="3749040"/>
            <a:ext cx="4983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確率 0.998 以上の誤り（テスト上位5枚）</a:t>
            </a:r>
            <a:endParaRPr lang="en-US" sz="1700" dirty="0"/>
          </a:p>
        </p:txBody>
      </p:sp>
      <p:graphicFrame>
        <p:nvGraphicFramePr>
          <p:cNvPr id="29" name="table-15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251960"/>
          <a:ext cx="548640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097280"/>
                <a:gridCol w="914400"/>
                <a:gridCol w="91440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i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元番号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正解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予測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予測の確率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7345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2654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1.0000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270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9729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5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0.9993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6479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3520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0.9989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8773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1226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0.9989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8887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1112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4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6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13D"/>
                          </a:solidFill>
                        </a:rPr>
                        <a:t>0.9982</a:t>
                      </a:r>
                      <a:endParaRPr lang="en-US" sz="120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</a:tbl>
          </a:graphicData>
        </a:graphic>
      </p:graphicFrame>
      <p:pic>
        <p:nvPicPr>
          <p:cNvPr id="9" name="conf-wrong-img" descr="/tmp/claude-1001/-home-mi-mnist/137a571b-9a80-4a1c-8647-53667b8e1fcb/scratchpad/work/fig/test_7345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325880"/>
            <a:ext cx="2011680" cy="2011680"/>
          </a:xfrm>
          <a:prstGeom prst="rect">
            <a:avLst/>
          </a:prstGeom>
        </p:spPr>
      </p:pic>
      <p:sp>
        <p:nvSpPr>
          <p:cNvPr id="10" name="text-152"/>
          <p:cNvSpPr txBox="1"/>
          <p:nvPr/>
        </p:nvSpPr>
        <p:spPr>
          <a:xfrm>
            <a:off x="8778240" y="137160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テスト i=7345（元 #2654）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1"/>
                </a:solidFill>
              </a:rPr>
              <a:t>正解 6 → 予測 1（確率 0.99996）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chemeClr val="accent6"/>
                </a:solidFill>
              </a:rPr>
              <a:t>細く縦長に書かれた 6 は、1 の典型的な画素分布と重なる。確率の高さは正しさを保証しない例。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推論の例 — 出力層 Softmax の確率</a:t>
            </a:r>
            <a:endParaRPr lang="en-US" sz="2800" dirty="0"/>
          </a:p>
        </p:txBody>
      </p:sp>
      <p:pic>
        <p:nvPicPr>
          <p:cNvPr id="4" name="ex-img-153" descr="/tmp/claude-1001/-home-mi-mnist/137a571b-9a80-4a1c-8647-53667b8e1fcb/scratchpad/work/fig/test_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2011680" cy="2011680"/>
          </a:xfrm>
          <a:prstGeom prst="rect">
            <a:avLst/>
          </a:prstGeom>
        </p:spPr>
      </p:pic>
      <p:sp>
        <p:nvSpPr>
          <p:cNvPr id="5" name="text-154"/>
          <p:cNvSpPr txBox="1"/>
          <p:nvPr/>
        </p:nvSpPr>
        <p:spPr>
          <a:xfrm>
            <a:off x="54864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テスト i=0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4"/>
                </a:solidFill>
              </a:rPr>
              <a:t>正解 6 / 予測 6</a:t>
            </a:r>
            <a:endParaRPr lang="en-US" sz="1300" dirty="0"/>
          </a:p>
        </p:txBody>
      </p:sp>
      <p:graphicFrame>
        <p:nvGraphicFramePr>
          <p:cNvPr id="6" name="ex-chart-155" descr=""/>
          <p:cNvGraphicFramePr/>
          <p:nvPr/>
        </p:nvGraphicFramePr>
        <p:xfrm>
          <a:off x="2697480" y="1188720"/>
          <a:ext cx="32918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7" name="ex-img-156" descr="/tmp/claude-1001/-home-mi-mnist/137a571b-9a80-4a1c-8647-53667b8e1fcb/scratchpad/work/fig/test_8739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371600"/>
            <a:ext cx="2011680" cy="2011680"/>
          </a:xfrm>
          <a:prstGeom prst="rect">
            <a:avLst/>
          </a:prstGeom>
        </p:spPr>
      </p:pic>
      <p:sp>
        <p:nvSpPr>
          <p:cNvPr id="8" name="text-157"/>
          <p:cNvSpPr txBox="1"/>
          <p:nvPr/>
        </p:nvSpPr>
        <p:spPr>
          <a:xfrm>
            <a:off x="6263640" y="347472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テスト i=8739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正解 7 / 予測 1</a:t>
            </a:r>
            <a:endParaRPr lang="en-US" sz="1300" dirty="0"/>
          </a:p>
        </p:txBody>
      </p:sp>
      <p:graphicFrame>
        <p:nvGraphicFramePr>
          <p:cNvPr id="9" name="ex-chart-158" descr=""/>
          <p:cNvGraphicFramePr/>
          <p:nvPr/>
        </p:nvGraphicFramePr>
        <p:xfrm>
          <a:off x="8412480" y="1188720"/>
          <a:ext cx="329184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0" name="tile-159"/>
          <p:cNvSpPr txBox="1"/>
          <p:nvPr/>
        </p:nvSpPr>
        <p:spPr>
          <a:xfrm>
            <a:off x="548640" y="457200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表</a:t>
            </a:r>
            <a:endParaRPr lang="en-US" sz="1300" dirty="0"/>
          </a:p>
        </p:txBody>
      </p:sp>
      <p:sp>
        <p:nvSpPr>
          <p:cNvPr id="11" name="head-160"/>
          <p:cNvSpPr txBox="1"/>
          <p:nvPr/>
        </p:nvSpPr>
        <p:spPr>
          <a:xfrm>
            <a:off x="1051560" y="4572000"/>
            <a:ext cx="10469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irtviewer での表示（mnist-draw.l / draw-test-image）</a:t>
            </a:r>
            <a:endParaRPr lang="en-US" sz="1700" dirty="0"/>
          </a:p>
        </p:txBody>
      </p:sp>
      <p:sp>
        <p:nvSpPr>
          <p:cNvPr id="12" name="bullets-161"/>
          <p:cNvSpPr txBox="1"/>
          <p:nvPr/>
        </p:nvSpPr>
        <p:spPr>
          <a:xfrm>
            <a:off x="548640" y="5029200"/>
            <a:ext cx="11064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28×28 の画像を :double を3回かけて 224×224 に拡大し、cnt（誤り通番）、right（正解）、0: 1位候補と確率、1: 2位候補と確率 を描画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キー入力まで (do-until-key) 次々に画像を処理し、誤った画像だけ画面に残す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学習された重み — 第1層 W₁ の可視化</a:t>
            </a:r>
            <a:endParaRPr lang="en-US" sz="2800" dirty="0"/>
          </a:p>
        </p:txBody>
      </p:sp>
      <p:pic>
        <p:nvPicPr>
          <p:cNvPr id="4" name="w1" descr="/tmp/claude-1001/-home-mi-mnist/137a571b-9a80-4a1c-8647-53667b8e1fcb/scratchpad/work/fig/w1_filter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5029200" cy="5029200"/>
          </a:xfrm>
          <a:prstGeom prst="rect">
            <a:avLst/>
          </a:prstGeom>
        </p:spPr>
      </p:pic>
      <p:pic>
        <p:nvPicPr>
          <p:cNvPr id="5" name="whist" descr="/tmp/claude-1001/-home-mi-mnist/137a571b-9a80-4a1c-8647-53667b8e1fcb/scratchpad/work/fig/w_his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280160"/>
            <a:ext cx="5760720" cy="1975104"/>
          </a:xfrm>
          <a:prstGeom prst="rect">
            <a:avLst/>
          </a:prstGeom>
        </p:spPr>
      </p:pic>
      <p:sp>
        <p:nvSpPr>
          <p:cNvPr id="6" name="bullets-162"/>
          <p:cNvSpPr txBox="1"/>
          <p:nvPr/>
        </p:nvSpPr>
        <p:spPr>
          <a:xfrm>
            <a:off x="5943600" y="3520440"/>
            <a:ext cx="57607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20エポック・6,000回の更新では、初期乱数の模様がまだ強く残る（点線は初期分布の範囲 ±0.08）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中央付近にストロークの断片のような正負の構造が出ているユニットがある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テスト画像での隠れユニットの発火率: 第1層 50%、第2層 58%。一度も発火しない“死んだ”ユニットは 0 個</a:t>
            </a:r>
            <a:endParaRPr lang="en-US" sz="12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重みのノルムは出力層 W₃ が 6.1 → 10.1 と最も大きく変化（第1・2層は約 2% 増）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2377440" y="251460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使用した手書き画像 全 70,000 枚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2377440" y="3566160"/>
            <a:ext cx="9144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CADCFC"/>
                </a:solidFill>
              </a:rPr>
              <a:t>学習 60,000 枚（12 枚のシート）＋ テスト 10,000 枚（2 枚のシート）。1シート = 100列 × 50行 = 5,000 枚、各画像 28×28 画素を等倍で配置</a:t>
            </a:r>
            <a:endParaRPr lang="en-US" sz="1600" dirty="0"/>
          </a:p>
        </p:txBody>
      </p:sp>
      <p:sp>
        <p:nvSpPr>
          <p:cNvPr id="4" name="tile-163"/>
          <p:cNvSpPr txBox="1"/>
          <p:nvPr/>
        </p:nvSpPr>
        <p:spPr>
          <a:xfrm>
            <a:off x="822960" y="2514600"/>
            <a:ext cx="1097280" cy="1097280"/>
          </a:xfrm>
          <a:prstGeom prst="roundRect">
            <a:avLst>
              <a:gd name="adj" fmla="val 5000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chemeClr val="bg1"/>
                </a:solidFill>
              </a:rPr>
              <a:t>6</a:t>
            </a: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数字ごとの例（学習データ、各クラス先頭 20 枚）と枚数</a:t>
            </a:r>
            <a:endParaRPr lang="en-US" sz="2800" dirty="0"/>
          </a:p>
        </p:txBody>
      </p:sp>
      <p:pic>
        <p:nvPicPr>
          <p:cNvPr id="4" name="classes" descr="/tmp/claude-1001/-home-mi-mnist/137a571b-9a80-4a1c-8647-53667b8e1fcb/scratchpad/work/fig/class_sampl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6766560" cy="3362002"/>
          </a:xfrm>
          <a:prstGeom prst="rect">
            <a:avLst/>
          </a:prstGeom>
        </p:spPr>
      </p:pic>
      <p:graphicFrame>
        <p:nvGraphicFramePr>
          <p:cNvPr id="33" name="table-16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188720"/>
          <a:ext cx="39319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4630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数字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学習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</a:rPr>
                        <a:t>テスト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5,923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980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6,742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1,135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2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5,958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1,032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3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6,131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1,010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4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5,842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982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5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5,421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892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6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5,918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958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7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6,265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1,028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8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5,851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974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1F6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9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5,949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4213D"/>
                          </a:solidFill>
                        </a:rPr>
                        <a:t>1,009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4572E"/>
                          </a:solidFill>
                        </a:rPr>
                        <a:t>合計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4572E"/>
                          </a:solidFill>
                        </a:rPr>
                        <a:t>60,000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E4572E"/>
                          </a:solidFill>
                        </a:rPr>
                        <a:t>10,000</a:t>
                      </a:r>
                      <a:endParaRPr lang="en-US" sz="1150" dirty="0"/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5DA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CE7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1/12 — *train-images* i = 0 〜 4,999（元 MNIST #59,999 〜 #55,000）</a:t>
            </a:r>
            <a:endParaRPr lang="en-US" sz="1800" dirty="0"/>
          </a:p>
        </p:txBody>
      </p:sp>
      <p:pic>
        <p:nvPicPr>
          <p:cNvPr id="4" name="train-sheet-1" descr="/tmp/claude-1001/-home-mi-mnist/137a571b-9a80-4a1c-8647-53667b8e1fcb/scratchpad/work/fig/train_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2/12 — *train-images* i = 5,000 〜 9,999（元 MNIST #54,999 〜 #50,000）</a:t>
            </a:r>
            <a:endParaRPr lang="en-US" sz="1800" dirty="0"/>
          </a:p>
        </p:txBody>
      </p:sp>
      <p:pic>
        <p:nvPicPr>
          <p:cNvPr id="4" name="train-sheet-2" descr="/tmp/claude-1001/-home-mi-mnist/137a571b-9a80-4a1c-8647-53667b8e1fcb/scratchpad/work/fig/train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3/12 — *train-images* i = 10,000 〜 14,999（元 MNIST #49,999 〜 #45,000）</a:t>
            </a:r>
            <a:endParaRPr lang="en-US" sz="1800" dirty="0"/>
          </a:p>
        </p:txBody>
      </p:sp>
      <p:pic>
        <p:nvPicPr>
          <p:cNvPr id="4" name="train-sheet-3" descr="/tmp/claude-1001/-home-mi-mnist/137a571b-9a80-4a1c-8647-53667b8e1fcb/scratchpad/work/fig/train_0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4/12 — *train-images* i = 15,000 〜 19,999（元 MNIST #44,999 〜 #40,000）</a:t>
            </a:r>
            <a:endParaRPr lang="en-US" sz="1800" dirty="0"/>
          </a:p>
        </p:txBody>
      </p:sp>
      <p:pic>
        <p:nvPicPr>
          <p:cNvPr id="4" name="train-sheet-4" descr="/tmp/claude-1001/-home-mi-mnist/137a571b-9a80-4a1c-8647-53667b8e1fcb/scratchpad/work/fig/train_0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5/12 — *train-images* i = 20,000 〜 24,999（元 MNIST #39,999 〜 #35,000）</a:t>
            </a:r>
            <a:endParaRPr lang="en-US" sz="1800" dirty="0"/>
          </a:p>
        </p:txBody>
      </p:sp>
      <p:pic>
        <p:nvPicPr>
          <p:cNvPr id="4" name="train-sheet-5" descr="/tmp/claude-1001/-home-mi-mnist/137a571b-9a80-4a1c-8647-53667b8e1fcb/scratchpad/work/fig/train_0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6/12 — *train-images* i = 25,000 〜 29,999（元 MNIST #34,999 〜 #30,000）</a:t>
            </a:r>
            <a:endParaRPr lang="en-US" sz="1800" dirty="0"/>
          </a:p>
        </p:txBody>
      </p:sp>
      <p:pic>
        <p:nvPicPr>
          <p:cNvPr id="4" name="train-sheet-6" descr="/tmp/claude-1001/-home-mi-mnist/137a571b-9a80-4a1c-8647-53667b8e1fcb/scratchpad/work/fig/train_0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7/12 — *train-images* i = 30,000 〜 34,999（元 MNIST #29,999 〜 #25,000）</a:t>
            </a:r>
            <a:endParaRPr lang="en-US" sz="1800" dirty="0"/>
          </a:p>
        </p:txBody>
      </p:sp>
      <p:pic>
        <p:nvPicPr>
          <p:cNvPr id="4" name="train-sheet-7" descr="/tmp/claude-1001/-home-mi-mnist/137a571b-9a80-4a1c-8647-53667b8e1fcb/scratchpad/work/fig/train_0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8/12 — *train-images* i = 35,000 〜 39,999（元 MNIST #24,999 〜 #20,000）</a:t>
            </a:r>
            <a:endParaRPr lang="en-US" sz="1800" dirty="0"/>
          </a:p>
        </p:txBody>
      </p:sp>
      <p:pic>
        <p:nvPicPr>
          <p:cNvPr id="4" name="train-sheet-8" descr="/tmp/claude-1001/-home-mi-mnist/137a571b-9a80-4a1c-8647-53667b8e1fcb/scratchpad/work/fig/train_07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9/12 — *train-images* i = 40,000 〜 44,999（元 MNIST #19,999 〜 #15,000）</a:t>
            </a:r>
            <a:endParaRPr lang="en-US" sz="1800" dirty="0"/>
          </a:p>
        </p:txBody>
      </p:sp>
      <p:pic>
        <p:nvPicPr>
          <p:cNvPr id="4" name="train-sheet-9" descr="/tmp/claude-1001/-home-mi-mnist/137a571b-9a80-4a1c-8647-53667b8e1fcb/scratchpad/work/fig/train_0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10/12 — *train-images* i = 45,000 〜 49,999（元 MNIST #14,999 〜 #10,000）</a:t>
            </a:r>
            <a:endParaRPr lang="en-US" sz="1800" dirty="0"/>
          </a:p>
        </p:txBody>
      </p:sp>
      <p:pic>
        <p:nvPicPr>
          <p:cNvPr id="4" name="train-sheet-10" descr="/tmp/claude-1001/-home-mi-mnist/137a571b-9a80-4a1c-8647-53667b8e1fcb/scratchpad/work/fig/train_09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11/12 — *train-images* i = 50,000 〜 54,999（元 MNIST #9,999 〜 #5,000）</a:t>
            </a:r>
            <a:endParaRPr lang="en-US" sz="1800" dirty="0"/>
          </a:p>
        </p:txBody>
      </p:sp>
      <p:pic>
        <p:nvPicPr>
          <p:cNvPr id="4" name="train-sheet-11" descr="/tmp/claude-1001/-home-mi-mnist/137a571b-9a80-4a1c-8647-53667b8e1fcb/scratchpad/work/fig/train_1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学習画像 12/12 — *train-images* i = 55,000 〜 59,999（元 MNIST #4,999 〜 #0）</a:t>
            </a:r>
            <a:endParaRPr lang="en-US" sz="1800" dirty="0"/>
          </a:p>
        </p:txBody>
      </p:sp>
      <p:pic>
        <p:nvPicPr>
          <p:cNvPr id="4" name="train-sheet-12" descr="/tmp/claude-1001/-home-mi-mnist/137a571b-9a80-4a1c-8647-53667b8e1fcb/scratchpad/work/fig/train_1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テスト画像 1/2 — *test-images* i = 0 〜 4,999（元 MNIST #9,999 〜 #5,000）</a:t>
            </a:r>
            <a:endParaRPr lang="en-US" sz="1800" dirty="0"/>
          </a:p>
        </p:txBody>
      </p:sp>
      <p:pic>
        <p:nvPicPr>
          <p:cNvPr id="4" name="test-sheet-1" descr="/tmp/claude-1001/-home-mi-mnist/137a571b-9a80-4a1c-8647-53667b8e1fcb/scratchpad/work/fig/test_0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365760" y="109728"/>
            <a:ext cx="11430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テスト画像 2/2 — *test-images* i = 5,000 〜 9,999（元 MNIST #4,999 〜 #0）</a:t>
            </a:r>
            <a:endParaRPr lang="en-US" sz="1800" dirty="0"/>
          </a:p>
        </p:txBody>
      </p:sp>
      <p:pic>
        <p:nvPicPr>
          <p:cNvPr id="4" name="test-sheet-2" descr="/tmp/claude-1001/-home-mi-mnist/137a571b-9a80-4a1c-8647-53667b8e1fcb/scratchpad/work/fig/test_0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640080"/>
            <a:ext cx="11457432" cy="572871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9224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090B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7432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tx1"/>
                </a:solidFill>
              </a:rPr>
              <a:t>気づいた問題点と改善案</a:t>
            </a:r>
            <a:endParaRPr lang="en-US" sz="2800" dirty="0"/>
          </a:p>
        </p:txBody>
      </p:sp>
      <p:sp>
        <p:nvSpPr>
          <p:cNvPr id="4" name="card-165"/>
          <p:cNvSpPr/>
          <p:nvPr/>
        </p:nvSpPr>
        <p:spPr>
          <a:xfrm>
            <a:off x="548640" y="128016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5" name="tile-166"/>
          <p:cNvSpPr txBox="1"/>
          <p:nvPr/>
        </p:nvSpPr>
        <p:spPr>
          <a:xfrm>
            <a:off x="731520" y="146304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6" name="text-167"/>
          <p:cNvSpPr txBox="1"/>
          <p:nvPr/>
        </p:nvSpPr>
        <p:spPr>
          <a:xfrm>
            <a:off x="1280160" y="14447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matprod.c: msoftmax の free() 誤り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行数 &gt; 256 で malloc した配列ではなくスタック配列 maxv/sumv を free → バッチ500で munmap_chunk(): invalid pointer で異常終了。free(max), free(sum) が正しい</a:t>
            </a:r>
            <a:endParaRPr lang="en-US" sz="1400" dirty="0"/>
          </a:p>
        </p:txBody>
      </p:sp>
      <p:sp>
        <p:nvSpPr>
          <p:cNvPr id="7" name="card-168"/>
          <p:cNvSpPr/>
          <p:nvPr/>
        </p:nvSpPr>
        <p:spPr>
          <a:xfrm>
            <a:off x="6172200" y="128016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8" name="tile-169"/>
          <p:cNvSpPr txBox="1"/>
          <p:nvPr/>
        </p:nvSpPr>
        <p:spPr>
          <a:xfrm>
            <a:off x="6355080" y="146304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9" name="text-170"/>
          <p:cNvSpPr txBox="1"/>
          <p:nvPr/>
        </p:nvSpPr>
        <p:spPr>
          <a:xfrm>
            <a:off x="6903720" y="144475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バッチ作成が O(N²)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(elt *train-images* k) はリストを先頭から辿る。1エポックの約4割。最初に (coerce … vector) で配列化すれば解消</a:t>
            </a:r>
            <a:endParaRPr lang="en-US" sz="1400" dirty="0"/>
          </a:p>
        </p:txBody>
      </p:sp>
      <p:sp>
        <p:nvSpPr>
          <p:cNvPr id="10" name="card-171"/>
          <p:cNvSpPr/>
          <p:nvPr/>
        </p:nvSpPr>
        <p:spPr>
          <a:xfrm>
            <a:off x="548640" y="297180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1" name="tile-172"/>
          <p:cNvSpPr txBox="1"/>
          <p:nvPr/>
        </p:nvSpPr>
        <p:spPr>
          <a:xfrm>
            <a:off x="731520" y="31546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2" name="text-173"/>
          <p:cNvSpPr txBox="1"/>
          <p:nvPr/>
        </p:nvSpPr>
        <p:spPr>
          <a:xfrm>
            <a:off x="1280160" y="313639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経過時間の表示が CPU 時間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unix::runtime は全スレッドの CPU 時間。20スレッドの BLAS では壁時計の十数倍の値が [sec] と表示される</a:t>
            </a:r>
            <a:endParaRPr lang="en-US" sz="1400" dirty="0"/>
          </a:p>
        </p:txBody>
      </p:sp>
      <p:sp>
        <p:nvSpPr>
          <p:cNvPr id="13" name="card-174"/>
          <p:cNvSpPr/>
          <p:nvPr/>
        </p:nvSpPr>
        <p:spPr>
          <a:xfrm>
            <a:off x="6172200" y="297180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4" name="tile-175"/>
          <p:cNvSpPr txBox="1"/>
          <p:nvPr/>
        </p:nvSpPr>
        <p:spPr>
          <a:xfrm>
            <a:off x="6355080" y="315468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15" name="text-176"/>
          <p:cNvSpPr txBox="1"/>
          <p:nvPr/>
        </p:nvSpPr>
        <p:spPr>
          <a:xfrm>
            <a:off x="6903720" y="313639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学習率がバッチサイズに依存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勾配をバッチで平均せず合計。バッチを変えるなら η も変える必要がある</a:t>
            </a:r>
            <a:endParaRPr lang="en-US" sz="1400" dirty="0"/>
          </a:p>
        </p:txBody>
      </p:sp>
      <p:sp>
        <p:nvSpPr>
          <p:cNvPr id="16" name="card-177"/>
          <p:cNvSpPr/>
          <p:nvPr/>
        </p:nvSpPr>
        <p:spPr>
          <a:xfrm>
            <a:off x="548640" y="4663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17" name="tile-178"/>
          <p:cNvSpPr txBox="1"/>
          <p:nvPr/>
        </p:nvSpPr>
        <p:spPr>
          <a:xfrm>
            <a:off x="731520" y="484632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18" name="text-179"/>
          <p:cNvSpPr txBox="1"/>
          <p:nvPr/>
        </p:nvSpPr>
        <p:spPr>
          <a:xfrm>
            <a:off x="1280160" y="482803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未実装の機能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モーメンタム (*mr*)、dropout、エポックごとのシャッフル。毎バッチ 1000×1000 の dW を新規確保（約 3.5 秒/エポック）</a:t>
            </a:r>
            <a:endParaRPr lang="en-US" sz="1400" dirty="0"/>
          </a:p>
        </p:txBody>
      </p:sp>
      <p:sp>
        <p:nvSpPr>
          <p:cNvPr id="19" name="card-180"/>
          <p:cNvSpPr/>
          <p:nvPr/>
        </p:nvSpPr>
        <p:spPr>
          <a:xfrm>
            <a:off x="6172200" y="4663440"/>
            <a:ext cx="5440680" cy="1554480"/>
          </a:xfrm>
          <a:prstGeom prst="roundRect">
            <a:avLst>
              <a:gd name="adj" fmla="val 4706"/>
            </a:avLst>
          </a:prstGeom>
          <a:solidFill>
            <a:schemeClr val="bg2"/>
          </a:solidFill>
          <a:ln/>
        </p:spPr>
      </p:sp>
      <p:sp>
        <p:nvSpPr>
          <p:cNvPr id="20" name="tile-181"/>
          <p:cNvSpPr txBox="1"/>
          <p:nvPr/>
        </p:nvSpPr>
        <p:spPr>
          <a:xfrm>
            <a:off x="6355080" y="4846320"/>
            <a:ext cx="384048" cy="384048"/>
          </a:xfrm>
          <a:prstGeom prst="roundRect">
            <a:avLst>
              <a:gd name="adj" fmla="val 1428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21" name="text-182"/>
          <p:cNvSpPr txBox="1"/>
          <p:nvPr/>
        </p:nvSpPr>
        <p:spPr>
          <a:xfrm>
            <a:off x="6903720" y="4828032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表示まわり</a:t>
            </a:r>
            <a:endParaRPr lang="en-US" sz="1400" dirty="0"/>
          </a:p>
          <a:p>
            <a:pPr indent="0" marL="0">
              <a:buNone/>
            </a:pPr>
            <a:r>
              <a:rPr lang="en-US" sz="1300" dirty="0">
                <a:solidFill>
                  <a:schemeClr val="accent6"/>
                </a:solidFill>
              </a:rPr>
              <a:t>draw-test-image の2位候補は真の2位でない場合がある。test-mnist-* は削除済みの mnist-lisp-data.tgz を参照（mlp/ が無いとき）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6424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192024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まとめ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566160"/>
            <a:ext cx="10698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</a:rPr>
              <a:t>MNIST（LeCun et al. 1998）の 70,000 枚を、EusLisp＋OpenBLAS の 784-1000-1000-10 全結合NNで学習し、テスト認識率 98.24%（誤り 176 枚）を確認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</a:rPr>
              <a:t>データは元の MNIST と完全一致（逆順・1/255 正規化）。モデル20個すべてを評価し、学習曲線は滑らかに収束</a:t>
            </a:r>
            <a:endParaRPr lang="en-US" sz="18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</a:rPr>
              <a:t>1エポック 32 秒のうち約4割がリストのバッチ作成。配列化・バッファ再利用で大幅に短縮できる見込み</a:t>
            </a:r>
            <a:endParaRPr lang="en-US" sz="1800" dirty="0"/>
          </a:p>
          <a:p>
            <a:pPr algn="l" marL="342900" indent="-342900">
              <a:buSzPct val="100000"/>
              <a:buChar char="•"/>
            </a:pPr>
            <a:r>
              <a:rPr lang="en-US" sz="1800" dirty="0">
                <a:solidFill>
                  <a:srgbClr val="CADCFC"/>
                </a:solidFill>
              </a:rPr>
              <a:t>次の一歩: シャッフル・モーメンタム・softmax の free 修正、さらに CNN（LeNet-5）で 1% 未満の誤り率へ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NIST Ink">
  <a:themeElements>
    <a:clrScheme name="MNIST Ink">
      <a:dk1>
        <a:srgbClr val="14213D"/>
      </a:dk1>
      <a:lt1>
        <a:srgbClr val="FFFFFF"/>
      </a:lt1>
      <a:dk2>
        <a:srgbClr val="2B3A55"/>
      </a:dk2>
      <a:lt2>
        <a:srgbClr val="EEF1F6"/>
      </a:lt2>
      <a:accent1>
        <a:srgbClr val="E4572E"/>
      </a:accent1>
      <a:accent2>
        <a:srgbClr val="3A6EA5"/>
      </a:accent2>
      <a:accent3>
        <a:srgbClr val="F2A541"/>
      </a:accent3>
      <a:accent4>
        <a:srgbClr val="5B8C5A"/>
      </a:accent4>
      <a:accent5>
        <a:srgbClr val="8E7DBE"/>
      </a:accent5>
      <a:accent6>
        <a:srgbClr val="5B6577"/>
      </a:accent6>
      <a:hlink>
        <a:srgbClr val="3A6EA5"/>
      </a:hlink>
      <a:folHlink>
        <a:srgbClr val="8E7DBE"/>
      </a:folHlink>
    </a:clrScheme>
    <a:fontScheme name="MNIST Ink">
      <a:majorFont>
        <a:latin typeface="BIZ UDPGothic"/>
        <a:ea typeface="BIZ UDPGothic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PGothic"/>
        <a:ea typeface="BIZ UDPGothic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48</Slides>
  <Notes>48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MNIST 手書き数字認識 — EusLisp + OpenBLAS 実装の解説</dc:title>
  <dc:subject>MNIST dataset, MLP implementation in EusLisp, profiling and results</dc:subject>
  <dc:creator>Masayuki Inaba</dc:creator>
  <cp:lastModifiedBy>Masayuki Inaba</cp:lastModifiedBy>
  <cp:revision>1</cp:revision>
  <dcterms:created xsi:type="dcterms:W3CDTF">2026-10-02T23:00:14Z</dcterms:created>
  <dcterms:modified xsi:type="dcterms:W3CDTF">2026-10-02T23:00:14Z</dcterms:modified>
</cp:coreProperties>
</file>